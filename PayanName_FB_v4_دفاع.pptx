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trictFirstAndLastChars="0" embedTrueTypeFonts="1" saveSubsetFonts="1" autoCompressPictures="0">
  <p:sldMasterIdLst>
    <p:sldMasterId id="2147484147" r:id="rId1"/>
  </p:sldMasterIdLst>
  <p:notesMasterIdLst>
    <p:notesMasterId r:id="rId38"/>
  </p:notesMasterIdLst>
  <p:handoutMasterIdLst>
    <p:handoutMasterId r:id="rId39"/>
  </p:handoutMasterIdLst>
  <p:sldIdLst>
    <p:sldId id="256" r:id="rId2"/>
    <p:sldId id="257" r:id="rId3"/>
    <p:sldId id="258" r:id="rId4"/>
    <p:sldId id="259" r:id="rId5"/>
    <p:sldId id="260" r:id="rId6"/>
    <p:sldId id="261" r:id="rId7"/>
    <p:sldId id="262" r:id="rId8"/>
    <p:sldId id="263" r:id="rId9"/>
    <p:sldId id="264" r:id="rId10"/>
    <p:sldId id="286" r:id="rId11"/>
    <p:sldId id="288" r:id="rId12"/>
    <p:sldId id="287" r:id="rId13"/>
    <p:sldId id="265" r:id="rId14"/>
    <p:sldId id="266" r:id="rId15"/>
    <p:sldId id="267" r:id="rId16"/>
    <p:sldId id="268" r:id="rId17"/>
    <p:sldId id="269" r:id="rId18"/>
    <p:sldId id="270" r:id="rId19"/>
    <p:sldId id="271" r:id="rId20"/>
    <p:sldId id="290" r:id="rId21"/>
    <p:sldId id="289" r:id="rId22"/>
    <p:sldId id="272" r:id="rId23"/>
    <p:sldId id="273" r:id="rId24"/>
    <p:sldId id="274" r:id="rId25"/>
    <p:sldId id="291" r:id="rId26"/>
    <p:sldId id="278" r:id="rId27"/>
    <p:sldId id="279" r:id="rId28"/>
    <p:sldId id="275" r:id="rId29"/>
    <p:sldId id="276" r:id="rId30"/>
    <p:sldId id="277" r:id="rId31"/>
    <p:sldId id="280" r:id="rId32"/>
    <p:sldId id="281" r:id="rId33"/>
    <p:sldId id="282" r:id="rId34"/>
    <p:sldId id="283" r:id="rId35"/>
    <p:sldId id="284" r:id="rId36"/>
    <p:sldId id="285" r:id="rId37"/>
  </p:sldIdLst>
  <p:sldSz cx="12192000" cy="6858000"/>
  <p:notesSz cx="6858000" cy="9144000"/>
  <p:embeddedFontLst>
    <p:embeddedFont>
      <p:font typeface="Arial Unicode MS" panose="020B0604020202020204" pitchFamily="34" charset="-128"/>
      <p:regular r:id="rId40"/>
    </p:embeddedFont>
    <p:embeddedFont>
      <p:font typeface="B Lotus" panose="00000400000000000000" pitchFamily="2" charset="-78"/>
      <p:regular r:id="rId41"/>
      <p:bold r:id="rId42"/>
    </p:embeddedFont>
    <p:embeddedFont>
      <p:font typeface="B Nazanin Outline" panose="00000400000000000000" pitchFamily="2" charset="-78"/>
      <p:regular r:id="rId43"/>
    </p:embeddedFont>
    <p:embeddedFont>
      <p:font typeface="SimSun" panose="02010600030101010101" pitchFamily="2" charset="-122"/>
      <p:regular r:id="rId44"/>
    </p:embeddedFont>
    <p:embeddedFont>
      <p:font typeface="Microsoft YaHei" panose="020B0503020204020204" pitchFamily="34" charset="-122"/>
      <p:regular r:id="rId45"/>
      <p:bold r:id="rId46"/>
    </p:embeddedFont>
    <p:embeddedFont>
      <p:font typeface="Calibri" panose="020F0502020204030204" pitchFamily="34" charset="0"/>
      <p:regular r:id="rId47"/>
      <p:bold r:id="rId48"/>
    </p:embeddedFont>
    <p:embeddedFont>
      <p:font typeface="B Nazanin" panose="00000400000000000000" pitchFamily="2" charset="-78"/>
      <p:regular r:id="rId49"/>
      <p:bold r:id="rId50"/>
    </p:embeddedFont>
    <p:embeddedFont>
      <p:font typeface="Calibri Light" panose="020F0302020204030204" pitchFamily="34" charset="0"/>
      <p:regular r:id="rId51"/>
    </p:embeddedFont>
    <p:embeddedFont>
      <p:font typeface="B Titr" panose="00000700000000000000" pitchFamily="2" charset="-78"/>
      <p:bold r:id="rId52"/>
    </p:embeddedFont>
    <p:embeddedFont>
      <p:font typeface="Lalezar" panose="020B0604020202020204" charset="-78"/>
      <p:regular r:id="rId53"/>
    </p:embeddedFont>
    <p:embeddedFont>
      <p:font typeface="IRANSans" panose="020B0604020202020204" charset="0"/>
      <p:regular r:id="rId54"/>
      <p:bold r:id="rId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a:srgbClr val="76B10D"/>
    <a:srgbClr val="CDD7EF"/>
    <a:srgbClr val="13151B"/>
    <a:srgbClr val="A9ABB1"/>
    <a:srgbClr val="333333"/>
    <a:srgbClr val="849BD6"/>
    <a:srgbClr val="ECECEC"/>
    <a:srgbClr val="FF0000"/>
    <a:srgbClr val="50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56A574-FFAE-44B5-984D-0BB5ACFF0E28}">
  <a:tblStyle styleId="{EC56A574-FFAE-44B5-984D-0BB5ACFF0E2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618" autoAdjust="0"/>
    <p:restoredTop sz="94353" autoAdjust="0"/>
  </p:normalViewPr>
  <p:slideViewPr>
    <p:cSldViewPr snapToGrid="0">
      <p:cViewPr>
        <p:scale>
          <a:sx n="160" d="100"/>
          <a:sy n="160" d="100"/>
        </p:scale>
        <p:origin x="-2580" y="-33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a:defRPr sz="1200"/>
            </a:lvl1pPr>
          </a:lstStyle>
          <a:p>
            <a:fld id="{0CA5A619-7C88-43F1-835B-CD895FC4F26C}" type="datetimeFigureOut">
              <a:rPr lang="fa-IR" smtClean="0"/>
              <a:t>06/04/1448</a:t>
            </a:fld>
            <a:endParaRPr lang="fa-I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a:defRPr sz="1200"/>
            </a:lvl1pPr>
          </a:lstStyle>
          <a:p>
            <a:fld id="{786449B4-9F6A-4849-BA45-7D0CF74F97DB}" type="slidenum">
              <a:rPr lang="fa-IR" smtClean="0"/>
              <a:t>‹#›</a:t>
            </a:fld>
            <a:endParaRPr lang="fa-IR"/>
          </a:p>
        </p:txBody>
      </p:sp>
    </p:spTree>
    <p:extLst>
      <p:ext uri="{BB962C8B-B14F-4D97-AF65-F5344CB8AC3E}">
        <p14:creationId xmlns:p14="http://schemas.microsoft.com/office/powerpoint/2010/main" val="4108476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7559871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Tree>
    <p:extLst>
      <p:ext uri="{BB962C8B-B14F-4D97-AF65-F5344CB8AC3E}">
        <p14:creationId xmlns:p14="http://schemas.microsoft.com/office/powerpoint/2010/main" val="1814449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Tree>
    <p:extLst>
      <p:ext uri="{BB962C8B-B14F-4D97-AF65-F5344CB8AC3E}">
        <p14:creationId xmlns:p14="http://schemas.microsoft.com/office/powerpoint/2010/main" val="764861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Tree>
    <p:extLst>
      <p:ext uri="{BB962C8B-B14F-4D97-AF65-F5344CB8AC3E}">
        <p14:creationId xmlns:p14="http://schemas.microsoft.com/office/powerpoint/2010/main" val="288846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11827"/>
      </p:ext>
    </p:extLst>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38742854"/>
      </p:ext>
    </p:extLst>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82906"/>
      </p:ext>
    </p:extLst>
  </p:cSld>
  <p:clrMapOvr>
    <a:masterClrMapping/>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06619844"/>
      </p:ext>
    </p:extLst>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45925539"/>
      </p:ext>
    </p:extLst>
  </p:cSld>
  <p:clrMapOvr>
    <a:masterClrMapping/>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0216173"/>
      </p:ext>
    </p:extLst>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364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pPr/>
              <a:t>9/18/2026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03135668"/>
      </p:ext>
    </p:extLst>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11225571"/>
      </p:ext>
    </p:extLst>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22691689"/>
      </p:ext>
    </p:extLst>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80998458"/>
      </p:ext>
    </p:extLst>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Contents slide layout">
    <p:bg>
      <p:bgPr>
        <a:solidFill>
          <a:schemeClr val="accent1"/>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 xmlns:a16="http://schemas.microsoft.com/office/drawing/2014/main" id="{0966CCC8-0805-2531-3C08-A96214EC93A9}"/>
              </a:ext>
            </a:extLst>
          </p:cNvPr>
          <p:cNvSpPr/>
          <p:nvPr userDrawn="1"/>
        </p:nvSpPr>
        <p:spPr>
          <a:xfrm rot="10800000">
            <a:off x="1192748" y="290672"/>
            <a:ext cx="10384630" cy="1562905"/>
          </a:xfrm>
          <a:custGeom>
            <a:avLst/>
            <a:gdLst>
              <a:gd name="connsiteX0" fmla="*/ 4960764 w 10575133"/>
              <a:gd name="connsiteY0" fmla="*/ 1063167 h 1562905"/>
              <a:gd name="connsiteX1" fmla="*/ 4807177 w 10575133"/>
              <a:gd name="connsiteY1" fmla="*/ 1126458 h 1562905"/>
              <a:gd name="connsiteX2" fmla="*/ 4725511 w 10575133"/>
              <a:gd name="connsiteY2" fmla="*/ 1291274 h 1562905"/>
              <a:gd name="connsiteX3" fmla="*/ 4776738 w 10575133"/>
              <a:gd name="connsiteY3" fmla="*/ 1416743 h 1562905"/>
              <a:gd name="connsiteX4" fmla="*/ 4842813 w 10575133"/>
              <a:gd name="connsiteY4" fmla="*/ 1424166 h 1562905"/>
              <a:gd name="connsiteX5" fmla="*/ 4889585 w 10575133"/>
              <a:gd name="connsiteY5" fmla="*/ 1424166 h 1562905"/>
              <a:gd name="connsiteX6" fmla="*/ 5107113 w 10575133"/>
              <a:gd name="connsiteY6" fmla="*/ 1367000 h 1562905"/>
              <a:gd name="connsiteX7" fmla="*/ 5122703 w 10575133"/>
              <a:gd name="connsiteY7" fmla="*/ 1105670 h 1562905"/>
              <a:gd name="connsiteX8" fmla="*/ 4960764 w 10575133"/>
              <a:gd name="connsiteY8" fmla="*/ 1063167 h 1562905"/>
              <a:gd name="connsiteX9" fmla="*/ 296263 w 10575133"/>
              <a:gd name="connsiteY9" fmla="*/ 1041080 h 1562905"/>
              <a:gd name="connsiteX10" fmla="*/ 87644 w 10575133"/>
              <a:gd name="connsiteY10" fmla="*/ 1098246 h 1562905"/>
              <a:gd name="connsiteX11" fmla="*/ 19342 w 10575133"/>
              <a:gd name="connsiteY11" fmla="*/ 1239305 h 1562905"/>
              <a:gd name="connsiteX12" fmla="*/ 205688 w 10575133"/>
              <a:gd name="connsiteY12" fmla="*/ 1383334 h 1562905"/>
              <a:gd name="connsiteX13" fmla="*/ 331899 w 10575133"/>
              <a:gd name="connsiteY13" fmla="*/ 1312061 h 1562905"/>
              <a:gd name="connsiteX14" fmla="*/ 434352 w 10575133"/>
              <a:gd name="connsiteY14" fmla="*/ 1080428 h 1562905"/>
              <a:gd name="connsiteX15" fmla="*/ 419503 w 10575133"/>
              <a:gd name="connsiteY15" fmla="*/ 1061868 h 1562905"/>
              <a:gd name="connsiteX16" fmla="*/ 296263 w 10575133"/>
              <a:gd name="connsiteY16" fmla="*/ 1041080 h 1562905"/>
              <a:gd name="connsiteX17" fmla="*/ 109081 w 10575133"/>
              <a:gd name="connsiteY17" fmla="*/ 0 h 1562905"/>
              <a:gd name="connsiteX18" fmla="*/ 125877 w 10575133"/>
              <a:gd name="connsiteY18" fmla="*/ 0 h 1562905"/>
              <a:gd name="connsiteX19" fmla="*/ 125601 w 10575133"/>
              <a:gd name="connsiteY19" fmla="*/ 12000 h 1562905"/>
              <a:gd name="connsiteX20" fmla="*/ 144068 w 10575133"/>
              <a:gd name="connsiteY20" fmla="*/ 99698 h 1562905"/>
              <a:gd name="connsiteX21" fmla="*/ 344519 w 10575133"/>
              <a:gd name="connsiteY21" fmla="*/ 363255 h 1562905"/>
              <a:gd name="connsiteX22" fmla="*/ 490033 w 10575133"/>
              <a:gd name="connsiteY22" fmla="*/ 526586 h 1562905"/>
              <a:gd name="connsiteX23" fmla="*/ 515275 w 10575133"/>
              <a:gd name="connsiteY23" fmla="*/ 823552 h 1562905"/>
              <a:gd name="connsiteX24" fmla="*/ 468503 w 10575133"/>
              <a:gd name="connsiteY24" fmla="*/ 1027717 h 1562905"/>
              <a:gd name="connsiteX25" fmla="*/ 479639 w 10575133"/>
              <a:gd name="connsiteY25" fmla="*/ 1059641 h 1562905"/>
              <a:gd name="connsiteX26" fmla="*/ 691970 w 10575133"/>
              <a:gd name="connsiteY26" fmla="*/ 1247471 h 1562905"/>
              <a:gd name="connsiteX27" fmla="*/ 985966 w 10575133"/>
              <a:gd name="connsiteY27" fmla="*/ 1434560 h 1562905"/>
              <a:gd name="connsiteX28" fmla="*/ 1724669 w 10575133"/>
              <a:gd name="connsiteY28" fmla="*/ 1456832 h 1562905"/>
              <a:gd name="connsiteX29" fmla="*/ 2288163 w 10575133"/>
              <a:gd name="connsiteY29" fmla="*/ 1414514 h 1562905"/>
              <a:gd name="connsiteX30" fmla="*/ 2872443 w 10575133"/>
              <a:gd name="connsiteY30" fmla="*/ 1371455 h 1562905"/>
              <a:gd name="connsiteX31" fmla="*/ 3676478 w 10575133"/>
              <a:gd name="connsiteY31" fmla="*/ 1346213 h 1562905"/>
              <a:gd name="connsiteX32" fmla="*/ 4303077 w 10575133"/>
              <a:gd name="connsiteY32" fmla="*/ 1398182 h 1562905"/>
              <a:gd name="connsiteX33" fmla="*/ 4751495 w 10575133"/>
              <a:gd name="connsiteY33" fmla="*/ 1427879 h 1562905"/>
              <a:gd name="connsiteX34" fmla="*/ 4735162 w 10575133"/>
              <a:gd name="connsiteY34" fmla="*/ 1397439 h 1562905"/>
              <a:gd name="connsiteX35" fmla="*/ 4744814 w 10575133"/>
              <a:gd name="connsiteY35" fmla="*/ 1167291 h 1562905"/>
              <a:gd name="connsiteX36" fmla="*/ 5150915 w 10575133"/>
              <a:gd name="connsiteY36" fmla="*/ 1101959 h 1562905"/>
              <a:gd name="connsiteX37" fmla="*/ 5139779 w 10575133"/>
              <a:gd name="connsiteY37" fmla="*/ 1367000 h 1562905"/>
              <a:gd name="connsiteX38" fmla="*/ 4963084 w 10575133"/>
              <a:gd name="connsiteY38" fmla="*/ 1435303 h 1562905"/>
              <a:gd name="connsiteX39" fmla="*/ 4810147 w 10575133"/>
              <a:gd name="connsiteY39" fmla="*/ 1447923 h 1562905"/>
              <a:gd name="connsiteX40" fmla="*/ 4954918 w 10575133"/>
              <a:gd name="connsiteY40" fmla="*/ 1516226 h 1562905"/>
              <a:gd name="connsiteX41" fmla="*/ 5425609 w 10575133"/>
              <a:gd name="connsiteY41" fmla="*/ 1510286 h 1562905"/>
              <a:gd name="connsiteX42" fmla="*/ 5893330 w 10575133"/>
              <a:gd name="connsiteY42" fmla="*/ 1361061 h 1562905"/>
              <a:gd name="connsiteX43" fmla="*/ 6337295 w 10575133"/>
              <a:gd name="connsiteY43" fmla="*/ 1271971 h 1562905"/>
              <a:gd name="connsiteX44" fmla="*/ 7120543 w 10575133"/>
              <a:gd name="connsiteY44" fmla="*/ 1270486 h 1562905"/>
              <a:gd name="connsiteX45" fmla="*/ 7740459 w 10575133"/>
              <a:gd name="connsiteY45" fmla="*/ 1296471 h 1562905"/>
              <a:gd name="connsiteX46" fmla="*/ 8154725 w 10575133"/>
              <a:gd name="connsiteY46" fmla="*/ 1338789 h 1562905"/>
              <a:gd name="connsiteX47" fmla="*/ 8445753 w 10575133"/>
              <a:gd name="connsiteY47" fmla="*/ 1395212 h 1562905"/>
              <a:gd name="connsiteX48" fmla="*/ 8884520 w 10575133"/>
              <a:gd name="connsiteY48" fmla="*/ 1405606 h 1562905"/>
              <a:gd name="connsiteX49" fmla="*/ 9393075 w 10575133"/>
              <a:gd name="connsiteY49" fmla="*/ 1372197 h 1562905"/>
              <a:gd name="connsiteX50" fmla="*/ 10023385 w 10575133"/>
              <a:gd name="connsiteY50" fmla="*/ 1322456 h 1562905"/>
              <a:gd name="connsiteX51" fmla="*/ 10569624 w 10575133"/>
              <a:gd name="connsiteY51" fmla="*/ 1350406 h 1562905"/>
              <a:gd name="connsiteX52" fmla="*/ 10575133 w 10575133"/>
              <a:gd name="connsiteY52" fmla="*/ 1373420 h 1562905"/>
              <a:gd name="connsiteX53" fmla="*/ 9935779 w 10575133"/>
              <a:gd name="connsiteY53" fmla="*/ 1351409 h 1562905"/>
              <a:gd name="connsiteX54" fmla="*/ 9439104 w 10575133"/>
              <a:gd name="connsiteY54" fmla="*/ 1390758 h 1562905"/>
              <a:gd name="connsiteX55" fmla="*/ 8973610 w 10575133"/>
              <a:gd name="connsiteY55" fmla="*/ 1422681 h 1562905"/>
              <a:gd name="connsiteX56" fmla="*/ 8418283 w 10575133"/>
              <a:gd name="connsiteY56" fmla="*/ 1413030 h 1562905"/>
              <a:gd name="connsiteX57" fmla="*/ 8175514 w 10575133"/>
              <a:gd name="connsiteY57" fmla="*/ 1364774 h 1562905"/>
              <a:gd name="connsiteX58" fmla="*/ 7782033 w 10575133"/>
              <a:gd name="connsiteY58" fmla="*/ 1321713 h 1562905"/>
              <a:gd name="connsiteX59" fmla="*/ 7039619 w 10575133"/>
              <a:gd name="connsiteY59" fmla="*/ 1289047 h 1562905"/>
              <a:gd name="connsiteX60" fmla="*/ 6366991 w 10575133"/>
              <a:gd name="connsiteY60" fmla="*/ 1291274 h 1562905"/>
              <a:gd name="connsiteX61" fmla="*/ 5754499 w 10575133"/>
              <a:gd name="connsiteY61" fmla="*/ 1432333 h 1562905"/>
              <a:gd name="connsiteX62" fmla="*/ 5395912 w 10575133"/>
              <a:gd name="connsiteY62" fmla="*/ 1539983 h 1562905"/>
              <a:gd name="connsiteX63" fmla="*/ 4931160 w 10575133"/>
              <a:gd name="connsiteY63" fmla="*/ 1531817 h 1562905"/>
              <a:gd name="connsiteX64" fmla="*/ 4792329 w 10575133"/>
              <a:gd name="connsiteY64" fmla="*/ 1461287 h 1562905"/>
              <a:gd name="connsiteX65" fmla="*/ 4764117 w 10575133"/>
              <a:gd name="connsiteY65" fmla="*/ 1449408 h 1562905"/>
              <a:gd name="connsiteX66" fmla="*/ 4181321 w 10575133"/>
              <a:gd name="connsiteY66" fmla="*/ 1404121 h 1562905"/>
              <a:gd name="connsiteX67" fmla="*/ 3366892 w 10575133"/>
              <a:gd name="connsiteY67" fmla="*/ 1372197 h 1562905"/>
              <a:gd name="connsiteX68" fmla="*/ 2642294 w 10575133"/>
              <a:gd name="connsiteY68" fmla="*/ 1408576 h 1562905"/>
              <a:gd name="connsiteX69" fmla="*/ 2047620 w 10575133"/>
              <a:gd name="connsiteY69" fmla="*/ 1458317 h 1562905"/>
              <a:gd name="connsiteX70" fmla="*/ 1191616 w 10575133"/>
              <a:gd name="connsiteY70" fmla="*/ 1476878 h 1562905"/>
              <a:gd name="connsiteX71" fmla="*/ 897618 w 10575133"/>
              <a:gd name="connsiteY71" fmla="*/ 1437529 h 1562905"/>
              <a:gd name="connsiteX72" fmla="*/ 688257 w 10575133"/>
              <a:gd name="connsiteY72" fmla="*/ 1277911 h 1562905"/>
              <a:gd name="connsiteX73" fmla="*/ 480381 w 10575133"/>
              <a:gd name="connsiteY73" fmla="*/ 1081171 h 1562905"/>
              <a:gd name="connsiteX74" fmla="*/ 453655 w 10575133"/>
              <a:gd name="connsiteY74" fmla="*/ 1094534 h 1562905"/>
              <a:gd name="connsiteX75" fmla="*/ 362337 w 10575133"/>
              <a:gd name="connsiteY75" fmla="*/ 1310576 h 1562905"/>
              <a:gd name="connsiteX76" fmla="*/ 52750 w 10575133"/>
              <a:gd name="connsiteY76" fmla="*/ 1347697 h 1562905"/>
              <a:gd name="connsiteX77" fmla="*/ 70568 w 10575133"/>
              <a:gd name="connsiteY77" fmla="*/ 1088594 h 1562905"/>
              <a:gd name="connsiteX78" fmla="*/ 338580 w 10575133"/>
              <a:gd name="connsiteY78" fmla="*/ 1025489 h 1562905"/>
              <a:gd name="connsiteX79" fmla="*/ 426927 w 10575133"/>
              <a:gd name="connsiteY79" fmla="*/ 1041823 h 1562905"/>
              <a:gd name="connsiteX80" fmla="*/ 449942 w 10575133"/>
              <a:gd name="connsiteY80" fmla="*/ 1030687 h 1562905"/>
              <a:gd name="connsiteX81" fmla="*/ 508593 w 10575133"/>
              <a:gd name="connsiteY81" fmla="*/ 708478 h 1562905"/>
              <a:gd name="connsiteX82" fmla="*/ 378670 w 10575133"/>
              <a:gd name="connsiteY82" fmla="*/ 419678 h 1562905"/>
              <a:gd name="connsiteX83" fmla="*/ 251717 w 10575133"/>
              <a:gd name="connsiteY83" fmla="*/ 309059 h 1562905"/>
              <a:gd name="connsiteX84" fmla="*/ 110044 w 10575133"/>
              <a:gd name="connsiteY84" fmla="*/ 33750 h 156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575133" h="1562905">
                <a:moveTo>
                  <a:pt x="4960764" y="1063167"/>
                </a:moveTo>
                <a:cubicBezTo>
                  <a:pt x="4904248" y="1066694"/>
                  <a:pt x="4849123" y="1087852"/>
                  <a:pt x="4807177" y="1126458"/>
                </a:cubicBezTo>
                <a:cubicBezTo>
                  <a:pt x="4758920" y="1171002"/>
                  <a:pt x="4726996" y="1224456"/>
                  <a:pt x="4725511" y="1291274"/>
                </a:cubicBezTo>
                <a:cubicBezTo>
                  <a:pt x="4724769" y="1339531"/>
                  <a:pt x="4742587" y="1382591"/>
                  <a:pt x="4776738" y="1416743"/>
                </a:cubicBezTo>
                <a:cubicBezTo>
                  <a:pt x="4797526" y="1437529"/>
                  <a:pt x="4824995" y="1420454"/>
                  <a:pt x="4842813" y="1424166"/>
                </a:cubicBezTo>
                <a:cubicBezTo>
                  <a:pt x="4862116" y="1424166"/>
                  <a:pt x="4876221" y="1425651"/>
                  <a:pt x="4889585" y="1424166"/>
                </a:cubicBezTo>
                <a:cubicBezTo>
                  <a:pt x="4965311" y="1416743"/>
                  <a:pt x="5040295" y="1407833"/>
                  <a:pt x="5107113" y="1367000"/>
                </a:cubicBezTo>
                <a:cubicBezTo>
                  <a:pt x="5195460" y="1312061"/>
                  <a:pt x="5229611" y="1177684"/>
                  <a:pt x="5122703" y="1105670"/>
                </a:cubicBezTo>
                <a:cubicBezTo>
                  <a:pt x="5075189" y="1073746"/>
                  <a:pt x="5017281" y="1059641"/>
                  <a:pt x="4960764" y="1063167"/>
                </a:cubicBezTo>
                <a:close/>
                <a:moveTo>
                  <a:pt x="296263" y="1041080"/>
                </a:moveTo>
                <a:cubicBezTo>
                  <a:pt x="221278" y="1038853"/>
                  <a:pt x="150006" y="1052959"/>
                  <a:pt x="87644" y="1098246"/>
                </a:cubicBezTo>
                <a:cubicBezTo>
                  <a:pt x="40130" y="1132397"/>
                  <a:pt x="12660" y="1178427"/>
                  <a:pt x="19342" y="1239305"/>
                </a:cubicBezTo>
                <a:cubicBezTo>
                  <a:pt x="28250" y="1322456"/>
                  <a:pt x="101750" y="1382591"/>
                  <a:pt x="205688" y="1383334"/>
                </a:cubicBezTo>
                <a:cubicBezTo>
                  <a:pt x="253202" y="1383334"/>
                  <a:pt x="297747" y="1355864"/>
                  <a:pt x="331899" y="1312061"/>
                </a:cubicBezTo>
                <a:cubicBezTo>
                  <a:pt x="386095" y="1243759"/>
                  <a:pt x="411336" y="1162836"/>
                  <a:pt x="434352" y="1080428"/>
                </a:cubicBezTo>
                <a:cubicBezTo>
                  <a:pt x="438064" y="1066323"/>
                  <a:pt x="430639" y="1064838"/>
                  <a:pt x="419503" y="1061868"/>
                </a:cubicBezTo>
                <a:cubicBezTo>
                  <a:pt x="379413" y="1048504"/>
                  <a:pt x="337838" y="1042565"/>
                  <a:pt x="296263" y="1041080"/>
                </a:cubicBezTo>
                <a:close/>
                <a:moveTo>
                  <a:pt x="109081" y="0"/>
                </a:moveTo>
                <a:lnTo>
                  <a:pt x="125877" y="0"/>
                </a:lnTo>
                <a:lnTo>
                  <a:pt x="125601" y="12000"/>
                </a:lnTo>
                <a:cubicBezTo>
                  <a:pt x="128663" y="41789"/>
                  <a:pt x="135159" y="70744"/>
                  <a:pt x="144068" y="99698"/>
                </a:cubicBezTo>
                <a:cubicBezTo>
                  <a:pt x="178961" y="211803"/>
                  <a:pt x="253944" y="292726"/>
                  <a:pt x="344519" y="363255"/>
                </a:cubicBezTo>
                <a:cubicBezTo>
                  <a:pt x="402428" y="408542"/>
                  <a:pt x="457367" y="457542"/>
                  <a:pt x="490033" y="526586"/>
                </a:cubicBezTo>
                <a:cubicBezTo>
                  <a:pt x="534578" y="622358"/>
                  <a:pt x="530123" y="722584"/>
                  <a:pt x="515275" y="823552"/>
                </a:cubicBezTo>
                <a:cubicBezTo>
                  <a:pt x="504881" y="892597"/>
                  <a:pt x="486321" y="960157"/>
                  <a:pt x="468503" y="1027717"/>
                </a:cubicBezTo>
                <a:cubicBezTo>
                  <a:pt x="464790" y="1041823"/>
                  <a:pt x="460336" y="1052959"/>
                  <a:pt x="479639" y="1059641"/>
                </a:cubicBezTo>
                <a:cubicBezTo>
                  <a:pt x="576153" y="1093049"/>
                  <a:pt x="650395" y="1156154"/>
                  <a:pt x="691970" y="1247471"/>
                </a:cubicBezTo>
                <a:cubicBezTo>
                  <a:pt x="750621" y="1376652"/>
                  <a:pt x="861241" y="1417484"/>
                  <a:pt x="985966" y="1434560"/>
                </a:cubicBezTo>
                <a:cubicBezTo>
                  <a:pt x="1230963" y="1468712"/>
                  <a:pt x="1478187" y="1468712"/>
                  <a:pt x="1724669" y="1456832"/>
                </a:cubicBezTo>
                <a:cubicBezTo>
                  <a:pt x="1912500" y="1447923"/>
                  <a:pt x="2100332" y="1431591"/>
                  <a:pt x="2288163" y="1414514"/>
                </a:cubicBezTo>
                <a:cubicBezTo>
                  <a:pt x="2482676" y="1396697"/>
                  <a:pt x="2677187" y="1381106"/>
                  <a:pt x="2872443" y="1371455"/>
                </a:cubicBezTo>
                <a:cubicBezTo>
                  <a:pt x="3140455" y="1358834"/>
                  <a:pt x="3408467" y="1343243"/>
                  <a:pt x="3676478" y="1346213"/>
                </a:cubicBezTo>
                <a:cubicBezTo>
                  <a:pt x="3886582" y="1348440"/>
                  <a:pt x="4095201" y="1369227"/>
                  <a:pt x="4303077" y="1398182"/>
                </a:cubicBezTo>
                <a:cubicBezTo>
                  <a:pt x="4450818" y="1418969"/>
                  <a:pt x="4600043" y="1433818"/>
                  <a:pt x="4751495" y="1427879"/>
                </a:cubicBezTo>
                <a:cubicBezTo>
                  <a:pt x="4751495" y="1413773"/>
                  <a:pt x="4740359" y="1407091"/>
                  <a:pt x="4735162" y="1397439"/>
                </a:cubicBezTo>
                <a:cubicBezTo>
                  <a:pt x="4689875" y="1318743"/>
                  <a:pt x="4695814" y="1241532"/>
                  <a:pt x="4744814" y="1167291"/>
                </a:cubicBezTo>
                <a:cubicBezTo>
                  <a:pt x="4848010" y="1010641"/>
                  <a:pt x="5035098" y="1009899"/>
                  <a:pt x="5150915" y="1101959"/>
                </a:cubicBezTo>
                <a:cubicBezTo>
                  <a:pt x="5236292" y="1169517"/>
                  <a:pt x="5228869" y="1293501"/>
                  <a:pt x="5139779" y="1367000"/>
                </a:cubicBezTo>
                <a:cubicBezTo>
                  <a:pt x="5088552" y="1409318"/>
                  <a:pt x="5026932" y="1425651"/>
                  <a:pt x="4963084" y="1435303"/>
                </a:cubicBezTo>
                <a:cubicBezTo>
                  <a:pt x="4914827" y="1442727"/>
                  <a:pt x="4865828" y="1446439"/>
                  <a:pt x="4810147" y="1447923"/>
                </a:cubicBezTo>
                <a:cubicBezTo>
                  <a:pt x="4856177" y="1485787"/>
                  <a:pt x="4904434" y="1504348"/>
                  <a:pt x="4954918" y="1516226"/>
                </a:cubicBezTo>
                <a:cubicBezTo>
                  <a:pt x="5112310" y="1554089"/>
                  <a:pt x="5268959" y="1544437"/>
                  <a:pt x="5425609" y="1510286"/>
                </a:cubicBezTo>
                <a:cubicBezTo>
                  <a:pt x="5585971" y="1474650"/>
                  <a:pt x="5738166" y="1411545"/>
                  <a:pt x="5893330" y="1361061"/>
                </a:cubicBezTo>
                <a:cubicBezTo>
                  <a:pt x="6038101" y="1313546"/>
                  <a:pt x="6185842" y="1286077"/>
                  <a:pt x="6337295" y="1271971"/>
                </a:cubicBezTo>
                <a:cubicBezTo>
                  <a:pt x="6598624" y="1247471"/>
                  <a:pt x="6859213" y="1258607"/>
                  <a:pt x="7120543" y="1270486"/>
                </a:cubicBezTo>
                <a:lnTo>
                  <a:pt x="7740459" y="1296471"/>
                </a:lnTo>
                <a:cubicBezTo>
                  <a:pt x="7879289" y="1303153"/>
                  <a:pt x="8017379" y="1318001"/>
                  <a:pt x="8154725" y="1338789"/>
                </a:cubicBezTo>
                <a:cubicBezTo>
                  <a:pt x="8252725" y="1352894"/>
                  <a:pt x="8347753" y="1380364"/>
                  <a:pt x="8445753" y="1395212"/>
                </a:cubicBezTo>
                <a:cubicBezTo>
                  <a:pt x="8591266" y="1416743"/>
                  <a:pt x="8737522" y="1415258"/>
                  <a:pt x="8884520" y="1405606"/>
                </a:cubicBezTo>
                <a:lnTo>
                  <a:pt x="9393075" y="1372197"/>
                </a:lnTo>
                <a:cubicBezTo>
                  <a:pt x="9602435" y="1357349"/>
                  <a:pt x="9827294" y="1326087"/>
                  <a:pt x="10023385" y="1322456"/>
                </a:cubicBezTo>
                <a:cubicBezTo>
                  <a:pt x="10219477" y="1318824"/>
                  <a:pt x="10375609" y="1313019"/>
                  <a:pt x="10569624" y="1350406"/>
                </a:cubicBezTo>
                <a:cubicBezTo>
                  <a:pt x="10569624" y="1357829"/>
                  <a:pt x="10575133" y="1365996"/>
                  <a:pt x="10575133" y="1373420"/>
                </a:cubicBezTo>
                <a:cubicBezTo>
                  <a:pt x="10357424" y="1324770"/>
                  <a:pt x="10125117" y="1348520"/>
                  <a:pt x="9935779" y="1351409"/>
                </a:cubicBezTo>
                <a:cubicBezTo>
                  <a:pt x="9746441" y="1354299"/>
                  <a:pt x="9604662" y="1377642"/>
                  <a:pt x="9439104" y="1390758"/>
                </a:cubicBezTo>
                <a:lnTo>
                  <a:pt x="8973610" y="1422681"/>
                </a:lnTo>
                <a:cubicBezTo>
                  <a:pt x="8788006" y="1434560"/>
                  <a:pt x="8602402" y="1444954"/>
                  <a:pt x="8418283" y="1413030"/>
                </a:cubicBezTo>
                <a:cubicBezTo>
                  <a:pt x="8336618" y="1399666"/>
                  <a:pt x="8257179" y="1378137"/>
                  <a:pt x="8175514" y="1364774"/>
                </a:cubicBezTo>
                <a:cubicBezTo>
                  <a:pt x="8044849" y="1343243"/>
                  <a:pt x="7914184" y="1328395"/>
                  <a:pt x="7782033" y="1321713"/>
                </a:cubicBezTo>
                <a:lnTo>
                  <a:pt x="7039619" y="1289047"/>
                </a:lnTo>
                <a:cubicBezTo>
                  <a:pt x="6815409" y="1280137"/>
                  <a:pt x="6591201" y="1274199"/>
                  <a:pt x="6366991" y="1291274"/>
                </a:cubicBezTo>
                <a:cubicBezTo>
                  <a:pt x="6155403" y="1307607"/>
                  <a:pt x="5952723" y="1358834"/>
                  <a:pt x="5754499" y="1432333"/>
                </a:cubicBezTo>
                <a:cubicBezTo>
                  <a:pt x="5637196" y="1476135"/>
                  <a:pt x="5519153" y="1516968"/>
                  <a:pt x="5395912" y="1539983"/>
                </a:cubicBezTo>
                <a:cubicBezTo>
                  <a:pt x="5240747" y="1568195"/>
                  <a:pt x="5085582" y="1575619"/>
                  <a:pt x="4931160" y="1531817"/>
                </a:cubicBezTo>
                <a:cubicBezTo>
                  <a:pt x="4880676" y="1516968"/>
                  <a:pt x="4833162" y="1494696"/>
                  <a:pt x="4792329" y="1461287"/>
                </a:cubicBezTo>
                <a:cubicBezTo>
                  <a:pt x="4784162" y="1454605"/>
                  <a:pt x="4775995" y="1448666"/>
                  <a:pt x="4764117" y="1449408"/>
                </a:cubicBezTo>
                <a:cubicBezTo>
                  <a:pt x="4568119" y="1457575"/>
                  <a:pt x="4375091" y="1429363"/>
                  <a:pt x="4181321" y="1404121"/>
                </a:cubicBezTo>
                <a:cubicBezTo>
                  <a:pt x="3911081" y="1368485"/>
                  <a:pt x="3639358" y="1361061"/>
                  <a:pt x="3366892" y="1372197"/>
                </a:cubicBezTo>
                <a:cubicBezTo>
                  <a:pt x="3125606" y="1381849"/>
                  <a:pt x="2883580" y="1390758"/>
                  <a:pt x="2642294" y="1408576"/>
                </a:cubicBezTo>
                <a:lnTo>
                  <a:pt x="2047620" y="1458317"/>
                </a:lnTo>
                <a:cubicBezTo>
                  <a:pt x="1762533" y="1481332"/>
                  <a:pt x="1477445" y="1495438"/>
                  <a:pt x="1191616" y="1476878"/>
                </a:cubicBezTo>
                <a:cubicBezTo>
                  <a:pt x="1092874" y="1470196"/>
                  <a:pt x="994134" y="1463514"/>
                  <a:pt x="897618" y="1437529"/>
                </a:cubicBezTo>
                <a:cubicBezTo>
                  <a:pt x="805559" y="1412288"/>
                  <a:pt x="731318" y="1368485"/>
                  <a:pt x="688257" y="1277911"/>
                </a:cubicBezTo>
                <a:cubicBezTo>
                  <a:pt x="645198" y="1186594"/>
                  <a:pt x="577638" y="1118292"/>
                  <a:pt x="480381" y="1081171"/>
                </a:cubicBezTo>
                <a:cubicBezTo>
                  <a:pt x="462563" y="1074489"/>
                  <a:pt x="458852" y="1075974"/>
                  <a:pt x="453655" y="1094534"/>
                </a:cubicBezTo>
                <a:cubicBezTo>
                  <a:pt x="432124" y="1170261"/>
                  <a:pt x="406883" y="1244502"/>
                  <a:pt x="362337" y="1310576"/>
                </a:cubicBezTo>
                <a:cubicBezTo>
                  <a:pt x="272505" y="1443469"/>
                  <a:pt x="124022" y="1416743"/>
                  <a:pt x="52750" y="1347697"/>
                </a:cubicBezTo>
                <a:cubicBezTo>
                  <a:pt x="-24461" y="1273455"/>
                  <a:pt x="-15551" y="1154669"/>
                  <a:pt x="70568" y="1088594"/>
                </a:cubicBezTo>
                <a:cubicBezTo>
                  <a:pt x="150749" y="1027717"/>
                  <a:pt x="242066" y="1015095"/>
                  <a:pt x="338580" y="1025489"/>
                </a:cubicBezTo>
                <a:cubicBezTo>
                  <a:pt x="368277" y="1028459"/>
                  <a:pt x="397973" y="1035140"/>
                  <a:pt x="426927" y="1041823"/>
                </a:cubicBezTo>
                <a:cubicBezTo>
                  <a:pt x="439549" y="1044792"/>
                  <a:pt x="446230" y="1045535"/>
                  <a:pt x="449942" y="1030687"/>
                </a:cubicBezTo>
                <a:cubicBezTo>
                  <a:pt x="477412" y="925264"/>
                  <a:pt x="507109" y="819098"/>
                  <a:pt x="508593" y="708478"/>
                </a:cubicBezTo>
                <a:cubicBezTo>
                  <a:pt x="510078" y="591919"/>
                  <a:pt x="469245" y="494662"/>
                  <a:pt x="378670" y="419678"/>
                </a:cubicBezTo>
                <a:cubicBezTo>
                  <a:pt x="335611" y="384043"/>
                  <a:pt x="291808" y="348407"/>
                  <a:pt x="251717" y="309059"/>
                </a:cubicBezTo>
                <a:cubicBezTo>
                  <a:pt x="170981" y="230548"/>
                  <a:pt x="124069" y="138257"/>
                  <a:pt x="110044" y="33750"/>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13" name="Freeform: Shape 12">
            <a:extLst>
              <a:ext uri="{FF2B5EF4-FFF2-40B4-BE49-F238E27FC236}">
                <a16:creationId xmlns="" xmlns:a16="http://schemas.microsoft.com/office/drawing/2014/main" id="{B1BF3527-2E30-FFB3-A5CE-C9DF4B8C2DD0}"/>
              </a:ext>
            </a:extLst>
          </p:cNvPr>
          <p:cNvSpPr/>
          <p:nvPr userDrawn="1"/>
        </p:nvSpPr>
        <p:spPr>
          <a:xfrm>
            <a:off x="793486" y="1616329"/>
            <a:ext cx="8750366" cy="4956157"/>
          </a:xfrm>
          <a:custGeom>
            <a:avLst/>
            <a:gdLst>
              <a:gd name="connsiteX0" fmla="*/ 5500984 w 9154996"/>
              <a:gd name="connsiteY0" fmla="*/ 4456419 h 4956157"/>
              <a:gd name="connsiteX1" fmla="*/ 5347397 w 9154996"/>
              <a:gd name="connsiteY1" fmla="*/ 4519710 h 4956157"/>
              <a:gd name="connsiteX2" fmla="*/ 5265731 w 9154996"/>
              <a:gd name="connsiteY2" fmla="*/ 4684526 h 4956157"/>
              <a:gd name="connsiteX3" fmla="*/ 5316958 w 9154996"/>
              <a:gd name="connsiteY3" fmla="*/ 4809995 h 4956157"/>
              <a:gd name="connsiteX4" fmla="*/ 5383033 w 9154996"/>
              <a:gd name="connsiteY4" fmla="*/ 4817418 h 4956157"/>
              <a:gd name="connsiteX5" fmla="*/ 5429805 w 9154996"/>
              <a:gd name="connsiteY5" fmla="*/ 4817418 h 4956157"/>
              <a:gd name="connsiteX6" fmla="*/ 5647333 w 9154996"/>
              <a:gd name="connsiteY6" fmla="*/ 4760252 h 4956157"/>
              <a:gd name="connsiteX7" fmla="*/ 5662924 w 9154996"/>
              <a:gd name="connsiteY7" fmla="*/ 4498922 h 4956157"/>
              <a:gd name="connsiteX8" fmla="*/ 5500984 w 9154996"/>
              <a:gd name="connsiteY8" fmla="*/ 4456419 h 4956157"/>
              <a:gd name="connsiteX9" fmla="*/ 836483 w 9154996"/>
              <a:gd name="connsiteY9" fmla="*/ 4434332 h 4956157"/>
              <a:gd name="connsiteX10" fmla="*/ 627864 w 9154996"/>
              <a:gd name="connsiteY10" fmla="*/ 4491498 h 4956157"/>
              <a:gd name="connsiteX11" fmla="*/ 559562 w 9154996"/>
              <a:gd name="connsiteY11" fmla="*/ 4632557 h 4956157"/>
              <a:gd name="connsiteX12" fmla="*/ 745908 w 9154996"/>
              <a:gd name="connsiteY12" fmla="*/ 4776586 h 4956157"/>
              <a:gd name="connsiteX13" fmla="*/ 872119 w 9154996"/>
              <a:gd name="connsiteY13" fmla="*/ 4705313 h 4956157"/>
              <a:gd name="connsiteX14" fmla="*/ 974572 w 9154996"/>
              <a:gd name="connsiteY14" fmla="*/ 4473680 h 4956157"/>
              <a:gd name="connsiteX15" fmla="*/ 959723 w 9154996"/>
              <a:gd name="connsiteY15" fmla="*/ 4455120 h 4956157"/>
              <a:gd name="connsiteX16" fmla="*/ 836483 w 9154996"/>
              <a:gd name="connsiteY16" fmla="*/ 4434332 h 4956157"/>
              <a:gd name="connsiteX17" fmla="*/ 799745 w 9154996"/>
              <a:gd name="connsiteY17" fmla="*/ 3180173 h 4956157"/>
              <a:gd name="connsiteX18" fmla="*/ 676863 w 9154996"/>
              <a:gd name="connsiteY18" fmla="*/ 3273194 h 4956157"/>
              <a:gd name="connsiteX19" fmla="*/ 687999 w 9154996"/>
              <a:gd name="connsiteY19" fmla="*/ 3302892 h 4956157"/>
              <a:gd name="connsiteX20" fmla="*/ 780059 w 9154996"/>
              <a:gd name="connsiteY20" fmla="*/ 3325907 h 4956157"/>
              <a:gd name="connsiteX21" fmla="*/ 885482 w 9154996"/>
              <a:gd name="connsiteY21" fmla="*/ 3243498 h 4956157"/>
              <a:gd name="connsiteX22" fmla="*/ 852073 w 9154996"/>
              <a:gd name="connsiteY22" fmla="*/ 3185590 h 4956157"/>
              <a:gd name="connsiteX23" fmla="*/ 799745 w 9154996"/>
              <a:gd name="connsiteY23" fmla="*/ 3180173 h 4956157"/>
              <a:gd name="connsiteX24" fmla="*/ 761557 w 9154996"/>
              <a:gd name="connsiteY24" fmla="*/ 3002179 h 4956157"/>
              <a:gd name="connsiteX25" fmla="*/ 638257 w 9154996"/>
              <a:gd name="connsiteY25" fmla="*/ 3073485 h 4956157"/>
              <a:gd name="connsiteX26" fmla="*/ 646424 w 9154996"/>
              <a:gd name="connsiteY26" fmla="*/ 3102439 h 4956157"/>
              <a:gd name="connsiteX27" fmla="*/ 725862 w 9154996"/>
              <a:gd name="connsiteY27" fmla="*/ 3119515 h 4956157"/>
              <a:gd name="connsiteX28" fmla="*/ 771893 w 9154996"/>
              <a:gd name="connsiteY28" fmla="*/ 3113576 h 4956157"/>
              <a:gd name="connsiteX29" fmla="*/ 835740 w 9154996"/>
              <a:gd name="connsiteY29" fmla="*/ 3046758 h 4956157"/>
              <a:gd name="connsiteX30" fmla="*/ 806786 w 9154996"/>
              <a:gd name="connsiteY30" fmla="*/ 3003698 h 4956157"/>
              <a:gd name="connsiteX31" fmla="*/ 761557 w 9154996"/>
              <a:gd name="connsiteY31" fmla="*/ 3002179 h 4956157"/>
              <a:gd name="connsiteX32" fmla="*/ 751545 w 9154996"/>
              <a:gd name="connsiteY32" fmla="*/ 2762831 h 4956157"/>
              <a:gd name="connsiteX33" fmla="*/ 632319 w 9154996"/>
              <a:gd name="connsiteY33" fmla="*/ 2822549 h 4956157"/>
              <a:gd name="connsiteX34" fmla="*/ 636772 w 9154996"/>
              <a:gd name="connsiteY34" fmla="*/ 2840367 h 4956157"/>
              <a:gd name="connsiteX35" fmla="*/ 746650 w 9154996"/>
              <a:gd name="connsiteY35" fmla="*/ 2897533 h 4956157"/>
              <a:gd name="connsiteX36" fmla="*/ 774861 w 9154996"/>
              <a:gd name="connsiteY36" fmla="*/ 2893078 h 4956157"/>
              <a:gd name="connsiteX37" fmla="*/ 840937 w 9154996"/>
              <a:gd name="connsiteY37" fmla="*/ 2844079 h 4956157"/>
              <a:gd name="connsiteX38" fmla="*/ 798619 w 9154996"/>
              <a:gd name="connsiteY38" fmla="*/ 2776519 h 4956157"/>
              <a:gd name="connsiteX39" fmla="*/ 793422 w 9154996"/>
              <a:gd name="connsiteY39" fmla="*/ 2773549 h 4956157"/>
              <a:gd name="connsiteX40" fmla="*/ 751545 w 9154996"/>
              <a:gd name="connsiteY40" fmla="*/ 2762831 h 4956157"/>
              <a:gd name="connsiteX41" fmla="*/ 758528 w 9154996"/>
              <a:gd name="connsiteY41" fmla="*/ 2553052 h 4956157"/>
              <a:gd name="connsiteX42" fmla="*/ 675378 w 9154996"/>
              <a:gd name="connsiteY42" fmla="*/ 2596854 h 4956157"/>
              <a:gd name="connsiteX43" fmla="*/ 640485 w 9154996"/>
              <a:gd name="connsiteY43" fmla="*/ 2642885 h 4956157"/>
              <a:gd name="connsiteX44" fmla="*/ 703590 w 9154996"/>
              <a:gd name="connsiteY44" fmla="*/ 2677778 h 4956157"/>
              <a:gd name="connsiteX45" fmla="*/ 718439 w 9154996"/>
              <a:gd name="connsiteY45" fmla="*/ 2677778 h 4956157"/>
              <a:gd name="connsiteX46" fmla="*/ 801589 w 9154996"/>
              <a:gd name="connsiteY46" fmla="*/ 2656248 h 4956157"/>
              <a:gd name="connsiteX47" fmla="*/ 807529 w 9154996"/>
              <a:gd name="connsiteY47" fmla="*/ 2565673 h 4956157"/>
              <a:gd name="connsiteX48" fmla="*/ 758528 w 9154996"/>
              <a:gd name="connsiteY48" fmla="*/ 2553052 h 4956157"/>
              <a:gd name="connsiteX49" fmla="*/ 503138 w 9154996"/>
              <a:gd name="connsiteY49" fmla="*/ 2319191 h 4956157"/>
              <a:gd name="connsiteX50" fmla="*/ 443744 w 9154996"/>
              <a:gd name="connsiteY50" fmla="*/ 2360024 h 4956157"/>
              <a:gd name="connsiteX51" fmla="*/ 501653 w 9154996"/>
              <a:gd name="connsiteY51" fmla="*/ 2403827 h 4956157"/>
              <a:gd name="connsiteX52" fmla="*/ 1051782 w 9154996"/>
              <a:gd name="connsiteY52" fmla="*/ 2420160 h 4956157"/>
              <a:gd name="connsiteX53" fmla="*/ 1097070 w 9154996"/>
              <a:gd name="connsiteY53" fmla="*/ 2383040 h 4956157"/>
              <a:gd name="connsiteX54" fmla="*/ 1058464 w 9154996"/>
              <a:gd name="connsiteY54" fmla="*/ 2339237 h 4956157"/>
              <a:gd name="connsiteX55" fmla="*/ 503138 w 9154996"/>
              <a:gd name="connsiteY55" fmla="*/ 2319191 h 4956157"/>
              <a:gd name="connsiteX56" fmla="*/ 470472 w 9154996"/>
              <a:gd name="connsiteY56" fmla="*/ 2270192 h 4956157"/>
              <a:gd name="connsiteX57" fmla="*/ 525411 w 9154996"/>
              <a:gd name="connsiteY57" fmla="*/ 2270192 h 4956157"/>
              <a:gd name="connsiteX58" fmla="*/ 1067374 w 9154996"/>
              <a:gd name="connsiteY58" fmla="*/ 2287268 h 4956157"/>
              <a:gd name="connsiteX59" fmla="*/ 1152751 w 9154996"/>
              <a:gd name="connsiteY59" fmla="*/ 2388236 h 4956157"/>
              <a:gd name="connsiteX60" fmla="*/ 1054010 w 9154996"/>
              <a:gd name="connsiteY60" fmla="*/ 2475841 h 4956157"/>
              <a:gd name="connsiteX61" fmla="*/ 643455 w 9154996"/>
              <a:gd name="connsiteY61" fmla="*/ 2463963 h 4956157"/>
              <a:gd name="connsiteX62" fmla="*/ 581092 w 9154996"/>
              <a:gd name="connsiteY62" fmla="*/ 2542658 h 4956157"/>
              <a:gd name="connsiteX63" fmla="*/ 608561 w 9154996"/>
              <a:gd name="connsiteY63" fmla="*/ 2609476 h 4956157"/>
              <a:gd name="connsiteX64" fmla="*/ 636030 w 9154996"/>
              <a:gd name="connsiteY64" fmla="*/ 2611703 h 4956157"/>
              <a:gd name="connsiteX65" fmla="*/ 737742 w 9154996"/>
              <a:gd name="connsiteY65" fmla="*/ 2537462 h 4956157"/>
              <a:gd name="connsiteX66" fmla="*/ 852816 w 9154996"/>
              <a:gd name="connsiteY66" fmla="*/ 2590173 h 4956157"/>
              <a:gd name="connsiteX67" fmla="*/ 830543 w 9154996"/>
              <a:gd name="connsiteY67" fmla="*/ 2662188 h 4956157"/>
              <a:gd name="connsiteX68" fmla="*/ 626379 w 9154996"/>
              <a:gd name="connsiteY68" fmla="*/ 2664414 h 4956157"/>
              <a:gd name="connsiteX69" fmla="*/ 612273 w 9154996"/>
              <a:gd name="connsiteY69" fmla="*/ 2792852 h 4956157"/>
              <a:gd name="connsiteX70" fmla="*/ 633061 w 9154996"/>
              <a:gd name="connsiteY70" fmla="*/ 2793595 h 4956157"/>
              <a:gd name="connsiteX71" fmla="*/ 755560 w 9154996"/>
              <a:gd name="connsiteY71" fmla="*/ 2741626 h 4956157"/>
              <a:gd name="connsiteX72" fmla="*/ 859498 w 9154996"/>
              <a:gd name="connsiteY72" fmla="*/ 2815868 h 4956157"/>
              <a:gd name="connsiteX73" fmla="*/ 830543 w 9154996"/>
              <a:gd name="connsiteY73" fmla="*/ 2893821 h 4956157"/>
              <a:gd name="connsiteX74" fmla="*/ 634545 w 9154996"/>
              <a:gd name="connsiteY74" fmla="*/ 2867837 h 4956157"/>
              <a:gd name="connsiteX75" fmla="*/ 598909 w 9154996"/>
              <a:gd name="connsiteY75" fmla="*/ 2873033 h 4956157"/>
              <a:gd name="connsiteX76" fmla="*/ 595940 w 9154996"/>
              <a:gd name="connsiteY76" fmla="*/ 3055667 h 4956157"/>
              <a:gd name="connsiteX77" fmla="*/ 627121 w 9154996"/>
              <a:gd name="connsiteY77" fmla="*/ 3057152 h 4956157"/>
              <a:gd name="connsiteX78" fmla="*/ 777089 w 9154996"/>
              <a:gd name="connsiteY78" fmla="*/ 2980683 h 4956157"/>
              <a:gd name="connsiteX79" fmla="*/ 854301 w 9154996"/>
              <a:gd name="connsiteY79" fmla="*/ 3014834 h 4956157"/>
              <a:gd name="connsiteX80" fmla="*/ 823119 w 9154996"/>
              <a:gd name="connsiteY80" fmla="*/ 3111349 h 4956157"/>
              <a:gd name="connsiteX81" fmla="*/ 677605 w 9154996"/>
              <a:gd name="connsiteY81" fmla="*/ 3133621 h 4956157"/>
              <a:gd name="connsiteX82" fmla="*/ 644197 w 9154996"/>
              <a:gd name="connsiteY82" fmla="*/ 3123227 h 4956157"/>
              <a:gd name="connsiteX83" fmla="*/ 614501 w 9154996"/>
              <a:gd name="connsiteY83" fmla="*/ 3138818 h 4956157"/>
              <a:gd name="connsiteX84" fmla="*/ 653848 w 9154996"/>
              <a:gd name="connsiteY84" fmla="*/ 3273937 h 4956157"/>
              <a:gd name="connsiteX85" fmla="*/ 769665 w 9154996"/>
              <a:gd name="connsiteY85" fmla="*/ 3164803 h 4956157"/>
              <a:gd name="connsiteX86" fmla="*/ 847618 w 9154996"/>
              <a:gd name="connsiteY86" fmla="*/ 3161833 h 4956157"/>
              <a:gd name="connsiteX87" fmla="*/ 905527 w 9154996"/>
              <a:gd name="connsiteY87" fmla="*/ 3250923 h 4956157"/>
              <a:gd name="connsiteX88" fmla="*/ 746650 w 9154996"/>
              <a:gd name="connsiteY88" fmla="*/ 3343724 h 4956157"/>
              <a:gd name="connsiteX89" fmla="*/ 667955 w 9154996"/>
              <a:gd name="connsiteY89" fmla="*/ 3312543 h 4956157"/>
              <a:gd name="connsiteX90" fmla="*/ 684288 w 9154996"/>
              <a:gd name="connsiteY90" fmla="*/ 3492950 h 4956157"/>
              <a:gd name="connsiteX91" fmla="*/ 884739 w 9154996"/>
              <a:gd name="connsiteY91" fmla="*/ 3756507 h 4956157"/>
              <a:gd name="connsiteX92" fmla="*/ 1030253 w 9154996"/>
              <a:gd name="connsiteY92" fmla="*/ 3919838 h 4956157"/>
              <a:gd name="connsiteX93" fmla="*/ 1055495 w 9154996"/>
              <a:gd name="connsiteY93" fmla="*/ 4216804 h 4956157"/>
              <a:gd name="connsiteX94" fmla="*/ 1008723 w 9154996"/>
              <a:gd name="connsiteY94" fmla="*/ 4420969 h 4956157"/>
              <a:gd name="connsiteX95" fmla="*/ 1019859 w 9154996"/>
              <a:gd name="connsiteY95" fmla="*/ 4452893 h 4956157"/>
              <a:gd name="connsiteX96" fmla="*/ 1232190 w 9154996"/>
              <a:gd name="connsiteY96" fmla="*/ 4640723 h 4956157"/>
              <a:gd name="connsiteX97" fmla="*/ 1526186 w 9154996"/>
              <a:gd name="connsiteY97" fmla="*/ 4827812 h 4956157"/>
              <a:gd name="connsiteX98" fmla="*/ 2264889 w 9154996"/>
              <a:gd name="connsiteY98" fmla="*/ 4850084 h 4956157"/>
              <a:gd name="connsiteX99" fmla="*/ 2828383 w 9154996"/>
              <a:gd name="connsiteY99" fmla="*/ 4807766 h 4956157"/>
              <a:gd name="connsiteX100" fmla="*/ 3412663 w 9154996"/>
              <a:gd name="connsiteY100" fmla="*/ 4764707 h 4956157"/>
              <a:gd name="connsiteX101" fmla="*/ 4216698 w 9154996"/>
              <a:gd name="connsiteY101" fmla="*/ 4739465 h 4956157"/>
              <a:gd name="connsiteX102" fmla="*/ 4843297 w 9154996"/>
              <a:gd name="connsiteY102" fmla="*/ 4791434 h 4956157"/>
              <a:gd name="connsiteX103" fmla="*/ 5291715 w 9154996"/>
              <a:gd name="connsiteY103" fmla="*/ 4821131 h 4956157"/>
              <a:gd name="connsiteX104" fmla="*/ 5275382 w 9154996"/>
              <a:gd name="connsiteY104" fmla="*/ 4790691 h 4956157"/>
              <a:gd name="connsiteX105" fmla="*/ 5285034 w 9154996"/>
              <a:gd name="connsiteY105" fmla="*/ 4560543 h 4956157"/>
              <a:gd name="connsiteX106" fmla="*/ 5691136 w 9154996"/>
              <a:gd name="connsiteY106" fmla="*/ 4495211 h 4956157"/>
              <a:gd name="connsiteX107" fmla="*/ 5679999 w 9154996"/>
              <a:gd name="connsiteY107" fmla="*/ 4760252 h 4956157"/>
              <a:gd name="connsiteX108" fmla="*/ 5503304 w 9154996"/>
              <a:gd name="connsiteY108" fmla="*/ 4828555 h 4956157"/>
              <a:gd name="connsiteX109" fmla="*/ 5350367 w 9154996"/>
              <a:gd name="connsiteY109" fmla="*/ 4841175 h 4956157"/>
              <a:gd name="connsiteX110" fmla="*/ 5495138 w 9154996"/>
              <a:gd name="connsiteY110" fmla="*/ 4909478 h 4956157"/>
              <a:gd name="connsiteX111" fmla="*/ 5965829 w 9154996"/>
              <a:gd name="connsiteY111" fmla="*/ 4903538 h 4956157"/>
              <a:gd name="connsiteX112" fmla="*/ 6433550 w 9154996"/>
              <a:gd name="connsiteY112" fmla="*/ 4754313 h 4956157"/>
              <a:gd name="connsiteX113" fmla="*/ 6877515 w 9154996"/>
              <a:gd name="connsiteY113" fmla="*/ 4665223 h 4956157"/>
              <a:gd name="connsiteX114" fmla="*/ 7660763 w 9154996"/>
              <a:gd name="connsiteY114" fmla="*/ 4663738 h 4956157"/>
              <a:gd name="connsiteX115" fmla="*/ 8280679 w 9154996"/>
              <a:gd name="connsiteY115" fmla="*/ 4689723 h 4956157"/>
              <a:gd name="connsiteX116" fmla="*/ 8694945 w 9154996"/>
              <a:gd name="connsiteY116" fmla="*/ 4732041 h 4956157"/>
              <a:gd name="connsiteX117" fmla="*/ 8985973 w 9154996"/>
              <a:gd name="connsiteY117" fmla="*/ 4788464 h 4956157"/>
              <a:gd name="connsiteX118" fmla="*/ 9095247 w 9154996"/>
              <a:gd name="connsiteY118" fmla="*/ 4800529 h 4956157"/>
              <a:gd name="connsiteX119" fmla="*/ 9154996 w 9154996"/>
              <a:gd name="connsiteY119" fmla="*/ 4803161 h 4956157"/>
              <a:gd name="connsiteX120" fmla="*/ 9154996 w 9154996"/>
              <a:gd name="connsiteY120" fmla="*/ 4824858 h 4956157"/>
              <a:gd name="connsiteX121" fmla="*/ 9096847 w 9154996"/>
              <a:gd name="connsiteY121" fmla="*/ 4822929 h 4956157"/>
              <a:gd name="connsiteX122" fmla="*/ 8958503 w 9154996"/>
              <a:gd name="connsiteY122" fmla="*/ 4806282 h 4956157"/>
              <a:gd name="connsiteX123" fmla="*/ 8715734 w 9154996"/>
              <a:gd name="connsiteY123" fmla="*/ 4758026 h 4956157"/>
              <a:gd name="connsiteX124" fmla="*/ 8322253 w 9154996"/>
              <a:gd name="connsiteY124" fmla="*/ 4714965 h 4956157"/>
              <a:gd name="connsiteX125" fmla="*/ 7579839 w 9154996"/>
              <a:gd name="connsiteY125" fmla="*/ 4682299 h 4956157"/>
              <a:gd name="connsiteX126" fmla="*/ 6907211 w 9154996"/>
              <a:gd name="connsiteY126" fmla="*/ 4684526 h 4956157"/>
              <a:gd name="connsiteX127" fmla="*/ 6294719 w 9154996"/>
              <a:gd name="connsiteY127" fmla="*/ 4825585 h 4956157"/>
              <a:gd name="connsiteX128" fmla="*/ 5936132 w 9154996"/>
              <a:gd name="connsiteY128" fmla="*/ 4933235 h 4956157"/>
              <a:gd name="connsiteX129" fmla="*/ 5471380 w 9154996"/>
              <a:gd name="connsiteY129" fmla="*/ 4925069 h 4956157"/>
              <a:gd name="connsiteX130" fmla="*/ 5332549 w 9154996"/>
              <a:gd name="connsiteY130" fmla="*/ 4854539 h 4956157"/>
              <a:gd name="connsiteX131" fmla="*/ 5304338 w 9154996"/>
              <a:gd name="connsiteY131" fmla="*/ 4842660 h 4956157"/>
              <a:gd name="connsiteX132" fmla="*/ 4721541 w 9154996"/>
              <a:gd name="connsiteY132" fmla="*/ 4797373 h 4956157"/>
              <a:gd name="connsiteX133" fmla="*/ 3907112 w 9154996"/>
              <a:gd name="connsiteY133" fmla="*/ 4765449 h 4956157"/>
              <a:gd name="connsiteX134" fmla="*/ 3182514 w 9154996"/>
              <a:gd name="connsiteY134" fmla="*/ 4801828 h 4956157"/>
              <a:gd name="connsiteX135" fmla="*/ 2587840 w 9154996"/>
              <a:gd name="connsiteY135" fmla="*/ 4851569 h 4956157"/>
              <a:gd name="connsiteX136" fmla="*/ 1731836 w 9154996"/>
              <a:gd name="connsiteY136" fmla="*/ 4870130 h 4956157"/>
              <a:gd name="connsiteX137" fmla="*/ 1437838 w 9154996"/>
              <a:gd name="connsiteY137" fmla="*/ 4830781 h 4956157"/>
              <a:gd name="connsiteX138" fmla="*/ 1228477 w 9154996"/>
              <a:gd name="connsiteY138" fmla="*/ 4671163 h 4956157"/>
              <a:gd name="connsiteX139" fmla="*/ 1020601 w 9154996"/>
              <a:gd name="connsiteY139" fmla="*/ 4474423 h 4956157"/>
              <a:gd name="connsiteX140" fmla="*/ 993875 w 9154996"/>
              <a:gd name="connsiteY140" fmla="*/ 4487786 h 4956157"/>
              <a:gd name="connsiteX141" fmla="*/ 902557 w 9154996"/>
              <a:gd name="connsiteY141" fmla="*/ 4703828 h 4956157"/>
              <a:gd name="connsiteX142" fmla="*/ 592970 w 9154996"/>
              <a:gd name="connsiteY142" fmla="*/ 4740949 h 4956157"/>
              <a:gd name="connsiteX143" fmla="*/ 610788 w 9154996"/>
              <a:gd name="connsiteY143" fmla="*/ 4481846 h 4956157"/>
              <a:gd name="connsiteX144" fmla="*/ 878800 w 9154996"/>
              <a:gd name="connsiteY144" fmla="*/ 4418741 h 4956157"/>
              <a:gd name="connsiteX145" fmla="*/ 967147 w 9154996"/>
              <a:gd name="connsiteY145" fmla="*/ 4435075 h 4956157"/>
              <a:gd name="connsiteX146" fmla="*/ 990162 w 9154996"/>
              <a:gd name="connsiteY146" fmla="*/ 4423939 h 4956157"/>
              <a:gd name="connsiteX147" fmla="*/ 1048813 w 9154996"/>
              <a:gd name="connsiteY147" fmla="*/ 4101730 h 4956157"/>
              <a:gd name="connsiteX148" fmla="*/ 918890 w 9154996"/>
              <a:gd name="connsiteY148" fmla="*/ 3812930 h 4956157"/>
              <a:gd name="connsiteX149" fmla="*/ 791937 w 9154996"/>
              <a:gd name="connsiteY149" fmla="*/ 3702311 h 4956157"/>
              <a:gd name="connsiteX150" fmla="*/ 647167 w 9154996"/>
              <a:gd name="connsiteY150" fmla="*/ 3318482 h 4956157"/>
              <a:gd name="connsiteX151" fmla="*/ 638257 w 9154996"/>
              <a:gd name="connsiteY151" fmla="*/ 3287301 h 4956157"/>
              <a:gd name="connsiteX152" fmla="*/ 598909 w 9154996"/>
              <a:gd name="connsiteY152" fmla="*/ 3132136 h 4956157"/>
              <a:gd name="connsiteX153" fmla="*/ 585546 w 9154996"/>
              <a:gd name="connsiteY153" fmla="*/ 3074228 h 4956157"/>
              <a:gd name="connsiteX154" fmla="*/ 581833 w 9154996"/>
              <a:gd name="connsiteY154" fmla="*/ 2869321 h 4956157"/>
              <a:gd name="connsiteX155" fmla="*/ 592228 w 9154996"/>
              <a:gd name="connsiteY155" fmla="*/ 2786170 h 4956157"/>
              <a:gd name="connsiteX156" fmla="*/ 604106 w 9154996"/>
              <a:gd name="connsiteY156" fmla="*/ 2666642 h 4956157"/>
              <a:gd name="connsiteX157" fmla="*/ 598168 w 9154996"/>
              <a:gd name="connsiteY157" fmla="*/ 2628036 h 4956157"/>
              <a:gd name="connsiteX158" fmla="*/ 569955 w 9154996"/>
              <a:gd name="connsiteY158" fmla="*/ 2463220 h 4956157"/>
              <a:gd name="connsiteX159" fmla="*/ 500911 w 9154996"/>
              <a:gd name="connsiteY159" fmla="*/ 2459508 h 4956157"/>
              <a:gd name="connsiteX160" fmla="*/ 447457 w 9154996"/>
              <a:gd name="connsiteY160" fmla="*/ 2446887 h 4956157"/>
              <a:gd name="connsiteX161" fmla="*/ 391775 w 9154996"/>
              <a:gd name="connsiteY161" fmla="*/ 2352600 h 4956157"/>
              <a:gd name="connsiteX162" fmla="*/ 470472 w 9154996"/>
              <a:gd name="connsiteY162" fmla="*/ 2270192 h 4956157"/>
              <a:gd name="connsiteX163" fmla="*/ 460819 w 9154996"/>
              <a:gd name="connsiteY163" fmla="*/ 2117997 h 4956157"/>
              <a:gd name="connsiteX164" fmla="*/ 417759 w 9154996"/>
              <a:gd name="connsiteY164" fmla="*/ 2125420 h 4956157"/>
              <a:gd name="connsiteX165" fmla="*/ 390290 w 9154996"/>
              <a:gd name="connsiteY165" fmla="*/ 2156602 h 4956157"/>
              <a:gd name="connsiteX166" fmla="*/ 414047 w 9154996"/>
              <a:gd name="connsiteY166" fmla="*/ 2190753 h 4956157"/>
              <a:gd name="connsiteX167" fmla="*/ 458592 w 9154996"/>
              <a:gd name="connsiteY167" fmla="*/ 2201147 h 4956157"/>
              <a:gd name="connsiteX168" fmla="*/ 763724 w 9154996"/>
              <a:gd name="connsiteY168" fmla="*/ 2210798 h 4956157"/>
              <a:gd name="connsiteX169" fmla="*/ 1054751 w 9154996"/>
              <a:gd name="connsiteY169" fmla="*/ 2220450 h 4956157"/>
              <a:gd name="connsiteX170" fmla="*/ 1106720 w 9154996"/>
              <a:gd name="connsiteY170" fmla="*/ 2215253 h 4956157"/>
              <a:gd name="connsiteX171" fmla="*/ 1136417 w 9154996"/>
              <a:gd name="connsiteY171" fmla="*/ 2182586 h 4956157"/>
              <a:gd name="connsiteX172" fmla="*/ 1110433 w 9154996"/>
              <a:gd name="connsiteY172" fmla="*/ 2146950 h 4956157"/>
              <a:gd name="connsiteX173" fmla="*/ 1045100 w 9154996"/>
              <a:gd name="connsiteY173" fmla="*/ 2136557 h 4956157"/>
              <a:gd name="connsiteX174" fmla="*/ 460819 w 9154996"/>
              <a:gd name="connsiteY174" fmla="*/ 2117997 h 4956157"/>
              <a:gd name="connsiteX175" fmla="*/ 425926 w 9154996"/>
              <a:gd name="connsiteY175" fmla="*/ 2063800 h 4956157"/>
              <a:gd name="connsiteX176" fmla="*/ 465274 w 9154996"/>
              <a:gd name="connsiteY176" fmla="*/ 2065285 h 4956157"/>
              <a:gd name="connsiteX177" fmla="*/ 506849 w 9154996"/>
              <a:gd name="connsiteY177" fmla="*/ 2066770 h 4956157"/>
              <a:gd name="connsiteX178" fmla="*/ 526151 w 9154996"/>
              <a:gd name="connsiteY178" fmla="*/ 2066770 h 4956157"/>
              <a:gd name="connsiteX179" fmla="*/ 1096326 w 9154996"/>
              <a:gd name="connsiteY179" fmla="*/ 2083845 h 4956157"/>
              <a:gd name="connsiteX180" fmla="*/ 1137159 w 9154996"/>
              <a:gd name="connsiteY180" fmla="*/ 2097209 h 4956157"/>
              <a:gd name="connsiteX181" fmla="*/ 1192840 w 9154996"/>
              <a:gd name="connsiteY181" fmla="*/ 2187041 h 4956157"/>
              <a:gd name="connsiteX182" fmla="*/ 1128251 w 9154996"/>
              <a:gd name="connsiteY182" fmla="*/ 2267964 h 4956157"/>
              <a:gd name="connsiteX183" fmla="*/ 1097811 w 9154996"/>
              <a:gd name="connsiteY183" fmla="*/ 2276131 h 4956157"/>
              <a:gd name="connsiteX184" fmla="*/ 443001 w 9154996"/>
              <a:gd name="connsiteY184" fmla="*/ 2256828 h 4956157"/>
              <a:gd name="connsiteX185" fmla="*/ 338320 w 9154996"/>
              <a:gd name="connsiteY185" fmla="*/ 2126163 h 4956157"/>
              <a:gd name="connsiteX186" fmla="*/ 425926 w 9154996"/>
              <a:gd name="connsiteY186" fmla="*/ 2063800 h 4956157"/>
              <a:gd name="connsiteX187" fmla="*/ 446713 w 9154996"/>
              <a:gd name="connsiteY187" fmla="*/ 1916802 h 4956157"/>
              <a:gd name="connsiteX188" fmla="*/ 390289 w 9154996"/>
              <a:gd name="connsiteY188" fmla="*/ 1927939 h 4956157"/>
              <a:gd name="connsiteX189" fmla="*/ 388062 w 9154996"/>
              <a:gd name="connsiteY189" fmla="*/ 1982877 h 4956157"/>
              <a:gd name="connsiteX190" fmla="*/ 440773 w 9154996"/>
              <a:gd name="connsiteY190" fmla="*/ 1996983 h 4956157"/>
              <a:gd name="connsiteX191" fmla="*/ 1098554 w 9154996"/>
              <a:gd name="connsiteY191" fmla="*/ 2018513 h 4956157"/>
              <a:gd name="connsiteX192" fmla="*/ 1149038 w 9154996"/>
              <a:gd name="connsiteY192" fmla="*/ 2008119 h 4956157"/>
              <a:gd name="connsiteX193" fmla="*/ 1151266 w 9154996"/>
              <a:gd name="connsiteY193" fmla="*/ 1952438 h 4956157"/>
              <a:gd name="connsiteX194" fmla="*/ 1098554 w 9154996"/>
              <a:gd name="connsiteY194" fmla="*/ 1937590 h 4956157"/>
              <a:gd name="connsiteX195" fmla="*/ 523923 w 9154996"/>
              <a:gd name="connsiteY195" fmla="*/ 192914 h 4956157"/>
              <a:gd name="connsiteX196" fmla="*/ 408107 w 9154996"/>
              <a:gd name="connsiteY196" fmla="*/ 273095 h 4956157"/>
              <a:gd name="connsiteX197" fmla="*/ 183898 w 9154996"/>
              <a:gd name="connsiteY197" fmla="*/ 552985 h 4956157"/>
              <a:gd name="connsiteX198" fmla="*/ 150488 w 9154996"/>
              <a:gd name="connsiteY198" fmla="*/ 820997 h 4956157"/>
              <a:gd name="connsiteX199" fmla="*/ 244033 w 9154996"/>
              <a:gd name="connsiteY199" fmla="*/ 1149145 h 4956157"/>
              <a:gd name="connsiteX200" fmla="*/ 242548 w 9154996"/>
              <a:gd name="connsiteY200" fmla="*/ 1156569 h 4956157"/>
              <a:gd name="connsiteX201" fmla="*/ 154200 w 9154996"/>
              <a:gd name="connsiteY201" fmla="*/ 950920 h 4956157"/>
              <a:gd name="connsiteX202" fmla="*/ 131186 w 9154996"/>
              <a:gd name="connsiteY202" fmla="*/ 648757 h 4956157"/>
              <a:gd name="connsiteX203" fmla="*/ 215821 w 9154996"/>
              <a:gd name="connsiteY203" fmla="*/ 443851 h 4956157"/>
              <a:gd name="connsiteX204" fmla="*/ 500165 w 9154996"/>
              <a:gd name="connsiteY204" fmla="*/ 201081 h 4956157"/>
              <a:gd name="connsiteX205" fmla="*/ 523923 w 9154996"/>
              <a:gd name="connsiteY205" fmla="*/ 192914 h 4956157"/>
              <a:gd name="connsiteX206" fmla="*/ 800630 w 9154996"/>
              <a:gd name="connsiteY206" fmla="*/ 46764 h 4956157"/>
              <a:gd name="connsiteX207" fmla="*/ 713588 w 9154996"/>
              <a:gd name="connsiteY207" fmla="*/ 47343 h 4956157"/>
              <a:gd name="connsiteX208" fmla="*/ 595938 w 9154996"/>
              <a:gd name="connsiteY208" fmla="*/ 67446 h 4956157"/>
              <a:gd name="connsiteX209" fmla="*/ 175732 w 9154996"/>
              <a:gd name="connsiteY209" fmla="*/ 344366 h 4956157"/>
              <a:gd name="connsiteX210" fmla="*/ 49521 w 9154996"/>
              <a:gd name="connsiteY210" fmla="*/ 655438 h 4956157"/>
              <a:gd name="connsiteX211" fmla="*/ 137126 w 9154996"/>
              <a:gd name="connsiteY211" fmla="*/ 1109796 h 4956157"/>
              <a:gd name="connsiteX212" fmla="*/ 310109 w 9154996"/>
              <a:gd name="connsiteY212" fmla="*/ 1387460 h 4956157"/>
              <a:gd name="connsiteX213" fmla="*/ 440773 w 9154996"/>
              <a:gd name="connsiteY213" fmla="*/ 1695562 h 4956157"/>
              <a:gd name="connsiteX214" fmla="*/ 460819 w 9154996"/>
              <a:gd name="connsiteY214" fmla="*/ 1792076 h 4956157"/>
              <a:gd name="connsiteX215" fmla="*/ 492743 w 9154996"/>
              <a:gd name="connsiteY215" fmla="*/ 1817318 h 4956157"/>
              <a:gd name="connsiteX216" fmla="*/ 1065146 w 9154996"/>
              <a:gd name="connsiteY216" fmla="*/ 1836621 h 4956157"/>
              <a:gd name="connsiteX217" fmla="*/ 1089645 w 9154996"/>
              <a:gd name="connsiteY217" fmla="*/ 1818803 h 4956157"/>
              <a:gd name="connsiteX218" fmla="*/ 1116372 w 9154996"/>
              <a:gd name="connsiteY218" fmla="*/ 1688138 h 4956157"/>
              <a:gd name="connsiteX219" fmla="*/ 1268567 w 9154996"/>
              <a:gd name="connsiteY219" fmla="*/ 1319900 h 4956157"/>
              <a:gd name="connsiteX220" fmla="*/ 1376960 w 9154996"/>
              <a:gd name="connsiteY220" fmla="*/ 1166220 h 4956157"/>
              <a:gd name="connsiteX221" fmla="*/ 1468276 w 9154996"/>
              <a:gd name="connsiteY221" fmla="*/ 916026 h 4956157"/>
              <a:gd name="connsiteX222" fmla="*/ 1468276 w 9154996"/>
              <a:gd name="connsiteY222" fmla="*/ 599015 h 4956157"/>
              <a:gd name="connsiteX223" fmla="*/ 1056236 w 9154996"/>
              <a:gd name="connsiteY223" fmla="*/ 110506 h 4956157"/>
              <a:gd name="connsiteX224" fmla="*/ 800630 w 9154996"/>
              <a:gd name="connsiteY224" fmla="*/ 46764 h 4956157"/>
              <a:gd name="connsiteX225" fmla="*/ 794163 w 9154996"/>
              <a:gd name="connsiteY225" fmla="*/ 814 h 4956157"/>
              <a:gd name="connsiteX226" fmla="*/ 1036191 w 9154996"/>
              <a:gd name="connsiteY226" fmla="*/ 52598 h 4956157"/>
              <a:gd name="connsiteX227" fmla="*/ 1503912 w 9154996"/>
              <a:gd name="connsiteY227" fmla="*/ 551500 h 4956157"/>
              <a:gd name="connsiteX228" fmla="*/ 1518761 w 9154996"/>
              <a:gd name="connsiteY228" fmla="*/ 910830 h 4956157"/>
              <a:gd name="connsiteX229" fmla="*/ 1377702 w 9154996"/>
              <a:gd name="connsiteY229" fmla="*/ 1250855 h 4956157"/>
              <a:gd name="connsiteX230" fmla="*/ 1264855 w 9154996"/>
              <a:gd name="connsiteY230" fmla="*/ 1406020 h 4956157"/>
              <a:gd name="connsiteX231" fmla="*/ 1163144 w 9154996"/>
              <a:gd name="connsiteY231" fmla="*/ 1694078 h 4956157"/>
              <a:gd name="connsiteX232" fmla="*/ 1115630 w 9154996"/>
              <a:gd name="connsiteY232" fmla="*/ 1876711 h 4956157"/>
              <a:gd name="connsiteX233" fmla="*/ 1149781 w 9154996"/>
              <a:gd name="connsiteY233" fmla="*/ 1887848 h 4956157"/>
              <a:gd name="connsiteX234" fmla="*/ 1229961 w 9154996"/>
              <a:gd name="connsiteY234" fmla="*/ 1991044 h 4956157"/>
              <a:gd name="connsiteX235" fmla="*/ 1126023 w 9154996"/>
              <a:gd name="connsiteY235" fmla="*/ 2077164 h 4956157"/>
              <a:gd name="connsiteX236" fmla="*/ 1100038 w 9154996"/>
              <a:gd name="connsiteY236" fmla="*/ 2077906 h 4956157"/>
              <a:gd name="connsiteX237" fmla="*/ 423698 w 9154996"/>
              <a:gd name="connsiteY237" fmla="*/ 2054891 h 4956157"/>
              <a:gd name="connsiteX238" fmla="*/ 368017 w 9154996"/>
              <a:gd name="connsiteY238" fmla="*/ 2039300 h 4956157"/>
              <a:gd name="connsiteX239" fmla="*/ 311594 w 9154996"/>
              <a:gd name="connsiteY239" fmla="*/ 1951695 h 4956157"/>
              <a:gd name="connsiteX240" fmla="*/ 382123 w 9154996"/>
              <a:gd name="connsiteY240" fmla="*/ 1867803 h 4956157"/>
              <a:gd name="connsiteX241" fmla="*/ 434092 w 9154996"/>
              <a:gd name="connsiteY241" fmla="*/ 1854439 h 4956157"/>
              <a:gd name="connsiteX242" fmla="*/ 387320 w 9154996"/>
              <a:gd name="connsiteY242" fmla="*/ 1655472 h 4956157"/>
              <a:gd name="connsiteX243" fmla="*/ 301199 w 9154996"/>
              <a:gd name="connsiteY243" fmla="*/ 1459474 h 4956157"/>
              <a:gd name="connsiteX244" fmla="*/ 137869 w 9154996"/>
              <a:gd name="connsiteY244" fmla="*/ 1212992 h 4956157"/>
              <a:gd name="connsiteX245" fmla="*/ 2748 w 9154996"/>
              <a:gd name="connsiteY245" fmla="*/ 664348 h 4956157"/>
              <a:gd name="connsiteX246" fmla="*/ 145292 w 9154996"/>
              <a:gd name="connsiteY246" fmla="*/ 308730 h 4956157"/>
              <a:gd name="connsiteX247" fmla="*/ 549909 w 9154996"/>
              <a:gd name="connsiteY247" fmla="*/ 32552 h 4956157"/>
              <a:gd name="connsiteX248" fmla="*/ 794163 w 9154996"/>
              <a:gd name="connsiteY248" fmla="*/ 814 h 495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9154996" h="4956157">
                <a:moveTo>
                  <a:pt x="5500984" y="4456419"/>
                </a:moveTo>
                <a:cubicBezTo>
                  <a:pt x="5444468" y="4459946"/>
                  <a:pt x="5389343" y="4481104"/>
                  <a:pt x="5347397" y="4519710"/>
                </a:cubicBezTo>
                <a:cubicBezTo>
                  <a:pt x="5299140" y="4564254"/>
                  <a:pt x="5267216" y="4617708"/>
                  <a:pt x="5265731" y="4684526"/>
                </a:cubicBezTo>
                <a:cubicBezTo>
                  <a:pt x="5264989" y="4732783"/>
                  <a:pt x="5282807" y="4775843"/>
                  <a:pt x="5316958" y="4809995"/>
                </a:cubicBezTo>
                <a:cubicBezTo>
                  <a:pt x="5337746" y="4830781"/>
                  <a:pt x="5365215" y="4813706"/>
                  <a:pt x="5383033" y="4817418"/>
                </a:cubicBezTo>
                <a:cubicBezTo>
                  <a:pt x="5402336" y="4817418"/>
                  <a:pt x="5416441" y="4818903"/>
                  <a:pt x="5429805" y="4817418"/>
                </a:cubicBezTo>
                <a:cubicBezTo>
                  <a:pt x="5505531" y="4809995"/>
                  <a:pt x="5580515" y="4801085"/>
                  <a:pt x="5647333" y="4760252"/>
                </a:cubicBezTo>
                <a:cubicBezTo>
                  <a:pt x="5735680" y="4705313"/>
                  <a:pt x="5769831" y="4570936"/>
                  <a:pt x="5662924" y="4498922"/>
                </a:cubicBezTo>
                <a:cubicBezTo>
                  <a:pt x="5615409" y="4466998"/>
                  <a:pt x="5557501" y="4452893"/>
                  <a:pt x="5500984" y="4456419"/>
                </a:cubicBezTo>
                <a:close/>
                <a:moveTo>
                  <a:pt x="836483" y="4434332"/>
                </a:moveTo>
                <a:cubicBezTo>
                  <a:pt x="761498" y="4432105"/>
                  <a:pt x="690226" y="4446211"/>
                  <a:pt x="627864" y="4491498"/>
                </a:cubicBezTo>
                <a:cubicBezTo>
                  <a:pt x="580350" y="4525649"/>
                  <a:pt x="552880" y="4571679"/>
                  <a:pt x="559562" y="4632557"/>
                </a:cubicBezTo>
                <a:cubicBezTo>
                  <a:pt x="568470" y="4715708"/>
                  <a:pt x="641970" y="4775843"/>
                  <a:pt x="745908" y="4776586"/>
                </a:cubicBezTo>
                <a:cubicBezTo>
                  <a:pt x="793422" y="4776586"/>
                  <a:pt x="837967" y="4749116"/>
                  <a:pt x="872119" y="4705313"/>
                </a:cubicBezTo>
                <a:cubicBezTo>
                  <a:pt x="926315" y="4637011"/>
                  <a:pt x="951556" y="4556088"/>
                  <a:pt x="974572" y="4473680"/>
                </a:cubicBezTo>
                <a:cubicBezTo>
                  <a:pt x="978284" y="4459575"/>
                  <a:pt x="970859" y="4458090"/>
                  <a:pt x="959723" y="4455120"/>
                </a:cubicBezTo>
                <a:cubicBezTo>
                  <a:pt x="919633" y="4441756"/>
                  <a:pt x="878058" y="4435817"/>
                  <a:pt x="836483" y="4434332"/>
                </a:cubicBezTo>
                <a:close/>
                <a:moveTo>
                  <a:pt x="799745" y="3180173"/>
                </a:moveTo>
                <a:cubicBezTo>
                  <a:pt x="746465" y="3185915"/>
                  <a:pt x="694125" y="3223082"/>
                  <a:pt x="676863" y="3273194"/>
                </a:cubicBezTo>
                <a:cubicBezTo>
                  <a:pt x="671666" y="3288786"/>
                  <a:pt x="674636" y="3295467"/>
                  <a:pt x="687999" y="3302892"/>
                </a:cubicBezTo>
                <a:cubicBezTo>
                  <a:pt x="716954" y="3318482"/>
                  <a:pt x="747393" y="3326649"/>
                  <a:pt x="780059" y="3325907"/>
                </a:cubicBezTo>
                <a:cubicBezTo>
                  <a:pt x="840937" y="3325907"/>
                  <a:pt x="878058" y="3296952"/>
                  <a:pt x="885482" y="3243498"/>
                </a:cubicBezTo>
                <a:cubicBezTo>
                  <a:pt x="889194" y="3217514"/>
                  <a:pt x="875088" y="3193756"/>
                  <a:pt x="852073" y="3185590"/>
                </a:cubicBezTo>
                <a:cubicBezTo>
                  <a:pt x="835369" y="3179837"/>
                  <a:pt x="817505" y="3178259"/>
                  <a:pt x="799745" y="3180173"/>
                </a:cubicBezTo>
                <a:close/>
                <a:moveTo>
                  <a:pt x="761557" y="3002179"/>
                </a:moveTo>
                <a:cubicBezTo>
                  <a:pt x="713566" y="3008617"/>
                  <a:pt x="661086" y="3037293"/>
                  <a:pt x="638257" y="3073485"/>
                </a:cubicBezTo>
                <a:cubicBezTo>
                  <a:pt x="628606" y="3089076"/>
                  <a:pt x="632319" y="3095758"/>
                  <a:pt x="646424" y="3102439"/>
                </a:cubicBezTo>
                <a:cubicBezTo>
                  <a:pt x="670923" y="3114318"/>
                  <a:pt x="696909" y="3116545"/>
                  <a:pt x="725862" y="3119515"/>
                </a:cubicBezTo>
                <a:cubicBezTo>
                  <a:pt x="739226" y="3118030"/>
                  <a:pt x="755560" y="3117287"/>
                  <a:pt x="771893" y="3113576"/>
                </a:cubicBezTo>
                <a:cubicBezTo>
                  <a:pt x="807529" y="3105409"/>
                  <a:pt x="832028" y="3079425"/>
                  <a:pt x="835740" y="3046758"/>
                </a:cubicBezTo>
                <a:cubicBezTo>
                  <a:pt x="838710" y="3024486"/>
                  <a:pt x="829800" y="3009638"/>
                  <a:pt x="806786" y="3003698"/>
                </a:cubicBezTo>
                <a:cubicBezTo>
                  <a:pt x="793052" y="3000358"/>
                  <a:pt x="777553" y="3000033"/>
                  <a:pt x="761557" y="3002179"/>
                </a:cubicBezTo>
                <a:close/>
                <a:moveTo>
                  <a:pt x="751545" y="2762831"/>
                </a:moveTo>
                <a:cubicBezTo>
                  <a:pt x="704704" y="2761439"/>
                  <a:pt x="648466" y="2786356"/>
                  <a:pt x="632319" y="2822549"/>
                </a:cubicBezTo>
                <a:cubicBezTo>
                  <a:pt x="628606" y="2830716"/>
                  <a:pt x="631576" y="2835913"/>
                  <a:pt x="636772" y="2840367"/>
                </a:cubicBezTo>
                <a:cubicBezTo>
                  <a:pt x="664242" y="2874518"/>
                  <a:pt x="699136" y="2895306"/>
                  <a:pt x="746650" y="2897533"/>
                </a:cubicBezTo>
                <a:cubicBezTo>
                  <a:pt x="754075" y="2896790"/>
                  <a:pt x="764468" y="2895306"/>
                  <a:pt x="774861" y="2893078"/>
                </a:cubicBezTo>
                <a:cubicBezTo>
                  <a:pt x="804559" y="2886397"/>
                  <a:pt x="834998" y="2876745"/>
                  <a:pt x="840937" y="2844079"/>
                </a:cubicBezTo>
                <a:cubicBezTo>
                  <a:pt x="846876" y="2812898"/>
                  <a:pt x="820892" y="2794337"/>
                  <a:pt x="798619" y="2776519"/>
                </a:cubicBezTo>
                <a:cubicBezTo>
                  <a:pt x="797134" y="2775034"/>
                  <a:pt x="794907" y="2774292"/>
                  <a:pt x="793422" y="2773549"/>
                </a:cubicBezTo>
                <a:cubicBezTo>
                  <a:pt x="781729" y="2766682"/>
                  <a:pt x="767159" y="2763295"/>
                  <a:pt x="751545" y="2762831"/>
                </a:cubicBezTo>
                <a:close/>
                <a:moveTo>
                  <a:pt x="758528" y="2553052"/>
                </a:moveTo>
                <a:cubicBezTo>
                  <a:pt x="725120" y="2556765"/>
                  <a:pt x="699136" y="2574582"/>
                  <a:pt x="675378" y="2596854"/>
                </a:cubicBezTo>
                <a:cubicBezTo>
                  <a:pt x="661273" y="2610219"/>
                  <a:pt x="635287" y="2625809"/>
                  <a:pt x="640485" y="2642885"/>
                </a:cubicBezTo>
                <a:cubicBezTo>
                  <a:pt x="648652" y="2666642"/>
                  <a:pt x="678348" y="2673324"/>
                  <a:pt x="703590" y="2677778"/>
                </a:cubicBezTo>
                <a:cubicBezTo>
                  <a:pt x="708787" y="2678520"/>
                  <a:pt x="713241" y="2677778"/>
                  <a:pt x="718439" y="2677778"/>
                </a:cubicBezTo>
                <a:cubicBezTo>
                  <a:pt x="747393" y="2677036"/>
                  <a:pt x="775604" y="2670354"/>
                  <a:pt x="801589" y="2656248"/>
                </a:cubicBezTo>
                <a:cubicBezTo>
                  <a:pt x="842422" y="2633233"/>
                  <a:pt x="844649" y="2594627"/>
                  <a:pt x="807529" y="2565673"/>
                </a:cubicBezTo>
                <a:cubicBezTo>
                  <a:pt x="792679" y="2553795"/>
                  <a:pt x="776346" y="2551568"/>
                  <a:pt x="758528" y="2553052"/>
                </a:cubicBezTo>
                <a:close/>
                <a:moveTo>
                  <a:pt x="503138" y="2319191"/>
                </a:moveTo>
                <a:cubicBezTo>
                  <a:pt x="466017" y="2317706"/>
                  <a:pt x="444487" y="2334039"/>
                  <a:pt x="443744" y="2360024"/>
                </a:cubicBezTo>
                <a:cubicBezTo>
                  <a:pt x="443744" y="2385266"/>
                  <a:pt x="466017" y="2402342"/>
                  <a:pt x="501653" y="2403827"/>
                </a:cubicBezTo>
                <a:cubicBezTo>
                  <a:pt x="590743" y="2406796"/>
                  <a:pt x="1026541" y="2422387"/>
                  <a:pt x="1051782" y="2420160"/>
                </a:cubicBezTo>
                <a:cubicBezTo>
                  <a:pt x="1074055" y="2418675"/>
                  <a:pt x="1094100" y="2407539"/>
                  <a:pt x="1097070" y="2383040"/>
                </a:cubicBezTo>
                <a:cubicBezTo>
                  <a:pt x="1099297" y="2357797"/>
                  <a:pt x="1080737" y="2345176"/>
                  <a:pt x="1058464"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643455" y="2463963"/>
                </a:lnTo>
                <a:cubicBezTo>
                  <a:pt x="587773" y="2462478"/>
                  <a:pt x="568470" y="2487720"/>
                  <a:pt x="581092" y="2542658"/>
                </a:cubicBezTo>
                <a:cubicBezTo>
                  <a:pt x="586288" y="2566416"/>
                  <a:pt x="595198" y="2588688"/>
                  <a:pt x="608561" y="2609476"/>
                </a:cubicBezTo>
                <a:cubicBezTo>
                  <a:pt x="618212" y="2624324"/>
                  <a:pt x="621924" y="2629521"/>
                  <a:pt x="636030" y="2611703"/>
                </a:cubicBezTo>
                <a:cubicBezTo>
                  <a:pt x="662015" y="2577552"/>
                  <a:pt x="695423" y="2551568"/>
                  <a:pt x="737742" y="2537462"/>
                </a:cubicBezTo>
                <a:cubicBezTo>
                  <a:pt x="784513" y="2521871"/>
                  <a:pt x="834998" y="2544885"/>
                  <a:pt x="852816" y="2590173"/>
                </a:cubicBezTo>
                <a:cubicBezTo>
                  <a:pt x="863209" y="2616900"/>
                  <a:pt x="855785" y="2641400"/>
                  <a:pt x="830543" y="2662188"/>
                </a:cubicBezTo>
                <a:cubicBezTo>
                  <a:pt x="775604" y="2708217"/>
                  <a:pt x="696909" y="2708960"/>
                  <a:pt x="626379" y="2664414"/>
                </a:cubicBezTo>
                <a:cubicBezTo>
                  <a:pt x="604106" y="2705247"/>
                  <a:pt x="602621" y="2748308"/>
                  <a:pt x="612273" y="2792852"/>
                </a:cubicBezTo>
                <a:cubicBezTo>
                  <a:pt x="616727" y="2814383"/>
                  <a:pt x="625637" y="2800277"/>
                  <a:pt x="633061" y="2793595"/>
                </a:cubicBezTo>
                <a:cubicBezTo>
                  <a:pt x="667955" y="2762414"/>
                  <a:pt x="705817" y="2738656"/>
                  <a:pt x="755560" y="2741626"/>
                </a:cubicBezTo>
                <a:cubicBezTo>
                  <a:pt x="797134" y="2743853"/>
                  <a:pt x="845391" y="2777262"/>
                  <a:pt x="859498" y="2815868"/>
                </a:cubicBezTo>
                <a:cubicBezTo>
                  <a:pt x="869891" y="2844821"/>
                  <a:pt x="859498" y="2873775"/>
                  <a:pt x="830543" y="2893821"/>
                </a:cubicBezTo>
                <a:cubicBezTo>
                  <a:pt x="772635" y="2933911"/>
                  <a:pt x="687257" y="2924259"/>
                  <a:pt x="634545" y="2867837"/>
                </a:cubicBezTo>
                <a:cubicBezTo>
                  <a:pt x="615986" y="2847791"/>
                  <a:pt x="609303" y="2850761"/>
                  <a:pt x="598909" y="2873033"/>
                </a:cubicBezTo>
                <a:cubicBezTo>
                  <a:pt x="570698" y="2933911"/>
                  <a:pt x="558077" y="2994046"/>
                  <a:pt x="595940" y="3055667"/>
                </a:cubicBezTo>
                <a:cubicBezTo>
                  <a:pt x="606334" y="3072000"/>
                  <a:pt x="612273" y="3078683"/>
                  <a:pt x="627121" y="3057152"/>
                </a:cubicBezTo>
                <a:cubicBezTo>
                  <a:pt x="662015" y="3004441"/>
                  <a:pt x="716954" y="2985880"/>
                  <a:pt x="777089" y="2980683"/>
                </a:cubicBezTo>
                <a:cubicBezTo>
                  <a:pt x="814210" y="2976971"/>
                  <a:pt x="845391" y="2991820"/>
                  <a:pt x="854301" y="3014834"/>
                </a:cubicBezTo>
                <a:cubicBezTo>
                  <a:pt x="866179" y="3046015"/>
                  <a:pt x="852816" y="3090561"/>
                  <a:pt x="823119" y="3111349"/>
                </a:cubicBezTo>
                <a:cubicBezTo>
                  <a:pt x="778574" y="3143272"/>
                  <a:pt x="728090" y="3142530"/>
                  <a:pt x="677605" y="3133621"/>
                </a:cubicBezTo>
                <a:cubicBezTo>
                  <a:pt x="665727" y="3131394"/>
                  <a:pt x="653105" y="3129909"/>
                  <a:pt x="644197" y="3123227"/>
                </a:cubicBezTo>
                <a:cubicBezTo>
                  <a:pt x="621924" y="3106894"/>
                  <a:pt x="616727" y="3118772"/>
                  <a:pt x="614501" y="3138818"/>
                </a:cubicBezTo>
                <a:cubicBezTo>
                  <a:pt x="608561" y="3187817"/>
                  <a:pt x="621182" y="3231620"/>
                  <a:pt x="653848" y="3273937"/>
                </a:cubicBezTo>
                <a:cubicBezTo>
                  <a:pt x="675378" y="3216029"/>
                  <a:pt x="712499" y="3179651"/>
                  <a:pt x="769665" y="3164803"/>
                </a:cubicBezTo>
                <a:cubicBezTo>
                  <a:pt x="795649" y="3158121"/>
                  <a:pt x="821634" y="3157378"/>
                  <a:pt x="847618" y="3161833"/>
                </a:cubicBezTo>
                <a:cubicBezTo>
                  <a:pt x="889937" y="3169256"/>
                  <a:pt x="913693" y="3207120"/>
                  <a:pt x="905527" y="3250923"/>
                </a:cubicBezTo>
                <a:cubicBezTo>
                  <a:pt x="892164" y="3320710"/>
                  <a:pt x="823862" y="3360800"/>
                  <a:pt x="746650" y="3343724"/>
                </a:cubicBezTo>
                <a:cubicBezTo>
                  <a:pt x="719924" y="3338528"/>
                  <a:pt x="693939" y="3331103"/>
                  <a:pt x="667955" y="3312543"/>
                </a:cubicBezTo>
                <a:cubicBezTo>
                  <a:pt x="658303" y="3377133"/>
                  <a:pt x="666470" y="3435041"/>
                  <a:pt x="684288" y="3492950"/>
                </a:cubicBezTo>
                <a:cubicBezTo>
                  <a:pt x="719181" y="3605055"/>
                  <a:pt x="794164" y="3685978"/>
                  <a:pt x="884739" y="3756507"/>
                </a:cubicBezTo>
                <a:cubicBezTo>
                  <a:pt x="942648" y="3801794"/>
                  <a:pt x="997587" y="3850794"/>
                  <a:pt x="1030253" y="3919838"/>
                </a:cubicBezTo>
                <a:cubicBezTo>
                  <a:pt x="1074798" y="4015610"/>
                  <a:pt x="1070343" y="4115836"/>
                  <a:pt x="1055495" y="4216804"/>
                </a:cubicBezTo>
                <a:cubicBezTo>
                  <a:pt x="1045101" y="4285849"/>
                  <a:pt x="1026541" y="4353409"/>
                  <a:pt x="1008723" y="4420969"/>
                </a:cubicBezTo>
                <a:cubicBezTo>
                  <a:pt x="1005010" y="4435075"/>
                  <a:pt x="1000556" y="4446211"/>
                  <a:pt x="1019859" y="4452893"/>
                </a:cubicBezTo>
                <a:cubicBezTo>
                  <a:pt x="1116373" y="4486301"/>
                  <a:pt x="1190615" y="4549406"/>
                  <a:pt x="1232190" y="4640723"/>
                </a:cubicBezTo>
                <a:cubicBezTo>
                  <a:pt x="1290841" y="4769904"/>
                  <a:pt x="1401461" y="4810736"/>
                  <a:pt x="1526186" y="4827812"/>
                </a:cubicBezTo>
                <a:cubicBezTo>
                  <a:pt x="1771183" y="4861964"/>
                  <a:pt x="2018407" y="4861964"/>
                  <a:pt x="2264889" y="4850084"/>
                </a:cubicBezTo>
                <a:cubicBezTo>
                  <a:pt x="2452720" y="4841175"/>
                  <a:pt x="2640552" y="4824843"/>
                  <a:pt x="2828383" y="4807766"/>
                </a:cubicBezTo>
                <a:cubicBezTo>
                  <a:pt x="3022896" y="4789949"/>
                  <a:pt x="3217407" y="4774358"/>
                  <a:pt x="3412663" y="4764707"/>
                </a:cubicBezTo>
                <a:cubicBezTo>
                  <a:pt x="3680675" y="4752086"/>
                  <a:pt x="3948687" y="4736495"/>
                  <a:pt x="4216698" y="4739465"/>
                </a:cubicBezTo>
                <a:cubicBezTo>
                  <a:pt x="4426803" y="4741692"/>
                  <a:pt x="4635421" y="4762479"/>
                  <a:pt x="4843297" y="4791434"/>
                </a:cubicBezTo>
                <a:cubicBezTo>
                  <a:pt x="4991039" y="4812221"/>
                  <a:pt x="5140263" y="4827070"/>
                  <a:pt x="5291715" y="4821131"/>
                </a:cubicBezTo>
                <a:cubicBezTo>
                  <a:pt x="5291715" y="4807025"/>
                  <a:pt x="5280579" y="4800343"/>
                  <a:pt x="5275382" y="4790691"/>
                </a:cubicBezTo>
                <a:cubicBezTo>
                  <a:pt x="5230095" y="4711995"/>
                  <a:pt x="5236034" y="4634784"/>
                  <a:pt x="5285034" y="4560543"/>
                </a:cubicBezTo>
                <a:cubicBezTo>
                  <a:pt x="5388230" y="4403893"/>
                  <a:pt x="5575318" y="4403151"/>
                  <a:pt x="5691136" y="4495211"/>
                </a:cubicBezTo>
                <a:cubicBezTo>
                  <a:pt x="5776512" y="4562769"/>
                  <a:pt x="5769089" y="4686753"/>
                  <a:pt x="5679999" y="4760252"/>
                </a:cubicBezTo>
                <a:cubicBezTo>
                  <a:pt x="5628772" y="4802570"/>
                  <a:pt x="5567152" y="4818903"/>
                  <a:pt x="5503304" y="4828555"/>
                </a:cubicBezTo>
                <a:cubicBezTo>
                  <a:pt x="5455047" y="4835979"/>
                  <a:pt x="5406048" y="4839691"/>
                  <a:pt x="5350367" y="4841175"/>
                </a:cubicBezTo>
                <a:cubicBezTo>
                  <a:pt x="5396397" y="4879039"/>
                  <a:pt x="5444654" y="4897600"/>
                  <a:pt x="5495138" y="4909478"/>
                </a:cubicBezTo>
                <a:cubicBezTo>
                  <a:pt x="5652530" y="4947341"/>
                  <a:pt x="5809179" y="4937689"/>
                  <a:pt x="5965829" y="4903538"/>
                </a:cubicBezTo>
                <a:cubicBezTo>
                  <a:pt x="6126191" y="4867902"/>
                  <a:pt x="6278386" y="4804797"/>
                  <a:pt x="6433550" y="4754313"/>
                </a:cubicBezTo>
                <a:cubicBezTo>
                  <a:pt x="6578321" y="4706798"/>
                  <a:pt x="6726062" y="4679329"/>
                  <a:pt x="6877515" y="4665223"/>
                </a:cubicBezTo>
                <a:cubicBezTo>
                  <a:pt x="7138844" y="4640723"/>
                  <a:pt x="7399433" y="4651859"/>
                  <a:pt x="7660763" y="4663738"/>
                </a:cubicBezTo>
                <a:lnTo>
                  <a:pt x="8280679" y="4689723"/>
                </a:lnTo>
                <a:cubicBezTo>
                  <a:pt x="8419509" y="4696405"/>
                  <a:pt x="8557599" y="4711253"/>
                  <a:pt x="8694945" y="4732041"/>
                </a:cubicBezTo>
                <a:cubicBezTo>
                  <a:pt x="8792945" y="4746146"/>
                  <a:pt x="8887973" y="4773616"/>
                  <a:pt x="8985973" y="4788464"/>
                </a:cubicBezTo>
                <a:cubicBezTo>
                  <a:pt x="9022351" y="4793847"/>
                  <a:pt x="9058776" y="4797791"/>
                  <a:pt x="9095247" y="4800529"/>
                </a:cubicBezTo>
                <a:lnTo>
                  <a:pt x="9154996" y="4803161"/>
                </a:lnTo>
                <a:lnTo>
                  <a:pt x="9154996" y="4824858"/>
                </a:lnTo>
                <a:lnTo>
                  <a:pt x="9096847" y="4822929"/>
                </a:lnTo>
                <a:cubicBezTo>
                  <a:pt x="9050655" y="4819599"/>
                  <a:pt x="9004533" y="4814263"/>
                  <a:pt x="8958503" y="4806282"/>
                </a:cubicBezTo>
                <a:cubicBezTo>
                  <a:pt x="8876838" y="4792918"/>
                  <a:pt x="8797399" y="4771389"/>
                  <a:pt x="8715734" y="4758026"/>
                </a:cubicBezTo>
                <a:cubicBezTo>
                  <a:pt x="8585069" y="4736495"/>
                  <a:pt x="8454404" y="4721647"/>
                  <a:pt x="8322253" y="4714965"/>
                </a:cubicBezTo>
                <a:lnTo>
                  <a:pt x="7579839" y="4682299"/>
                </a:lnTo>
                <a:cubicBezTo>
                  <a:pt x="7355629" y="4673389"/>
                  <a:pt x="7131421" y="4667451"/>
                  <a:pt x="6907211" y="4684526"/>
                </a:cubicBezTo>
                <a:cubicBezTo>
                  <a:pt x="6695623" y="4700859"/>
                  <a:pt x="6492943" y="4752086"/>
                  <a:pt x="6294719" y="4825585"/>
                </a:cubicBezTo>
                <a:cubicBezTo>
                  <a:pt x="6177416" y="4869387"/>
                  <a:pt x="6059373" y="4910220"/>
                  <a:pt x="5936132" y="4933235"/>
                </a:cubicBezTo>
                <a:cubicBezTo>
                  <a:pt x="5780967" y="4961447"/>
                  <a:pt x="5625802" y="4968871"/>
                  <a:pt x="5471380" y="4925069"/>
                </a:cubicBezTo>
                <a:cubicBezTo>
                  <a:pt x="5420896" y="4910220"/>
                  <a:pt x="5373382" y="4887948"/>
                  <a:pt x="5332549" y="4854539"/>
                </a:cubicBezTo>
                <a:cubicBezTo>
                  <a:pt x="5324382" y="4847857"/>
                  <a:pt x="5316215" y="4841918"/>
                  <a:pt x="5304338" y="4842660"/>
                </a:cubicBezTo>
                <a:cubicBezTo>
                  <a:pt x="5108339" y="4850827"/>
                  <a:pt x="4915311" y="4822615"/>
                  <a:pt x="4721541" y="4797373"/>
                </a:cubicBezTo>
                <a:cubicBezTo>
                  <a:pt x="4451301" y="4761737"/>
                  <a:pt x="4179578" y="4754313"/>
                  <a:pt x="3907112" y="4765449"/>
                </a:cubicBezTo>
                <a:cubicBezTo>
                  <a:pt x="3665826" y="4775101"/>
                  <a:pt x="3423800" y="4784010"/>
                  <a:pt x="3182514" y="4801828"/>
                </a:cubicBezTo>
                <a:lnTo>
                  <a:pt x="2587840" y="4851569"/>
                </a:lnTo>
                <a:cubicBezTo>
                  <a:pt x="2302753" y="4874584"/>
                  <a:pt x="2017665" y="4888690"/>
                  <a:pt x="1731836" y="4870130"/>
                </a:cubicBezTo>
                <a:cubicBezTo>
                  <a:pt x="1633094" y="4863448"/>
                  <a:pt x="1534353" y="4856766"/>
                  <a:pt x="1437838" y="4830781"/>
                </a:cubicBezTo>
                <a:cubicBezTo>
                  <a:pt x="1345779" y="4805540"/>
                  <a:pt x="1271538" y="4761737"/>
                  <a:pt x="1228477" y="4671163"/>
                </a:cubicBezTo>
                <a:cubicBezTo>
                  <a:pt x="1185418" y="4579846"/>
                  <a:pt x="1117858" y="4511544"/>
                  <a:pt x="1020601" y="4474423"/>
                </a:cubicBezTo>
                <a:cubicBezTo>
                  <a:pt x="1002783" y="4467741"/>
                  <a:pt x="999072" y="4469226"/>
                  <a:pt x="993875" y="4487786"/>
                </a:cubicBezTo>
                <a:cubicBezTo>
                  <a:pt x="972344" y="4563513"/>
                  <a:pt x="947103" y="4637754"/>
                  <a:pt x="902557" y="4703828"/>
                </a:cubicBezTo>
                <a:cubicBezTo>
                  <a:pt x="812725" y="4836721"/>
                  <a:pt x="664242" y="4809995"/>
                  <a:pt x="592970" y="4740949"/>
                </a:cubicBezTo>
                <a:cubicBezTo>
                  <a:pt x="515759" y="4666707"/>
                  <a:pt x="524668" y="4547921"/>
                  <a:pt x="610788" y="4481846"/>
                </a:cubicBezTo>
                <a:cubicBezTo>
                  <a:pt x="690969" y="4420969"/>
                  <a:pt x="782286" y="4408347"/>
                  <a:pt x="878800" y="4418741"/>
                </a:cubicBezTo>
                <a:cubicBezTo>
                  <a:pt x="908497" y="4421711"/>
                  <a:pt x="938193" y="4428392"/>
                  <a:pt x="967147" y="4435075"/>
                </a:cubicBezTo>
                <a:cubicBezTo>
                  <a:pt x="979769" y="4438044"/>
                  <a:pt x="986450" y="4438787"/>
                  <a:pt x="990162" y="4423939"/>
                </a:cubicBezTo>
                <a:cubicBezTo>
                  <a:pt x="1017632" y="4318516"/>
                  <a:pt x="1047329" y="4212350"/>
                  <a:pt x="1048813" y="4101730"/>
                </a:cubicBezTo>
                <a:cubicBezTo>
                  <a:pt x="1050298" y="3985171"/>
                  <a:pt x="1009465" y="3887914"/>
                  <a:pt x="918890" y="3812930"/>
                </a:cubicBezTo>
                <a:cubicBezTo>
                  <a:pt x="875831" y="3777295"/>
                  <a:pt x="832028" y="3741659"/>
                  <a:pt x="791937" y="3702311"/>
                </a:cubicBezTo>
                <a:cubicBezTo>
                  <a:pt x="684288" y="3597630"/>
                  <a:pt x="636772" y="3468450"/>
                  <a:pt x="647167" y="3318482"/>
                </a:cubicBezTo>
                <a:cubicBezTo>
                  <a:pt x="647909" y="3306604"/>
                  <a:pt x="646424" y="3297695"/>
                  <a:pt x="638257" y="3287301"/>
                </a:cubicBezTo>
                <a:cubicBezTo>
                  <a:pt x="601136" y="3242013"/>
                  <a:pt x="587031" y="3189302"/>
                  <a:pt x="598909" y="3132136"/>
                </a:cubicBezTo>
                <a:cubicBezTo>
                  <a:pt x="604106" y="3109121"/>
                  <a:pt x="599651" y="3092788"/>
                  <a:pt x="585546" y="3074228"/>
                </a:cubicBezTo>
                <a:cubicBezTo>
                  <a:pt x="535062" y="3008153"/>
                  <a:pt x="546940" y="2936881"/>
                  <a:pt x="581833" y="2869321"/>
                </a:cubicBezTo>
                <a:cubicBezTo>
                  <a:pt x="596683" y="2841109"/>
                  <a:pt x="601879" y="2818095"/>
                  <a:pt x="592228" y="2786170"/>
                </a:cubicBezTo>
                <a:cubicBezTo>
                  <a:pt x="580350" y="2746823"/>
                  <a:pt x="586288" y="2704505"/>
                  <a:pt x="604106" y="2666642"/>
                </a:cubicBezTo>
                <a:cubicBezTo>
                  <a:pt x="611531" y="2649566"/>
                  <a:pt x="607076" y="2640657"/>
                  <a:pt x="598168" y="2628036"/>
                </a:cubicBezTo>
                <a:cubicBezTo>
                  <a:pt x="563274" y="2579037"/>
                  <a:pt x="546940" y="2525583"/>
                  <a:pt x="569955" y="2463220"/>
                </a:cubicBezTo>
                <a:cubicBezTo>
                  <a:pt x="546198" y="2462478"/>
                  <a:pt x="523183" y="2460250"/>
                  <a:pt x="500911" y="2459508"/>
                </a:cubicBezTo>
                <a:cubicBezTo>
                  <a:pt x="482350" y="2458765"/>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cubicBezTo>
                  <a:pt x="560302" y="2204117"/>
                  <a:pt x="662013" y="2207829"/>
                  <a:pt x="763724" y="2210798"/>
                </a:cubicBezTo>
                <a:cubicBezTo>
                  <a:pt x="763724" y="2210798"/>
                  <a:pt x="957494" y="2216737"/>
                  <a:pt x="1054751" y="2220450"/>
                </a:cubicBezTo>
                <a:cubicBezTo>
                  <a:pt x="1072569" y="2221192"/>
                  <a:pt x="1090387" y="2221935"/>
                  <a:pt x="1106720"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cubicBezTo>
                  <a:pt x="850587" y="2130617"/>
                  <a:pt x="655332" y="2123936"/>
                  <a:pt x="460819" y="2117997"/>
                </a:cubicBezTo>
                <a:close/>
                <a:moveTo>
                  <a:pt x="425926" y="2063800"/>
                </a:moveTo>
                <a:cubicBezTo>
                  <a:pt x="438546" y="2064543"/>
                  <a:pt x="451910" y="2064543"/>
                  <a:pt x="465274" y="2065285"/>
                </a:cubicBezTo>
                <a:cubicBezTo>
                  <a:pt x="479379" y="2066770"/>
                  <a:pt x="493485" y="2066770"/>
                  <a:pt x="506849" y="2066770"/>
                </a:cubicBezTo>
                <a:cubicBezTo>
                  <a:pt x="513531" y="2066770"/>
                  <a:pt x="519469" y="2066770"/>
                  <a:pt x="526151" y="2066770"/>
                </a:cubicBezTo>
                <a:cubicBezTo>
                  <a:pt x="584060" y="2068997"/>
                  <a:pt x="1091872" y="2083845"/>
                  <a:pt x="1096326" y="2083845"/>
                </a:cubicBez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4" y="2018513"/>
                </a:lnTo>
                <a:cubicBezTo>
                  <a:pt x="1116372" y="2019255"/>
                  <a:pt x="1133448" y="2017029"/>
                  <a:pt x="1149038" y="2008119"/>
                </a:cubicBezTo>
                <a:cubicBezTo>
                  <a:pt x="1176507" y="1993271"/>
                  <a:pt x="1177992" y="1969513"/>
                  <a:pt x="1151266" y="1952438"/>
                </a:cubicBezTo>
                <a:cubicBezTo>
                  <a:pt x="1135674" y="1942787"/>
                  <a:pt x="1117115" y="1938332"/>
                  <a:pt x="1098554" y="1937590"/>
                </a:cubicBez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4"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6" name="Freeform: Shape 25">
            <a:extLst>
              <a:ext uri="{FF2B5EF4-FFF2-40B4-BE49-F238E27FC236}">
                <a16:creationId xmlns="" xmlns:a16="http://schemas.microsoft.com/office/drawing/2014/main" id="{A7274DFC-55DB-5464-5935-FE651D7E42FF}"/>
              </a:ext>
            </a:extLst>
          </p:cNvPr>
          <p:cNvSpPr/>
          <p:nvPr userDrawn="1"/>
        </p:nvSpPr>
        <p:spPr>
          <a:xfrm rot="16200000">
            <a:off x="9850661" y="3335554"/>
            <a:ext cx="3200653" cy="137081"/>
          </a:xfrm>
          <a:custGeom>
            <a:avLst/>
            <a:gdLst>
              <a:gd name="connsiteX0" fmla="*/ 3200653 w 3200653"/>
              <a:gd name="connsiteY0" fmla="*/ 78173 h 139596"/>
              <a:gd name="connsiteX1" fmla="*/ 3200653 w 3200653"/>
              <a:gd name="connsiteY1" fmla="*/ 98497 h 139596"/>
              <a:gd name="connsiteX2" fmla="*/ 3127329 w 3200653"/>
              <a:gd name="connsiteY2" fmla="*/ 93449 h 139596"/>
              <a:gd name="connsiteX3" fmla="*/ 2836766 w 3200653"/>
              <a:gd name="connsiteY3" fmla="*/ 58277 h 139596"/>
              <a:gd name="connsiteX4" fmla="*/ 2022337 w 3200653"/>
              <a:gd name="connsiteY4" fmla="*/ 26353 h 139596"/>
              <a:gd name="connsiteX5" fmla="*/ 1297739 w 3200653"/>
              <a:gd name="connsiteY5" fmla="*/ 62733 h 139596"/>
              <a:gd name="connsiteX6" fmla="*/ 703065 w 3200653"/>
              <a:gd name="connsiteY6" fmla="*/ 112473 h 139596"/>
              <a:gd name="connsiteX7" fmla="*/ 61306 w 3200653"/>
              <a:gd name="connsiteY7" fmla="*/ 139201 h 139596"/>
              <a:gd name="connsiteX8" fmla="*/ 0 w 3200653"/>
              <a:gd name="connsiteY8" fmla="*/ 136865 h 139596"/>
              <a:gd name="connsiteX9" fmla="*/ 0 w 3200653"/>
              <a:gd name="connsiteY9" fmla="*/ 116626 h 139596"/>
              <a:gd name="connsiteX10" fmla="*/ 10206 w 3200653"/>
              <a:gd name="connsiteY10" fmla="*/ 117115 h 139596"/>
              <a:gd name="connsiteX11" fmla="*/ 380114 w 3200653"/>
              <a:gd name="connsiteY11" fmla="*/ 110989 h 139596"/>
              <a:gd name="connsiteX12" fmla="*/ 943608 w 3200653"/>
              <a:gd name="connsiteY12" fmla="*/ 68671 h 139596"/>
              <a:gd name="connsiteX13" fmla="*/ 1527888 w 3200653"/>
              <a:gd name="connsiteY13" fmla="*/ 25611 h 139596"/>
              <a:gd name="connsiteX14" fmla="*/ 2331923 w 3200653"/>
              <a:gd name="connsiteY14" fmla="*/ 369 h 139596"/>
              <a:gd name="connsiteX15" fmla="*/ 2958522 w 3200653"/>
              <a:gd name="connsiteY15" fmla="*/ 52339 h 139596"/>
              <a:gd name="connsiteX16" fmla="*/ 3181339 w 3200653"/>
              <a:gd name="connsiteY16" fmla="*/ 77209 h 13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0653" h="139596">
                <a:moveTo>
                  <a:pt x="3200653" y="78173"/>
                </a:moveTo>
                <a:lnTo>
                  <a:pt x="3200653" y="98497"/>
                </a:lnTo>
                <a:lnTo>
                  <a:pt x="3127329" y="93449"/>
                </a:lnTo>
                <a:cubicBezTo>
                  <a:pt x="3030351" y="84263"/>
                  <a:pt x="2933651" y="70899"/>
                  <a:pt x="2836766" y="58277"/>
                </a:cubicBezTo>
                <a:cubicBezTo>
                  <a:pt x="2566526" y="22641"/>
                  <a:pt x="2294803" y="15217"/>
                  <a:pt x="2022337" y="26353"/>
                </a:cubicBezTo>
                <a:cubicBezTo>
                  <a:pt x="1781051" y="36005"/>
                  <a:pt x="1539025" y="44915"/>
                  <a:pt x="1297739" y="62733"/>
                </a:cubicBezTo>
                <a:lnTo>
                  <a:pt x="703065" y="112473"/>
                </a:lnTo>
                <a:cubicBezTo>
                  <a:pt x="489250" y="129735"/>
                  <a:pt x="275434" y="141985"/>
                  <a:pt x="61306" y="139201"/>
                </a:cubicBezTo>
                <a:lnTo>
                  <a:pt x="0" y="136865"/>
                </a:lnTo>
                <a:lnTo>
                  <a:pt x="0" y="116626"/>
                </a:lnTo>
                <a:lnTo>
                  <a:pt x="10206" y="117115"/>
                </a:lnTo>
                <a:cubicBezTo>
                  <a:pt x="133447" y="119899"/>
                  <a:pt x="256873" y="116929"/>
                  <a:pt x="380114" y="110989"/>
                </a:cubicBezTo>
                <a:cubicBezTo>
                  <a:pt x="567945" y="102079"/>
                  <a:pt x="755777" y="85747"/>
                  <a:pt x="943608" y="68671"/>
                </a:cubicBezTo>
                <a:cubicBezTo>
                  <a:pt x="1138121" y="50853"/>
                  <a:pt x="1332632" y="35263"/>
                  <a:pt x="1527888" y="25611"/>
                </a:cubicBezTo>
                <a:cubicBezTo>
                  <a:pt x="1795900" y="12991"/>
                  <a:pt x="2063912" y="-2601"/>
                  <a:pt x="2331923" y="369"/>
                </a:cubicBezTo>
                <a:cubicBezTo>
                  <a:pt x="2542027" y="2597"/>
                  <a:pt x="2750646" y="23383"/>
                  <a:pt x="2958522" y="52339"/>
                </a:cubicBezTo>
                <a:cubicBezTo>
                  <a:pt x="3032393" y="62731"/>
                  <a:pt x="3106634" y="71641"/>
                  <a:pt x="3181339" y="77209"/>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7" name="Freeform: Shape 26">
            <a:extLst>
              <a:ext uri="{FF2B5EF4-FFF2-40B4-BE49-F238E27FC236}">
                <a16:creationId xmlns="" xmlns:a16="http://schemas.microsoft.com/office/drawing/2014/main" id="{11D9E80C-98EC-4B6B-2B70-03F472FB5D58}"/>
              </a:ext>
            </a:extLst>
          </p:cNvPr>
          <p:cNvSpPr/>
          <p:nvPr userDrawn="1"/>
        </p:nvSpPr>
        <p:spPr>
          <a:xfrm flipH="1">
            <a:off x="9543852" y="4973601"/>
            <a:ext cx="2091557" cy="1485438"/>
          </a:xfrm>
          <a:custGeom>
            <a:avLst/>
            <a:gdLst>
              <a:gd name="connsiteX0" fmla="*/ 205688 w 1854014"/>
              <a:gd name="connsiteY0" fmla="*/ 1383334 h 1485438"/>
              <a:gd name="connsiteX1" fmla="*/ 331899 w 1854014"/>
              <a:gd name="connsiteY1" fmla="*/ 1312061 h 1485438"/>
              <a:gd name="connsiteX2" fmla="*/ 434352 w 1854014"/>
              <a:gd name="connsiteY2" fmla="*/ 1080428 h 1485438"/>
              <a:gd name="connsiteX3" fmla="*/ 419503 w 1854014"/>
              <a:gd name="connsiteY3" fmla="*/ 1061868 h 1485438"/>
              <a:gd name="connsiteX4" fmla="*/ 296263 w 1854014"/>
              <a:gd name="connsiteY4" fmla="*/ 1041080 h 1485438"/>
              <a:gd name="connsiteX5" fmla="*/ 87644 w 1854014"/>
              <a:gd name="connsiteY5" fmla="*/ 1098246 h 1485438"/>
              <a:gd name="connsiteX6" fmla="*/ 19342 w 1854014"/>
              <a:gd name="connsiteY6" fmla="*/ 1239305 h 1485438"/>
              <a:gd name="connsiteX7" fmla="*/ 205688 w 1854014"/>
              <a:gd name="connsiteY7" fmla="*/ 1383334 h 1485438"/>
              <a:gd name="connsiteX8" fmla="*/ 1405860 w 1854014"/>
              <a:gd name="connsiteY8" fmla="*/ 1485044 h 1485438"/>
              <a:gd name="connsiteX9" fmla="*/ 1191616 w 1854014"/>
              <a:gd name="connsiteY9" fmla="*/ 1476878 h 1485438"/>
              <a:gd name="connsiteX10" fmla="*/ 897618 w 1854014"/>
              <a:gd name="connsiteY10" fmla="*/ 1437529 h 1485438"/>
              <a:gd name="connsiteX11" fmla="*/ 688257 w 1854014"/>
              <a:gd name="connsiteY11" fmla="*/ 1277911 h 1485438"/>
              <a:gd name="connsiteX12" fmla="*/ 480381 w 1854014"/>
              <a:gd name="connsiteY12" fmla="*/ 1081171 h 1485438"/>
              <a:gd name="connsiteX13" fmla="*/ 453655 w 1854014"/>
              <a:gd name="connsiteY13" fmla="*/ 1094534 h 1485438"/>
              <a:gd name="connsiteX14" fmla="*/ 362337 w 1854014"/>
              <a:gd name="connsiteY14" fmla="*/ 1310576 h 1485438"/>
              <a:gd name="connsiteX15" fmla="*/ 52750 w 1854014"/>
              <a:gd name="connsiteY15" fmla="*/ 1347697 h 1485438"/>
              <a:gd name="connsiteX16" fmla="*/ 70568 w 1854014"/>
              <a:gd name="connsiteY16" fmla="*/ 1088594 h 1485438"/>
              <a:gd name="connsiteX17" fmla="*/ 338580 w 1854014"/>
              <a:gd name="connsiteY17" fmla="*/ 1025489 h 1485438"/>
              <a:gd name="connsiteX18" fmla="*/ 426927 w 1854014"/>
              <a:gd name="connsiteY18" fmla="*/ 1041823 h 1485438"/>
              <a:gd name="connsiteX19" fmla="*/ 449942 w 1854014"/>
              <a:gd name="connsiteY19" fmla="*/ 1030687 h 1485438"/>
              <a:gd name="connsiteX20" fmla="*/ 508593 w 1854014"/>
              <a:gd name="connsiteY20" fmla="*/ 708478 h 1485438"/>
              <a:gd name="connsiteX21" fmla="*/ 378670 w 1854014"/>
              <a:gd name="connsiteY21" fmla="*/ 419678 h 1485438"/>
              <a:gd name="connsiteX22" fmla="*/ 251717 w 1854014"/>
              <a:gd name="connsiteY22" fmla="*/ 309059 h 1485438"/>
              <a:gd name="connsiteX23" fmla="*/ 110044 w 1854014"/>
              <a:gd name="connsiteY23" fmla="*/ 33750 h 1485438"/>
              <a:gd name="connsiteX24" fmla="*/ 109081 w 1854014"/>
              <a:gd name="connsiteY24" fmla="*/ 0 h 1485438"/>
              <a:gd name="connsiteX25" fmla="*/ 125877 w 1854014"/>
              <a:gd name="connsiteY25" fmla="*/ 0 h 1485438"/>
              <a:gd name="connsiteX26" fmla="*/ 125601 w 1854014"/>
              <a:gd name="connsiteY26" fmla="*/ 12000 h 1485438"/>
              <a:gd name="connsiteX27" fmla="*/ 144068 w 1854014"/>
              <a:gd name="connsiteY27" fmla="*/ 99698 h 1485438"/>
              <a:gd name="connsiteX28" fmla="*/ 344519 w 1854014"/>
              <a:gd name="connsiteY28" fmla="*/ 363255 h 1485438"/>
              <a:gd name="connsiteX29" fmla="*/ 490033 w 1854014"/>
              <a:gd name="connsiteY29" fmla="*/ 526586 h 1485438"/>
              <a:gd name="connsiteX30" fmla="*/ 515275 w 1854014"/>
              <a:gd name="connsiteY30" fmla="*/ 823552 h 1485438"/>
              <a:gd name="connsiteX31" fmla="*/ 468503 w 1854014"/>
              <a:gd name="connsiteY31" fmla="*/ 1027717 h 1485438"/>
              <a:gd name="connsiteX32" fmla="*/ 479639 w 1854014"/>
              <a:gd name="connsiteY32" fmla="*/ 1059641 h 1485438"/>
              <a:gd name="connsiteX33" fmla="*/ 691970 w 1854014"/>
              <a:gd name="connsiteY33" fmla="*/ 1247471 h 1485438"/>
              <a:gd name="connsiteX34" fmla="*/ 985966 w 1854014"/>
              <a:gd name="connsiteY34" fmla="*/ 1434560 h 1485438"/>
              <a:gd name="connsiteX35" fmla="*/ 1724669 w 1854014"/>
              <a:gd name="connsiteY35" fmla="*/ 1456832 h 1485438"/>
              <a:gd name="connsiteX36" fmla="*/ 1854014 w 1854014"/>
              <a:gd name="connsiteY36" fmla="*/ 1448524 h 1485438"/>
              <a:gd name="connsiteX37" fmla="*/ 1854014 w 1854014"/>
              <a:gd name="connsiteY37" fmla="*/ 1472097 h 1485438"/>
              <a:gd name="connsiteX38" fmla="*/ 1833793 w 1854014"/>
              <a:gd name="connsiteY38" fmla="*/ 1473537 h 1485438"/>
              <a:gd name="connsiteX39" fmla="*/ 1405860 w 1854014"/>
              <a:gd name="connsiteY39" fmla="*/ 1485044 h 148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54014" h="1485438">
                <a:moveTo>
                  <a:pt x="205688" y="1383334"/>
                </a:moveTo>
                <a:cubicBezTo>
                  <a:pt x="253202" y="1383334"/>
                  <a:pt x="297747" y="1355864"/>
                  <a:pt x="331899" y="1312061"/>
                </a:cubicBezTo>
                <a:cubicBezTo>
                  <a:pt x="386095" y="1243759"/>
                  <a:pt x="411336" y="1162836"/>
                  <a:pt x="434352" y="1080428"/>
                </a:cubicBezTo>
                <a:cubicBezTo>
                  <a:pt x="438064" y="1066323"/>
                  <a:pt x="430639" y="1064838"/>
                  <a:pt x="419503" y="1061868"/>
                </a:cubicBezTo>
                <a:cubicBezTo>
                  <a:pt x="379413" y="1048504"/>
                  <a:pt x="337838" y="1042565"/>
                  <a:pt x="296263" y="1041080"/>
                </a:cubicBezTo>
                <a:cubicBezTo>
                  <a:pt x="221278" y="1038853"/>
                  <a:pt x="150006" y="1052959"/>
                  <a:pt x="87644" y="1098246"/>
                </a:cubicBezTo>
                <a:cubicBezTo>
                  <a:pt x="40130" y="1132397"/>
                  <a:pt x="12660" y="1178427"/>
                  <a:pt x="19342" y="1239305"/>
                </a:cubicBezTo>
                <a:cubicBezTo>
                  <a:pt x="28250" y="1322456"/>
                  <a:pt x="101750" y="1382591"/>
                  <a:pt x="205688" y="1383334"/>
                </a:cubicBezTo>
                <a:close/>
                <a:moveTo>
                  <a:pt x="1405860" y="1485044"/>
                </a:moveTo>
                <a:cubicBezTo>
                  <a:pt x="1334484" y="1484116"/>
                  <a:pt x="1263073" y="1481518"/>
                  <a:pt x="1191616" y="1476878"/>
                </a:cubicBezTo>
                <a:cubicBezTo>
                  <a:pt x="1092874" y="1470196"/>
                  <a:pt x="994134" y="1463514"/>
                  <a:pt x="897618" y="1437529"/>
                </a:cubicBezTo>
                <a:cubicBezTo>
                  <a:pt x="805559" y="1412288"/>
                  <a:pt x="731318" y="1368485"/>
                  <a:pt x="688257" y="1277911"/>
                </a:cubicBezTo>
                <a:cubicBezTo>
                  <a:pt x="645198" y="1186594"/>
                  <a:pt x="577638" y="1118292"/>
                  <a:pt x="480381" y="1081171"/>
                </a:cubicBezTo>
                <a:cubicBezTo>
                  <a:pt x="462563" y="1074489"/>
                  <a:pt x="458852" y="1075974"/>
                  <a:pt x="453655" y="1094534"/>
                </a:cubicBezTo>
                <a:cubicBezTo>
                  <a:pt x="432124" y="1170261"/>
                  <a:pt x="406883" y="1244502"/>
                  <a:pt x="362337" y="1310576"/>
                </a:cubicBezTo>
                <a:cubicBezTo>
                  <a:pt x="272505" y="1443469"/>
                  <a:pt x="124022" y="1416743"/>
                  <a:pt x="52750" y="1347697"/>
                </a:cubicBezTo>
                <a:cubicBezTo>
                  <a:pt x="-24461" y="1273455"/>
                  <a:pt x="-15551" y="1154669"/>
                  <a:pt x="70568" y="1088594"/>
                </a:cubicBezTo>
                <a:cubicBezTo>
                  <a:pt x="150749" y="1027717"/>
                  <a:pt x="242066" y="1015095"/>
                  <a:pt x="338580" y="1025489"/>
                </a:cubicBezTo>
                <a:cubicBezTo>
                  <a:pt x="368277" y="1028459"/>
                  <a:pt x="397973" y="1035140"/>
                  <a:pt x="426927" y="1041823"/>
                </a:cubicBezTo>
                <a:cubicBezTo>
                  <a:pt x="439549" y="1044792"/>
                  <a:pt x="446230" y="1045535"/>
                  <a:pt x="449942" y="1030687"/>
                </a:cubicBezTo>
                <a:cubicBezTo>
                  <a:pt x="477412" y="925264"/>
                  <a:pt x="507109" y="819098"/>
                  <a:pt x="508593" y="708478"/>
                </a:cubicBezTo>
                <a:cubicBezTo>
                  <a:pt x="510078" y="591919"/>
                  <a:pt x="469245" y="494662"/>
                  <a:pt x="378670" y="419678"/>
                </a:cubicBezTo>
                <a:cubicBezTo>
                  <a:pt x="335611" y="384043"/>
                  <a:pt x="291808" y="348407"/>
                  <a:pt x="251717" y="309059"/>
                </a:cubicBezTo>
                <a:cubicBezTo>
                  <a:pt x="170981" y="230548"/>
                  <a:pt x="124069" y="138257"/>
                  <a:pt x="110044" y="33750"/>
                </a:cubicBezTo>
                <a:lnTo>
                  <a:pt x="109081" y="0"/>
                </a:lnTo>
                <a:lnTo>
                  <a:pt x="125877" y="0"/>
                </a:lnTo>
                <a:lnTo>
                  <a:pt x="125601" y="12000"/>
                </a:lnTo>
                <a:cubicBezTo>
                  <a:pt x="128663" y="41789"/>
                  <a:pt x="135159" y="70744"/>
                  <a:pt x="144068" y="99698"/>
                </a:cubicBezTo>
                <a:cubicBezTo>
                  <a:pt x="178961" y="211803"/>
                  <a:pt x="253944" y="292726"/>
                  <a:pt x="344519" y="363255"/>
                </a:cubicBezTo>
                <a:cubicBezTo>
                  <a:pt x="402428" y="408542"/>
                  <a:pt x="457367" y="457542"/>
                  <a:pt x="490033" y="526586"/>
                </a:cubicBezTo>
                <a:cubicBezTo>
                  <a:pt x="534578" y="622358"/>
                  <a:pt x="530123" y="722584"/>
                  <a:pt x="515275" y="823552"/>
                </a:cubicBezTo>
                <a:cubicBezTo>
                  <a:pt x="504881" y="892597"/>
                  <a:pt x="486321" y="960157"/>
                  <a:pt x="468503" y="1027717"/>
                </a:cubicBezTo>
                <a:cubicBezTo>
                  <a:pt x="464790" y="1041823"/>
                  <a:pt x="460336" y="1052959"/>
                  <a:pt x="479639" y="1059641"/>
                </a:cubicBezTo>
                <a:cubicBezTo>
                  <a:pt x="576153" y="1093049"/>
                  <a:pt x="650395" y="1156154"/>
                  <a:pt x="691970" y="1247471"/>
                </a:cubicBezTo>
                <a:cubicBezTo>
                  <a:pt x="750621" y="1376652"/>
                  <a:pt x="861241" y="1417484"/>
                  <a:pt x="985966" y="1434560"/>
                </a:cubicBezTo>
                <a:cubicBezTo>
                  <a:pt x="1230963" y="1468712"/>
                  <a:pt x="1478187" y="1468712"/>
                  <a:pt x="1724669" y="1456832"/>
                </a:cubicBezTo>
                <a:lnTo>
                  <a:pt x="1854014" y="1448524"/>
                </a:lnTo>
                <a:lnTo>
                  <a:pt x="1854014" y="1472097"/>
                </a:lnTo>
                <a:lnTo>
                  <a:pt x="1833793" y="1473537"/>
                </a:lnTo>
                <a:cubicBezTo>
                  <a:pt x="1691226" y="1482074"/>
                  <a:pt x="1548613" y="1486900"/>
                  <a:pt x="1405860" y="148504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 name="Freeform: Shape 1">
            <a:extLst>
              <a:ext uri="{FF2B5EF4-FFF2-40B4-BE49-F238E27FC236}">
                <a16:creationId xmlns="" xmlns:a16="http://schemas.microsoft.com/office/drawing/2014/main" id="{9176517A-6BA0-84CA-D8FA-DD93EC17D67C}"/>
              </a:ext>
            </a:extLst>
          </p:cNvPr>
          <p:cNvSpPr/>
          <p:nvPr userDrawn="1"/>
        </p:nvSpPr>
        <p:spPr>
          <a:xfrm rot="10800000" flipH="1">
            <a:off x="926207" y="157106"/>
            <a:ext cx="525636" cy="1404914"/>
          </a:xfrm>
          <a:custGeom>
            <a:avLst/>
            <a:gdLst>
              <a:gd name="connsiteX0" fmla="*/ 205688 w 525636"/>
              <a:gd name="connsiteY0" fmla="*/ 1383334 h 1404914"/>
              <a:gd name="connsiteX1" fmla="*/ 19342 w 525636"/>
              <a:gd name="connsiteY1" fmla="*/ 1239305 h 1404914"/>
              <a:gd name="connsiteX2" fmla="*/ 87644 w 525636"/>
              <a:gd name="connsiteY2" fmla="*/ 1098246 h 1404914"/>
              <a:gd name="connsiteX3" fmla="*/ 296263 w 525636"/>
              <a:gd name="connsiteY3" fmla="*/ 1041080 h 1404914"/>
              <a:gd name="connsiteX4" fmla="*/ 419503 w 525636"/>
              <a:gd name="connsiteY4" fmla="*/ 1061868 h 1404914"/>
              <a:gd name="connsiteX5" fmla="*/ 434352 w 525636"/>
              <a:gd name="connsiteY5" fmla="*/ 1080428 h 1404914"/>
              <a:gd name="connsiteX6" fmla="*/ 331899 w 525636"/>
              <a:gd name="connsiteY6" fmla="*/ 1312061 h 1404914"/>
              <a:gd name="connsiteX7" fmla="*/ 205688 w 525636"/>
              <a:gd name="connsiteY7" fmla="*/ 1383334 h 1404914"/>
              <a:gd name="connsiteX8" fmla="*/ 200584 w 525636"/>
              <a:gd name="connsiteY8" fmla="*/ 1404864 h 1404914"/>
              <a:gd name="connsiteX9" fmla="*/ 362337 w 525636"/>
              <a:gd name="connsiteY9" fmla="*/ 1310576 h 1404914"/>
              <a:gd name="connsiteX10" fmla="*/ 453655 w 525636"/>
              <a:gd name="connsiteY10" fmla="*/ 1094534 h 1404914"/>
              <a:gd name="connsiteX11" fmla="*/ 462285 w 525636"/>
              <a:gd name="connsiteY11" fmla="*/ 1078387 h 1404914"/>
              <a:gd name="connsiteX12" fmla="*/ 466239 w 525636"/>
              <a:gd name="connsiteY12" fmla="*/ 1078995 h 1404914"/>
              <a:gd name="connsiteX13" fmla="*/ 471806 w 525636"/>
              <a:gd name="connsiteY13" fmla="*/ 1055257 h 1404914"/>
              <a:gd name="connsiteX14" fmla="*/ 469234 w 525636"/>
              <a:gd name="connsiteY14" fmla="*/ 1053817 h 1404914"/>
              <a:gd name="connsiteX15" fmla="*/ 468503 w 525636"/>
              <a:gd name="connsiteY15" fmla="*/ 1027717 h 1404914"/>
              <a:gd name="connsiteX16" fmla="*/ 515275 w 525636"/>
              <a:gd name="connsiteY16" fmla="*/ 823552 h 1404914"/>
              <a:gd name="connsiteX17" fmla="*/ 490033 w 525636"/>
              <a:gd name="connsiteY17" fmla="*/ 526586 h 1404914"/>
              <a:gd name="connsiteX18" fmla="*/ 344519 w 525636"/>
              <a:gd name="connsiteY18" fmla="*/ 363255 h 1404914"/>
              <a:gd name="connsiteX19" fmla="*/ 144068 w 525636"/>
              <a:gd name="connsiteY19" fmla="*/ 99698 h 1404914"/>
              <a:gd name="connsiteX20" fmla="*/ 125601 w 525636"/>
              <a:gd name="connsiteY20" fmla="*/ 12000 h 1404914"/>
              <a:gd name="connsiteX21" fmla="*/ 125877 w 525636"/>
              <a:gd name="connsiteY21" fmla="*/ 0 h 1404914"/>
              <a:gd name="connsiteX22" fmla="*/ 109081 w 525636"/>
              <a:gd name="connsiteY22" fmla="*/ 0 h 1404914"/>
              <a:gd name="connsiteX23" fmla="*/ 110044 w 525636"/>
              <a:gd name="connsiteY23" fmla="*/ 33750 h 1404914"/>
              <a:gd name="connsiteX24" fmla="*/ 251717 w 525636"/>
              <a:gd name="connsiteY24" fmla="*/ 309059 h 1404914"/>
              <a:gd name="connsiteX25" fmla="*/ 378670 w 525636"/>
              <a:gd name="connsiteY25" fmla="*/ 419678 h 1404914"/>
              <a:gd name="connsiteX26" fmla="*/ 508593 w 525636"/>
              <a:gd name="connsiteY26" fmla="*/ 708478 h 1404914"/>
              <a:gd name="connsiteX27" fmla="*/ 449942 w 525636"/>
              <a:gd name="connsiteY27" fmla="*/ 1030687 h 1404914"/>
              <a:gd name="connsiteX28" fmla="*/ 426927 w 525636"/>
              <a:gd name="connsiteY28" fmla="*/ 1041823 h 1404914"/>
              <a:gd name="connsiteX29" fmla="*/ 338580 w 525636"/>
              <a:gd name="connsiteY29" fmla="*/ 1025489 h 1404914"/>
              <a:gd name="connsiteX30" fmla="*/ 70568 w 525636"/>
              <a:gd name="connsiteY30" fmla="*/ 1088594 h 1404914"/>
              <a:gd name="connsiteX31" fmla="*/ 52750 w 525636"/>
              <a:gd name="connsiteY31" fmla="*/ 1347697 h 1404914"/>
              <a:gd name="connsiteX32" fmla="*/ 200584 w 525636"/>
              <a:gd name="connsiteY32" fmla="*/ 1404864 h 1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5636" h="1404914">
                <a:moveTo>
                  <a:pt x="205688" y="1383334"/>
                </a:moveTo>
                <a:cubicBezTo>
                  <a:pt x="101750" y="1382591"/>
                  <a:pt x="28250" y="1322456"/>
                  <a:pt x="19342" y="1239305"/>
                </a:cubicBezTo>
                <a:cubicBezTo>
                  <a:pt x="12660" y="1178427"/>
                  <a:pt x="40130" y="1132397"/>
                  <a:pt x="87644" y="1098246"/>
                </a:cubicBezTo>
                <a:cubicBezTo>
                  <a:pt x="150006" y="1052959"/>
                  <a:pt x="221278" y="1038853"/>
                  <a:pt x="296263" y="1041080"/>
                </a:cubicBezTo>
                <a:cubicBezTo>
                  <a:pt x="337838" y="1042565"/>
                  <a:pt x="379413" y="1048504"/>
                  <a:pt x="419503" y="1061868"/>
                </a:cubicBezTo>
                <a:cubicBezTo>
                  <a:pt x="430639" y="1064838"/>
                  <a:pt x="438064" y="1066323"/>
                  <a:pt x="434352" y="1080428"/>
                </a:cubicBezTo>
                <a:cubicBezTo>
                  <a:pt x="411336" y="1162836"/>
                  <a:pt x="386095" y="1243759"/>
                  <a:pt x="331899" y="1312061"/>
                </a:cubicBezTo>
                <a:cubicBezTo>
                  <a:pt x="297747" y="1355864"/>
                  <a:pt x="253202" y="1383334"/>
                  <a:pt x="205688" y="1383334"/>
                </a:cubicBezTo>
                <a:close/>
                <a:moveTo>
                  <a:pt x="200584" y="1404864"/>
                </a:moveTo>
                <a:cubicBezTo>
                  <a:pt x="257842" y="1403564"/>
                  <a:pt x="317421" y="1377022"/>
                  <a:pt x="362337" y="1310576"/>
                </a:cubicBezTo>
                <a:cubicBezTo>
                  <a:pt x="406883" y="1244502"/>
                  <a:pt x="432124" y="1170261"/>
                  <a:pt x="453655" y="1094534"/>
                </a:cubicBezTo>
                <a:cubicBezTo>
                  <a:pt x="456254" y="1085254"/>
                  <a:pt x="458481" y="1080243"/>
                  <a:pt x="462285" y="1078387"/>
                </a:cubicBezTo>
                <a:lnTo>
                  <a:pt x="466239" y="1078995"/>
                </a:lnTo>
                <a:lnTo>
                  <a:pt x="471806" y="1055257"/>
                </a:lnTo>
                <a:lnTo>
                  <a:pt x="469234" y="1053817"/>
                </a:lnTo>
                <a:cubicBezTo>
                  <a:pt x="462517" y="1047205"/>
                  <a:pt x="465718" y="1038296"/>
                  <a:pt x="468503" y="1027717"/>
                </a:cubicBezTo>
                <a:cubicBezTo>
                  <a:pt x="486321" y="960157"/>
                  <a:pt x="504881" y="892597"/>
                  <a:pt x="515275" y="823552"/>
                </a:cubicBezTo>
                <a:cubicBezTo>
                  <a:pt x="530123" y="722584"/>
                  <a:pt x="534578" y="622358"/>
                  <a:pt x="490033" y="526586"/>
                </a:cubicBezTo>
                <a:cubicBezTo>
                  <a:pt x="457367" y="457542"/>
                  <a:pt x="402428" y="408542"/>
                  <a:pt x="344519" y="363255"/>
                </a:cubicBezTo>
                <a:cubicBezTo>
                  <a:pt x="253944" y="292726"/>
                  <a:pt x="178961" y="211803"/>
                  <a:pt x="144068" y="99698"/>
                </a:cubicBezTo>
                <a:cubicBezTo>
                  <a:pt x="135159" y="70744"/>
                  <a:pt x="128663" y="41789"/>
                  <a:pt x="125601" y="12000"/>
                </a:cubicBezTo>
                <a:lnTo>
                  <a:pt x="125877" y="0"/>
                </a:lnTo>
                <a:lnTo>
                  <a:pt x="109081" y="0"/>
                </a:lnTo>
                <a:lnTo>
                  <a:pt x="110044" y="33750"/>
                </a:lnTo>
                <a:cubicBezTo>
                  <a:pt x="124069" y="138257"/>
                  <a:pt x="170981" y="230548"/>
                  <a:pt x="251717" y="309059"/>
                </a:cubicBezTo>
                <a:cubicBezTo>
                  <a:pt x="291808" y="348407"/>
                  <a:pt x="335611" y="384043"/>
                  <a:pt x="378670" y="419678"/>
                </a:cubicBezTo>
                <a:cubicBezTo>
                  <a:pt x="469245" y="494662"/>
                  <a:pt x="510078" y="591919"/>
                  <a:pt x="508593" y="708478"/>
                </a:cubicBezTo>
                <a:cubicBezTo>
                  <a:pt x="507109" y="819098"/>
                  <a:pt x="477412" y="925264"/>
                  <a:pt x="449942" y="1030687"/>
                </a:cubicBezTo>
                <a:cubicBezTo>
                  <a:pt x="446230" y="1045535"/>
                  <a:pt x="439549" y="1044792"/>
                  <a:pt x="426927" y="1041823"/>
                </a:cubicBezTo>
                <a:cubicBezTo>
                  <a:pt x="397973" y="1035140"/>
                  <a:pt x="368277" y="1028459"/>
                  <a:pt x="338580" y="1025489"/>
                </a:cubicBezTo>
                <a:cubicBezTo>
                  <a:pt x="242066" y="1015095"/>
                  <a:pt x="150749" y="1027717"/>
                  <a:pt x="70568" y="1088594"/>
                </a:cubicBezTo>
                <a:cubicBezTo>
                  <a:pt x="-15551" y="1154669"/>
                  <a:pt x="-24461" y="1273455"/>
                  <a:pt x="52750" y="1347697"/>
                </a:cubicBezTo>
                <a:cubicBezTo>
                  <a:pt x="88386" y="1382220"/>
                  <a:pt x="143325" y="1406163"/>
                  <a:pt x="200584" y="140486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16" name="Rectangle 5">
            <a:extLst>
              <a:ext uri="{FF2B5EF4-FFF2-40B4-BE49-F238E27FC236}">
                <a16:creationId xmlns="" xmlns:a16="http://schemas.microsoft.com/office/drawing/2014/main" id="{EA1C3535-2AA3-5AC5-18BE-C4FFF359457C}"/>
              </a:ext>
            </a:extLst>
          </p:cNvPr>
          <p:cNvSpPr/>
          <p:nvPr/>
        </p:nvSpPr>
        <p:spPr>
          <a:xfrm>
            <a:off x="861651" y="1206660"/>
            <a:ext cx="1326759" cy="900198"/>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7" name="Rectangle 5">
            <a:extLst>
              <a:ext uri="{FF2B5EF4-FFF2-40B4-BE49-F238E27FC236}">
                <a16:creationId xmlns="" xmlns:a16="http://schemas.microsoft.com/office/drawing/2014/main" id="{3462D4DE-C900-6B74-DABE-949629D99ABE}"/>
              </a:ext>
            </a:extLst>
          </p:cNvPr>
          <p:cNvSpPr/>
          <p:nvPr/>
        </p:nvSpPr>
        <p:spPr>
          <a:xfrm>
            <a:off x="861651" y="1381769"/>
            <a:ext cx="1326759" cy="433258"/>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8" name="Freeform 22">
            <a:extLst>
              <a:ext uri="{FF2B5EF4-FFF2-40B4-BE49-F238E27FC236}">
                <a16:creationId xmlns="" xmlns:a16="http://schemas.microsoft.com/office/drawing/2014/main" id="{6B67E1D9-E5E8-B865-5C24-FD66122C3ADC}"/>
              </a:ext>
            </a:extLst>
          </p:cNvPr>
          <p:cNvSpPr/>
          <p:nvPr/>
        </p:nvSpPr>
        <p:spPr>
          <a:xfrm>
            <a:off x="-28337" y="883260"/>
            <a:ext cx="3099195" cy="792507"/>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cxnSp>
        <p:nvCxnSpPr>
          <p:cNvPr id="19" name="Straight Connector 18">
            <a:extLst>
              <a:ext uri="{FF2B5EF4-FFF2-40B4-BE49-F238E27FC236}">
                <a16:creationId xmlns="" xmlns:a16="http://schemas.microsoft.com/office/drawing/2014/main" id="{36CB4C2B-505E-5FEF-27A0-9A1B94D288D1}"/>
              </a:ext>
            </a:extLst>
          </p:cNvPr>
          <p:cNvCxnSpPr/>
          <p:nvPr/>
        </p:nvCxnSpPr>
        <p:spPr>
          <a:xfrm>
            <a:off x="1573260" y="1152503"/>
            <a:ext cx="809757" cy="272365"/>
          </a:xfrm>
          <a:prstGeom prst="line">
            <a:avLst/>
          </a:prstGeom>
          <a:solidFill>
            <a:srgbClr val="FF0000"/>
          </a:solidFill>
          <a:ln w="19050" cap="flat" cmpd="sng" algn="ctr">
            <a:solidFill>
              <a:srgbClr val="FF0000"/>
            </a:solidFill>
            <a:prstDash val="solid"/>
            <a:miter lim="800000"/>
          </a:ln>
          <a:effectLst/>
        </p:spPr>
      </p:cxnSp>
      <p:cxnSp>
        <p:nvCxnSpPr>
          <p:cNvPr id="20" name="Straight Connector 19">
            <a:extLst>
              <a:ext uri="{FF2B5EF4-FFF2-40B4-BE49-F238E27FC236}">
                <a16:creationId xmlns="" xmlns:a16="http://schemas.microsoft.com/office/drawing/2014/main" id="{0F80B67C-9C23-2B6B-B6C0-6910081BFFAB}"/>
              </a:ext>
            </a:extLst>
          </p:cNvPr>
          <p:cNvCxnSpPr/>
          <p:nvPr/>
        </p:nvCxnSpPr>
        <p:spPr>
          <a:xfrm>
            <a:off x="2383018" y="1424868"/>
            <a:ext cx="0" cy="447757"/>
          </a:xfrm>
          <a:prstGeom prst="line">
            <a:avLst/>
          </a:prstGeom>
          <a:solidFill>
            <a:srgbClr val="FF0000"/>
          </a:solidFill>
          <a:ln w="19050" cap="flat" cmpd="sng" algn="ctr">
            <a:solidFill>
              <a:srgbClr val="FF0000"/>
            </a:solidFill>
            <a:prstDash val="solid"/>
            <a:miter lim="800000"/>
          </a:ln>
          <a:effectLst/>
        </p:spPr>
      </p:cxnSp>
      <p:sp>
        <p:nvSpPr>
          <p:cNvPr id="22" name="Isosceles Triangle 21">
            <a:extLst>
              <a:ext uri="{FF2B5EF4-FFF2-40B4-BE49-F238E27FC236}">
                <a16:creationId xmlns="" xmlns:a16="http://schemas.microsoft.com/office/drawing/2014/main" id="{164212D8-A22B-7AFA-F329-2F7C348C67F0}"/>
              </a:ext>
            </a:extLst>
          </p:cNvPr>
          <p:cNvSpPr/>
          <p:nvPr/>
        </p:nvSpPr>
        <p:spPr>
          <a:xfrm>
            <a:off x="2265469" y="1692427"/>
            <a:ext cx="235094" cy="408033"/>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4" name="Oval 23">
            <a:extLst>
              <a:ext uri="{FF2B5EF4-FFF2-40B4-BE49-F238E27FC236}">
                <a16:creationId xmlns="" xmlns:a16="http://schemas.microsoft.com/office/drawing/2014/main" id="{C063C53A-EF4B-6D0D-F983-C8DF81CADDD7}"/>
              </a:ext>
            </a:extLst>
          </p:cNvPr>
          <p:cNvSpPr/>
          <p:nvPr/>
        </p:nvSpPr>
        <p:spPr>
          <a:xfrm>
            <a:off x="2318224" y="1670655"/>
            <a:ext cx="120511" cy="120511"/>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5" name="Freeform: Shape 24">
            <a:extLst>
              <a:ext uri="{FF2B5EF4-FFF2-40B4-BE49-F238E27FC236}">
                <a16:creationId xmlns="" xmlns:a16="http://schemas.microsoft.com/office/drawing/2014/main" id="{25B5855A-09BB-8936-C73B-FAA102BE5B09}"/>
              </a:ext>
            </a:extLst>
          </p:cNvPr>
          <p:cNvSpPr/>
          <p:nvPr userDrawn="1"/>
        </p:nvSpPr>
        <p:spPr>
          <a:xfrm rot="628173">
            <a:off x="1034906" y="2159901"/>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Tree>
    <p:extLst>
      <p:ext uri="{BB962C8B-B14F-4D97-AF65-F5344CB8AC3E}">
        <p14:creationId xmlns:p14="http://schemas.microsoft.com/office/powerpoint/2010/main" val="194540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8" name="Rectangle 27">
            <a:extLst>
              <a:ext uri="{FF2B5EF4-FFF2-40B4-BE49-F238E27FC236}">
                <a16:creationId xmlns="" xmlns:a16="http://schemas.microsoft.com/office/drawing/2014/main" id="{1DFAEFDA-4A20-D2DB-9D6D-0730B4FF560D}"/>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29" name="Picture 28" descr="Home.png">
            <a:extLst>
              <a:ext uri="{FF2B5EF4-FFF2-40B4-BE49-F238E27FC236}">
                <a16:creationId xmlns="" xmlns:a16="http://schemas.microsoft.com/office/drawing/2014/main" id="{38DA4166-B2BB-8C5D-CB88-E5F5A425D473}"/>
              </a:ext>
            </a:extLst>
          </p:cNvPr>
          <p:cNvPicPr>
            <a:picLocks noChangeAspect="1"/>
          </p:cNvPicPr>
          <p:nvPr userDrawn="1"/>
        </p:nvPicPr>
        <p:blipFill>
          <a:blip r:embed="rId2">
            <a:lum bright="70000" contrast="-70000"/>
          </a:blip>
          <a:stretch>
            <a:fillRect/>
          </a:stretch>
        </p:blipFill>
        <p:spPr>
          <a:xfrm>
            <a:off x="11545117" y="179920"/>
            <a:ext cx="333375" cy="333375"/>
          </a:xfrm>
          <a:prstGeom prst="rect">
            <a:avLst/>
          </a:prstGeom>
        </p:spPr>
      </p:pic>
      <p:sp>
        <p:nvSpPr>
          <p:cNvPr id="33" name="Slide Number Placeholder 5">
            <a:extLst>
              <a:ext uri="{FF2B5EF4-FFF2-40B4-BE49-F238E27FC236}">
                <a16:creationId xmlns="" xmlns:a16="http://schemas.microsoft.com/office/drawing/2014/main" id="{5BF43D5B-1B32-2975-0FF9-6B1EE3498802}"/>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35" name="Google Shape;25;p4">
            <a:extLst>
              <a:ext uri="{FF2B5EF4-FFF2-40B4-BE49-F238E27FC236}">
                <a16:creationId xmlns="" xmlns:a16="http://schemas.microsoft.com/office/drawing/2014/main" id="{79E69BCC-1572-ECBA-6912-541C9BF14023}"/>
              </a:ext>
            </a:extLst>
          </p:cNvPr>
          <p:cNvSpPr/>
          <p:nvPr userDrawn="1"/>
        </p:nvSpPr>
        <p:spPr>
          <a:xfrm>
            <a:off x="9193128" y="2834"/>
            <a:ext cx="2033411" cy="730295"/>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36" name="Google Shape;25;p4">
            <a:extLst>
              <a:ext uri="{FF2B5EF4-FFF2-40B4-BE49-F238E27FC236}">
                <a16:creationId xmlns="" xmlns:a16="http://schemas.microsoft.com/office/drawing/2014/main" id="{C6F1CAF9-946D-BD03-CEC0-C9E7DE1A84D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37" name="Google Shape;25;p4">
            <a:extLst>
              <a:ext uri="{FF2B5EF4-FFF2-40B4-BE49-F238E27FC236}">
                <a16:creationId xmlns="" xmlns:a16="http://schemas.microsoft.com/office/drawing/2014/main" id="{438340AE-1ECD-F0A1-876E-D51BD95FE3B6}"/>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38" name="Google Shape;25;p4">
            <a:extLst>
              <a:ext uri="{FF2B5EF4-FFF2-40B4-BE49-F238E27FC236}">
                <a16:creationId xmlns="" xmlns:a16="http://schemas.microsoft.com/office/drawing/2014/main" id="{6DB5E0A8-9880-6AE3-B5EB-5506FC2376FB}"/>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39" name="Google Shape;25;p4">
            <a:extLst>
              <a:ext uri="{FF2B5EF4-FFF2-40B4-BE49-F238E27FC236}">
                <a16:creationId xmlns="" xmlns:a16="http://schemas.microsoft.com/office/drawing/2014/main" id="{47E1A727-0AB6-52BC-3857-C8C0B520EBE7}"/>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40" name="Group 39">
            <a:extLst>
              <a:ext uri="{FF2B5EF4-FFF2-40B4-BE49-F238E27FC236}">
                <a16:creationId xmlns="" xmlns:a16="http://schemas.microsoft.com/office/drawing/2014/main" id="{8594FF95-8F72-812C-5F83-4700C74CEA90}"/>
              </a:ext>
            </a:extLst>
          </p:cNvPr>
          <p:cNvGrpSpPr/>
          <p:nvPr userDrawn="1"/>
        </p:nvGrpSpPr>
        <p:grpSpPr>
          <a:xfrm>
            <a:off x="0" y="6734895"/>
            <a:ext cx="12192003" cy="123093"/>
            <a:chOff x="2879947" y="5044093"/>
            <a:chExt cx="6264054" cy="101614"/>
          </a:xfrm>
        </p:grpSpPr>
        <p:sp>
          <p:nvSpPr>
            <p:cNvPr id="41" name="sm 17">
              <a:extLst>
                <a:ext uri="{FF2B5EF4-FFF2-40B4-BE49-F238E27FC236}">
                  <a16:creationId xmlns="" xmlns:a16="http://schemas.microsoft.com/office/drawing/2014/main" id="{27AEC28F-835C-9C48-AB10-51440091970A}"/>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42" name="sm 17">
              <a:extLst>
                <a:ext uri="{FF2B5EF4-FFF2-40B4-BE49-F238E27FC236}">
                  <a16:creationId xmlns="" xmlns:a16="http://schemas.microsoft.com/office/drawing/2014/main" id="{C83DE40E-AEAE-3B06-72D7-E5C2E9652F00}"/>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43" name="Google Shape;40;p5">
            <a:extLst>
              <a:ext uri="{FF2B5EF4-FFF2-40B4-BE49-F238E27FC236}">
                <a16:creationId xmlns="" xmlns:a16="http://schemas.microsoft.com/office/drawing/2014/main" id="{36F7E895-A908-A9BF-F80B-A47B48AA85C9}"/>
              </a:ext>
            </a:extLst>
          </p:cNvPr>
          <p:cNvSpPr txBox="1">
            <a:spLocks noGrp="1"/>
          </p:cNvSpPr>
          <p:nvPr userDrawn="1">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44" name="Google Shape;41;p5">
            <a:extLst>
              <a:ext uri="{FF2B5EF4-FFF2-40B4-BE49-F238E27FC236}">
                <a16:creationId xmlns="" xmlns:a16="http://schemas.microsoft.com/office/drawing/2014/main" id="{C38C5412-CF93-38DA-1135-0E36CC39732C}"/>
              </a:ext>
            </a:extLst>
          </p:cNvPr>
          <p:cNvSpPr txBox="1">
            <a:spLocks noGrp="1"/>
          </p:cNvSpPr>
          <p:nvPr userDrawn="1">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120214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CECE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0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16E04E74-646D-9928-0990-954F21995782}"/>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extLst>
              <a:ext uri="{FF2B5EF4-FFF2-40B4-BE49-F238E27FC236}">
                <a16:creationId xmlns="" xmlns:a16="http://schemas.microsoft.com/office/drawing/2014/main" id="{8F4C3177-3FAC-BE38-C268-E6B62F9A916C}"/>
              </a:ext>
            </a:extLst>
          </p:cNvPr>
          <p:cNvPicPr>
            <a:picLocks noChangeAspect="1"/>
          </p:cNvPicPr>
          <p:nvPr userDrawn="1"/>
        </p:nvPicPr>
        <p:blipFill>
          <a:blip r:embed="rId2">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 xmlns:a16="http://schemas.microsoft.com/office/drawing/2014/main" id="{3FA93341-7AF2-DA9B-1BE6-30582A05584D}"/>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extLst>
              <a:ext uri="{FF2B5EF4-FFF2-40B4-BE49-F238E27FC236}">
                <a16:creationId xmlns="" xmlns:a16="http://schemas.microsoft.com/office/drawing/2014/main" id="{EA4711ED-1B5C-02A4-4070-378F0B95E823}"/>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extLst>
              <a:ext uri="{FF2B5EF4-FFF2-40B4-BE49-F238E27FC236}">
                <a16:creationId xmlns="" xmlns:a16="http://schemas.microsoft.com/office/drawing/2014/main" id="{4AADC86C-9092-1668-078C-2296FCF28C01}"/>
              </a:ext>
            </a:extLst>
          </p:cNvPr>
          <p:cNvSpPr/>
          <p:nvPr userDrawn="1"/>
        </p:nvSpPr>
        <p:spPr>
          <a:xfrm>
            <a:off x="7145671" y="2"/>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extLst>
              <a:ext uri="{FF2B5EF4-FFF2-40B4-BE49-F238E27FC236}">
                <a16:creationId xmlns="" xmlns:a16="http://schemas.microsoft.com/office/drawing/2014/main" id="{FDC9D199-800F-E586-6FF2-69B5FE7367FB}"/>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extLst>
              <a:ext uri="{FF2B5EF4-FFF2-40B4-BE49-F238E27FC236}">
                <a16:creationId xmlns="" xmlns:a16="http://schemas.microsoft.com/office/drawing/2014/main" id="{0761AD9E-F299-A28C-E7C1-90E1C504C90B}"/>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extLst>
              <a:ext uri="{FF2B5EF4-FFF2-40B4-BE49-F238E27FC236}">
                <a16:creationId xmlns="" xmlns:a16="http://schemas.microsoft.com/office/drawing/2014/main" id="{D50CFCD3-4B7D-E1AD-BB64-504D533A55B4}"/>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 xmlns:a16="http://schemas.microsoft.com/office/drawing/2014/main" id="{0E89B9F7-665F-E810-941D-0F14C6E1801A}"/>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 xmlns:a16="http://schemas.microsoft.com/office/drawing/2014/main" id="{5621921F-E923-29FA-B131-2A1010B50E5D}"/>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 xmlns:a16="http://schemas.microsoft.com/office/drawing/2014/main" id="{0BB8A18F-E9FF-28D2-EDC2-A8C34446893C}"/>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 xmlns:a16="http://schemas.microsoft.com/office/drawing/2014/main" id="{1862058A-7620-75A8-F269-77E8C2E468DD}"/>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 xmlns:a16="http://schemas.microsoft.com/office/drawing/2014/main" id="{97BC6840-0A7A-A5DD-3814-D1F35F37E065}"/>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242624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EB78290C-C495-4252-E3BE-532C86F85027}"/>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extLst>
              <a:ext uri="{FF2B5EF4-FFF2-40B4-BE49-F238E27FC236}">
                <a16:creationId xmlns="" xmlns:a16="http://schemas.microsoft.com/office/drawing/2014/main" id="{DC7AB694-DD19-44CB-B81F-E4324099BC14}"/>
              </a:ext>
            </a:extLst>
          </p:cNvPr>
          <p:cNvPicPr>
            <a:picLocks noChangeAspect="1"/>
          </p:cNvPicPr>
          <p:nvPr userDrawn="1"/>
        </p:nvPicPr>
        <p:blipFill>
          <a:blip r:embed="rId2">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 xmlns:a16="http://schemas.microsoft.com/office/drawing/2014/main" id="{833BEAA1-DE4B-E8A7-B220-0BF38D477348}"/>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extLst>
              <a:ext uri="{FF2B5EF4-FFF2-40B4-BE49-F238E27FC236}">
                <a16:creationId xmlns="" xmlns:a16="http://schemas.microsoft.com/office/drawing/2014/main" id="{99959AFC-C0AB-31DF-991C-6C765AC34D3D}"/>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extLst>
              <a:ext uri="{FF2B5EF4-FFF2-40B4-BE49-F238E27FC236}">
                <a16:creationId xmlns="" xmlns:a16="http://schemas.microsoft.com/office/drawing/2014/main" id="{E6D7A210-39DE-29DD-B7DE-B6272ADCFA5C}"/>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extLst>
              <a:ext uri="{FF2B5EF4-FFF2-40B4-BE49-F238E27FC236}">
                <a16:creationId xmlns="" xmlns:a16="http://schemas.microsoft.com/office/drawing/2014/main" id="{242D0A1B-1732-C7D7-E3AC-EBD4D522B5AC}"/>
              </a:ext>
            </a:extLst>
          </p:cNvPr>
          <p:cNvSpPr/>
          <p:nvPr userDrawn="1"/>
        </p:nvSpPr>
        <p:spPr>
          <a:xfrm>
            <a:off x="5098213" y="2"/>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extLst>
              <a:ext uri="{FF2B5EF4-FFF2-40B4-BE49-F238E27FC236}">
                <a16:creationId xmlns="" xmlns:a16="http://schemas.microsoft.com/office/drawing/2014/main" id="{98340BB2-44B1-7633-5763-DC803FD18C62}"/>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extLst>
              <a:ext uri="{FF2B5EF4-FFF2-40B4-BE49-F238E27FC236}">
                <a16:creationId xmlns="" xmlns:a16="http://schemas.microsoft.com/office/drawing/2014/main" id="{3CC6DEA3-E852-EC3D-8724-9B0140290AB8}"/>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 xmlns:a16="http://schemas.microsoft.com/office/drawing/2014/main" id="{0D1A0FC8-5DC0-2751-938E-112940BE98EF}"/>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 xmlns:a16="http://schemas.microsoft.com/office/drawing/2014/main" id="{1456BFF3-A6BA-72EC-73B6-2EDB875E70DD}"/>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 xmlns:a16="http://schemas.microsoft.com/office/drawing/2014/main" id="{753FD922-CF62-1610-81FE-A58BA45B4821}"/>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 xmlns:a16="http://schemas.microsoft.com/office/drawing/2014/main" id="{15A6C142-85F1-532A-8834-8762C17770CA}"/>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 xmlns:a16="http://schemas.microsoft.com/office/drawing/2014/main" id="{61708F8F-3BAC-5424-2903-865B6CEE3D10}"/>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302891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8143152A-F518-46A6-B61A-9492DEF8B72A}"/>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extLst>
              <a:ext uri="{FF2B5EF4-FFF2-40B4-BE49-F238E27FC236}">
                <a16:creationId xmlns="" xmlns:a16="http://schemas.microsoft.com/office/drawing/2014/main" id="{A23AA5F2-D7B8-D80C-DE5D-87B8D368E503}"/>
              </a:ext>
            </a:extLst>
          </p:cNvPr>
          <p:cNvPicPr>
            <a:picLocks noChangeAspect="1"/>
          </p:cNvPicPr>
          <p:nvPr userDrawn="1"/>
        </p:nvPicPr>
        <p:blipFill>
          <a:blip r:embed="rId2">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 xmlns:a16="http://schemas.microsoft.com/office/drawing/2014/main" id="{929A3D91-1CEF-9BD9-8BE9-9DBC45F9AB93}"/>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extLst>
              <a:ext uri="{FF2B5EF4-FFF2-40B4-BE49-F238E27FC236}">
                <a16:creationId xmlns="" xmlns:a16="http://schemas.microsoft.com/office/drawing/2014/main" id="{B116154B-8E72-0CC7-1192-C0E1E53C02E4}"/>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extLst>
              <a:ext uri="{FF2B5EF4-FFF2-40B4-BE49-F238E27FC236}">
                <a16:creationId xmlns="" xmlns:a16="http://schemas.microsoft.com/office/drawing/2014/main" id="{CE875933-523B-A60D-4B31-D4614436678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extLst>
              <a:ext uri="{FF2B5EF4-FFF2-40B4-BE49-F238E27FC236}">
                <a16:creationId xmlns="" xmlns:a16="http://schemas.microsoft.com/office/drawing/2014/main" id="{9B162064-51AC-A2AB-4418-F32EC30B452A}"/>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extLst>
              <a:ext uri="{FF2B5EF4-FFF2-40B4-BE49-F238E27FC236}">
                <a16:creationId xmlns="" xmlns:a16="http://schemas.microsoft.com/office/drawing/2014/main" id="{E92DC0A5-F1B0-EE26-A096-B9BDED2A8945}"/>
              </a:ext>
            </a:extLst>
          </p:cNvPr>
          <p:cNvSpPr/>
          <p:nvPr userDrawn="1"/>
        </p:nvSpPr>
        <p:spPr>
          <a:xfrm>
            <a:off x="3027685" y="2832"/>
            <a:ext cx="2033411" cy="73029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extLst>
              <a:ext uri="{FF2B5EF4-FFF2-40B4-BE49-F238E27FC236}">
                <a16:creationId xmlns="" xmlns:a16="http://schemas.microsoft.com/office/drawing/2014/main" id="{3B68B478-65FA-6E5F-98A1-3CF206E63F9C}"/>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 xmlns:a16="http://schemas.microsoft.com/office/drawing/2014/main" id="{CE86794A-697C-19E5-A222-4A18A11B3EF3}"/>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 xmlns:a16="http://schemas.microsoft.com/office/drawing/2014/main" id="{5C5011A4-5B47-00A6-1C8F-4797DB5FAAE0}"/>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 xmlns:a16="http://schemas.microsoft.com/office/drawing/2014/main" id="{11B80250-CA7E-8B7B-2E41-18A73B270432}"/>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 xmlns:a16="http://schemas.microsoft.com/office/drawing/2014/main" id="{6C386F7E-636D-9BCB-6DB4-9E32D79B075A}"/>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 xmlns:a16="http://schemas.microsoft.com/office/drawing/2014/main" id="{A2C36221-8967-A507-EA60-C358240189CD}"/>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1440741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E00182B2-BB4B-5B0F-911F-4985A5CB78BD}"/>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extLst>
              <a:ext uri="{FF2B5EF4-FFF2-40B4-BE49-F238E27FC236}">
                <a16:creationId xmlns="" xmlns:a16="http://schemas.microsoft.com/office/drawing/2014/main" id="{E3F01D81-2CD3-8E98-F78A-9731D3D61270}"/>
              </a:ext>
            </a:extLst>
          </p:cNvPr>
          <p:cNvPicPr>
            <a:picLocks noChangeAspect="1"/>
          </p:cNvPicPr>
          <p:nvPr userDrawn="1"/>
        </p:nvPicPr>
        <p:blipFill>
          <a:blip r:embed="rId2">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 xmlns:a16="http://schemas.microsoft.com/office/drawing/2014/main" id="{756E57A5-5BAD-8055-D0DE-62040F4BC5EA}"/>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extLst>
              <a:ext uri="{FF2B5EF4-FFF2-40B4-BE49-F238E27FC236}">
                <a16:creationId xmlns="" xmlns:a16="http://schemas.microsoft.com/office/drawing/2014/main" id="{904234BD-8C1C-C1DE-6B5F-07041EAD9CF8}"/>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extLst>
              <a:ext uri="{FF2B5EF4-FFF2-40B4-BE49-F238E27FC236}">
                <a16:creationId xmlns="" xmlns:a16="http://schemas.microsoft.com/office/drawing/2014/main" id="{72722BA6-AB30-47C8-2118-6D6809BF873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extLst>
              <a:ext uri="{FF2B5EF4-FFF2-40B4-BE49-F238E27FC236}">
                <a16:creationId xmlns="" xmlns:a16="http://schemas.microsoft.com/office/drawing/2014/main" id="{434FA672-9747-F88F-C09B-798A5C2FDB05}"/>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extLst>
              <a:ext uri="{FF2B5EF4-FFF2-40B4-BE49-F238E27FC236}">
                <a16:creationId xmlns="" xmlns:a16="http://schemas.microsoft.com/office/drawing/2014/main" id="{B3C57E8A-A05F-94CB-E040-81292AD5FD34}"/>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extLst>
              <a:ext uri="{FF2B5EF4-FFF2-40B4-BE49-F238E27FC236}">
                <a16:creationId xmlns="" xmlns:a16="http://schemas.microsoft.com/office/drawing/2014/main" id="{69676588-34D5-6162-1743-0BCE889FA6D9}"/>
              </a:ext>
            </a:extLst>
          </p:cNvPr>
          <p:cNvSpPr/>
          <p:nvPr userDrawn="1"/>
        </p:nvSpPr>
        <p:spPr>
          <a:xfrm>
            <a:off x="965461" y="1"/>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 xmlns:a16="http://schemas.microsoft.com/office/drawing/2014/main" id="{443F53A5-5E87-4E69-5F19-5D897063DC48}"/>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 xmlns:a16="http://schemas.microsoft.com/office/drawing/2014/main" id="{799AD9C2-AFE4-3F95-C188-860F2E5DDE39}"/>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 xmlns:a16="http://schemas.microsoft.com/office/drawing/2014/main" id="{5B2BCAE3-D96A-E5B3-2C99-A5EEDB8EC18D}"/>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 xmlns:a16="http://schemas.microsoft.com/office/drawing/2014/main" id="{1676673B-C002-1583-7736-84D1AF6C67C3}"/>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 xmlns:a16="http://schemas.microsoft.com/office/drawing/2014/main" id="{0DBF6FAA-4145-C417-32C6-F1252FD16175}"/>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2022147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pPr/>
              <a:t>9/18/2026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606058"/>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3684" r:id="rId15"/>
    <p:sldLayoutId id="2147483685" r:id="rId16"/>
    <p:sldLayoutId id="2147483686" r:id="rId17"/>
    <p:sldLayoutId id="2147483687"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ounded Rectangle 2"/>
          <p:cNvSpPr/>
          <p:nvPr/>
        </p:nvSpPr>
        <p:spPr>
          <a:xfrm>
            <a:off x="2483967" y="396839"/>
            <a:ext cx="7223760" cy="6064321"/>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4" name="Picture 3" descr="slide1_img1.png"/>
          <p:cNvPicPr>
            <a:picLocks noChangeAspect="1"/>
          </p:cNvPicPr>
          <p:nvPr/>
        </p:nvPicPr>
        <p:blipFill>
          <a:blip r:embed="rId2"/>
          <a:stretch>
            <a:fillRect/>
          </a:stretch>
        </p:blipFill>
        <p:spPr>
          <a:xfrm>
            <a:off x="2712567" y="625439"/>
            <a:ext cx="6766560" cy="560712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ransition spd="slow" advTm="9000">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 name="Picture 2" descr="slide2_img1.png"/>
          <p:cNvPicPr>
            <a:picLocks noChangeAspect="1"/>
          </p:cNvPicPr>
          <p:nvPr/>
        </p:nvPicPr>
        <p:blipFill>
          <a:blip r:embed="rId2"/>
          <a:stretch>
            <a:fillRect/>
          </a:stretch>
        </p:blipFill>
        <p:spPr>
          <a:xfrm>
            <a:off x="5295747" y="457200"/>
            <a:ext cx="1600200" cy="1592469"/>
          </a:xfrm>
          <a:prstGeom prst="rect">
            <a:avLst/>
          </a:prstGeom>
        </p:spPr>
      </p:pic>
      <p:sp>
        <p:nvSpPr>
          <p:cNvPr id="4" name="Rounded Rectangle 3"/>
          <p:cNvSpPr/>
          <p:nvPr/>
        </p:nvSpPr>
        <p:spPr>
          <a:xfrm>
            <a:off x="1249984" y="2240280"/>
            <a:ext cx="9692640" cy="32004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707184" y="2651760"/>
            <a:ext cx="8778240" cy="1554480"/>
          </a:xfrm>
          <a:prstGeom prst="rect">
            <a:avLst/>
          </a:prstGeom>
          <a:noFill/>
        </p:spPr>
        <p:txBody>
          <a:bodyPr wrap="square" lIns="36576" tIns="18288" rIns="36576" bIns="18288" anchor="ctr"/>
          <a:lstStyle/>
          <a:p>
            <a:pPr algn="ctr" rtl="1">
              <a:defRPr lang="fa-IR" sz="3400" b="1">
                <a:solidFill>
                  <a:srgbClr val="102C47"/>
                </a:solidFill>
                <a:latin typeface="Courier New"/>
                <a:ea typeface="Calibri"/>
                <a:cs typeface="B Titr"/>
              </a:defRPr>
            </a:pPr>
            <a:r>
              <a:rPr lang="fa-IR">
                <a:latin typeface="Times New Roman"/>
                <a:cs typeface="B Titr"/>
              </a:rPr>
              <a:t>رابطه هوش معنوی و اضطراب سلامتی با اضطراب مرگ سالمندان</a:t>
            </a:r>
          </a:p>
          <a:p>
            <a:pPr algn="ctr" rtl="1">
              <a:defRPr lang="fa-IR" sz="2300">
                <a:solidFill>
                  <a:srgbClr val="6B7885"/>
                </a:solidFill>
                <a:latin typeface="Courier New"/>
                <a:ea typeface="Calibri"/>
                <a:cs typeface="B Titr"/>
              </a:defRPr>
            </a:pPr>
            <a:r>
              <a:rPr lang="fa-IR">
                <a:latin typeface="Times New Roman"/>
                <a:cs typeface="B Titr"/>
              </a:rPr>
              <a:t>خانه سالمندان فرشتگان تهران</a:t>
            </a:r>
          </a:p>
        </p:txBody>
      </p:sp>
      <p:sp>
        <p:nvSpPr>
          <p:cNvPr id="6" name="Rectangle 5"/>
          <p:cNvSpPr/>
          <p:nvPr/>
        </p:nvSpPr>
        <p:spPr>
          <a:xfrm>
            <a:off x="5090007" y="4389120"/>
            <a:ext cx="2011680" cy="32004"/>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56224" y="4742639"/>
            <a:ext cx="4206240" cy="548640"/>
          </a:xfrm>
          <a:prstGeom prst="rect">
            <a:avLst/>
          </a:prstGeom>
          <a:noFill/>
        </p:spPr>
        <p:txBody>
          <a:bodyPr wrap="square" lIns="36576" tIns="18288" rIns="36576" bIns="18288" anchor="t"/>
          <a:lstStyle/>
          <a:p>
            <a:pPr algn="r" rtl="1">
              <a:defRPr lang="fa-IR" sz="1800" b="1">
                <a:solidFill>
                  <a:srgbClr val="22303B"/>
                </a:solidFill>
                <a:latin typeface="Times New Roman"/>
                <a:ea typeface="Times New Roman"/>
                <a:cs typeface="B Titr"/>
              </a:defRPr>
            </a:pPr>
            <a:r>
              <a:rPr lang="fa-IR" sz="2000" dirty="0">
                <a:latin typeface="Times New Roman"/>
                <a:cs typeface="B Lotus"/>
              </a:rPr>
              <a:t>استاد راهنما: باب اله بخشی پور </a:t>
            </a:r>
            <a:r>
              <a:rPr lang="fa-IR" sz="2000" dirty="0" err="1">
                <a:latin typeface="Times New Roman"/>
                <a:cs typeface="B Lotus"/>
              </a:rPr>
              <a:t>جویباری</a:t>
            </a:r>
            <a:endParaRPr lang="fa-IR" sz="2000" dirty="0">
              <a:latin typeface="Times New Roman"/>
              <a:cs typeface="B Lotus"/>
            </a:endParaRPr>
          </a:p>
        </p:txBody>
      </p:sp>
      <p:sp>
        <p:nvSpPr>
          <p:cNvPr id="8" name="TextBox 7"/>
          <p:cNvSpPr txBox="1"/>
          <p:nvPr/>
        </p:nvSpPr>
        <p:spPr>
          <a:xfrm>
            <a:off x="1249984" y="4742639"/>
            <a:ext cx="4206240" cy="548640"/>
          </a:xfrm>
          <a:prstGeom prst="rect">
            <a:avLst/>
          </a:prstGeom>
          <a:noFill/>
        </p:spPr>
        <p:txBody>
          <a:bodyPr wrap="square" lIns="36576" tIns="18288" rIns="36576" bIns="18288" anchor="t"/>
          <a:lstStyle/>
          <a:p>
            <a:pPr algn="r" rtl="1">
              <a:defRPr lang="fa-IR" sz="1800" b="1">
                <a:solidFill>
                  <a:srgbClr val="22303B"/>
                </a:solidFill>
                <a:latin typeface="Times New Roman"/>
                <a:ea typeface="Times New Roman"/>
                <a:cs typeface="B Titr"/>
              </a:defRPr>
            </a:pPr>
            <a:r>
              <a:rPr lang="fa-IR" sz="2000" dirty="0">
                <a:latin typeface="Times New Roman"/>
                <a:cs typeface="B Lotus"/>
              </a:rPr>
              <a:t>دانشجو: فاطمه بیات</a:t>
            </a:r>
          </a:p>
        </p:txBody>
      </p:sp>
    </p:spTree>
  </p:cSld>
  <p:clrMapOvr>
    <a:masterClrMapping/>
  </p:clrMapOvr>
  <p:transition spd="slow" advTm="1200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فهرست مطالب</a:t>
            </a:r>
          </a:p>
        </p:txBody>
      </p:sp>
      <p:sp>
        <p:nvSpPr>
          <p:cNvPr id="5" name="Rounded Rectangle 4"/>
          <p:cNvSpPr/>
          <p:nvPr/>
        </p:nvSpPr>
        <p:spPr>
          <a:xfrm>
            <a:off x="1005840" y="1371600"/>
            <a:ext cx="10180015" cy="713232"/>
          </a:xfrm>
          <a:prstGeom prst="roundRect">
            <a:avLst>
              <a:gd name="adj" fmla="val 15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ounded Rectangle 5"/>
          <p:cNvSpPr/>
          <p:nvPr/>
        </p:nvSpPr>
        <p:spPr>
          <a:xfrm>
            <a:off x="1207008" y="1499616"/>
            <a:ext cx="457200" cy="457200"/>
          </a:xfrm>
          <a:prstGeom prst="roundRect">
            <a:avLst>
              <a:gd name="adj" fmla="val 18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500" b="1">
                <a:solidFill>
                  <a:srgbClr val="2A5D8F"/>
                </a:solidFill>
                <a:latin typeface="Times New Roman"/>
                <a:ea typeface="Times New Roman"/>
                <a:cs typeface="B Titr"/>
              </a:defRPr>
            </a:pPr>
            <a:r>
              <a:rPr lang="fa-IR">
                <a:latin typeface="Times New Roman"/>
                <a:cs typeface="B Lotus"/>
              </a:rPr>
              <a:t>۱</a:t>
            </a:r>
          </a:p>
        </p:txBody>
      </p:sp>
      <p:sp>
        <p:nvSpPr>
          <p:cNvPr id="7" name="TextBox 6"/>
          <p:cNvSpPr txBox="1"/>
          <p:nvPr/>
        </p:nvSpPr>
        <p:spPr>
          <a:xfrm>
            <a:off x="1828800" y="1371600"/>
            <a:ext cx="8991295" cy="713232"/>
          </a:xfrm>
          <a:prstGeom prst="rect">
            <a:avLst/>
          </a:prstGeom>
          <a:noFill/>
        </p:spPr>
        <p:txBody>
          <a:bodyPr wrap="square" lIns="36576" tIns="18288" rIns="36576" bIns="18288" anchor="ctr"/>
          <a:lstStyle/>
          <a:p>
            <a:pPr algn="r" rtl="1">
              <a:defRPr lang="fa-IR" sz="2300" b="0">
                <a:solidFill>
                  <a:srgbClr val="102C47"/>
                </a:solidFill>
                <a:latin typeface="Lalezar"/>
                <a:ea typeface="Lalezar"/>
                <a:cs typeface="B Titr"/>
              </a:defRPr>
            </a:pPr>
            <a:r>
              <a:rPr lang="fa-IR">
                <a:latin typeface="Times New Roman"/>
                <a:cs typeface="B Titr"/>
              </a:rPr>
              <a:t>مقدمه و کلیات</a:t>
            </a:r>
          </a:p>
        </p:txBody>
      </p:sp>
      <p:sp>
        <p:nvSpPr>
          <p:cNvPr id="8" name="Rounded Rectangle 7"/>
          <p:cNvSpPr/>
          <p:nvPr/>
        </p:nvSpPr>
        <p:spPr>
          <a:xfrm>
            <a:off x="1005840" y="2231136"/>
            <a:ext cx="10180015" cy="713232"/>
          </a:xfrm>
          <a:prstGeom prst="roundRect">
            <a:avLst>
              <a:gd name="adj" fmla="val 15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1207008" y="2359152"/>
            <a:ext cx="457200" cy="457200"/>
          </a:xfrm>
          <a:prstGeom prst="roundRect">
            <a:avLst>
              <a:gd name="adj" fmla="val 18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500" b="1">
                <a:solidFill>
                  <a:srgbClr val="4F5A8E"/>
                </a:solidFill>
                <a:latin typeface="Times New Roman"/>
                <a:ea typeface="Times New Roman"/>
                <a:cs typeface="B Titr"/>
              </a:defRPr>
            </a:pPr>
            <a:r>
              <a:rPr lang="fa-IR">
                <a:latin typeface="Times New Roman"/>
                <a:cs typeface="B Lotus"/>
              </a:rPr>
              <a:t>۲</a:t>
            </a:r>
          </a:p>
        </p:txBody>
      </p:sp>
      <p:sp>
        <p:nvSpPr>
          <p:cNvPr id="10" name="TextBox 9"/>
          <p:cNvSpPr txBox="1"/>
          <p:nvPr/>
        </p:nvSpPr>
        <p:spPr>
          <a:xfrm>
            <a:off x="1828800" y="2231136"/>
            <a:ext cx="8991295" cy="713232"/>
          </a:xfrm>
          <a:prstGeom prst="rect">
            <a:avLst/>
          </a:prstGeom>
          <a:noFill/>
        </p:spPr>
        <p:txBody>
          <a:bodyPr wrap="square" lIns="36576" tIns="18288" rIns="36576" bIns="18288" anchor="ctr"/>
          <a:lstStyle/>
          <a:p>
            <a:pPr algn="r" rtl="1">
              <a:defRPr lang="fa-IR" sz="2300" b="0">
                <a:solidFill>
                  <a:srgbClr val="102C47"/>
                </a:solidFill>
                <a:latin typeface="Lalezar"/>
                <a:ea typeface="Lalezar"/>
                <a:cs typeface="B Titr"/>
              </a:defRPr>
            </a:pPr>
            <a:r>
              <a:rPr lang="fa-IR">
                <a:latin typeface="Times New Roman"/>
                <a:cs typeface="B Titr"/>
              </a:rPr>
              <a:t>مبانی و پیشینه</a:t>
            </a:r>
          </a:p>
        </p:txBody>
      </p:sp>
      <p:sp>
        <p:nvSpPr>
          <p:cNvPr id="11" name="Rounded Rectangle 10"/>
          <p:cNvSpPr/>
          <p:nvPr/>
        </p:nvSpPr>
        <p:spPr>
          <a:xfrm>
            <a:off x="1005840" y="3090672"/>
            <a:ext cx="10180015" cy="713232"/>
          </a:xfrm>
          <a:prstGeom prst="roundRect">
            <a:avLst>
              <a:gd name="adj" fmla="val 15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1207008" y="3218688"/>
            <a:ext cx="457200" cy="457200"/>
          </a:xfrm>
          <a:prstGeom prst="roundRect">
            <a:avLst>
              <a:gd name="adj" fmla="val 18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500" b="1">
                <a:solidFill>
                  <a:srgbClr val="2C7A68"/>
                </a:solidFill>
                <a:latin typeface="Times New Roman"/>
                <a:ea typeface="Times New Roman"/>
                <a:cs typeface="B Titr"/>
              </a:defRPr>
            </a:pPr>
            <a:r>
              <a:rPr lang="fa-IR">
                <a:latin typeface="Times New Roman"/>
                <a:cs typeface="B Lotus"/>
              </a:rPr>
              <a:t>۳</a:t>
            </a:r>
          </a:p>
        </p:txBody>
      </p:sp>
      <p:sp>
        <p:nvSpPr>
          <p:cNvPr id="13" name="TextBox 12"/>
          <p:cNvSpPr txBox="1"/>
          <p:nvPr/>
        </p:nvSpPr>
        <p:spPr>
          <a:xfrm>
            <a:off x="1828800" y="3090672"/>
            <a:ext cx="8991295" cy="713232"/>
          </a:xfrm>
          <a:prstGeom prst="rect">
            <a:avLst/>
          </a:prstGeom>
          <a:noFill/>
        </p:spPr>
        <p:txBody>
          <a:bodyPr wrap="square" lIns="36576" tIns="18288" rIns="36576" bIns="18288" anchor="ctr"/>
          <a:lstStyle/>
          <a:p>
            <a:pPr algn="r" rtl="1">
              <a:defRPr lang="fa-IR" sz="2300" b="0">
                <a:solidFill>
                  <a:srgbClr val="102C47"/>
                </a:solidFill>
                <a:latin typeface="Lalezar"/>
                <a:ea typeface="Lalezar"/>
                <a:cs typeface="B Titr"/>
              </a:defRPr>
            </a:pPr>
            <a:r>
              <a:rPr lang="fa-IR">
                <a:latin typeface="Times New Roman"/>
                <a:cs typeface="B Titr"/>
              </a:rPr>
              <a:t>روش شناسی</a:t>
            </a:r>
          </a:p>
        </p:txBody>
      </p:sp>
      <p:sp>
        <p:nvSpPr>
          <p:cNvPr id="14" name="Rounded Rectangle 13"/>
          <p:cNvSpPr/>
          <p:nvPr/>
        </p:nvSpPr>
        <p:spPr>
          <a:xfrm>
            <a:off x="1005840" y="3950208"/>
            <a:ext cx="10180015" cy="713232"/>
          </a:xfrm>
          <a:prstGeom prst="roundRect">
            <a:avLst>
              <a:gd name="adj" fmla="val 15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1207008" y="4078224"/>
            <a:ext cx="457200" cy="457200"/>
          </a:xfrm>
          <a:prstGeom prst="roundRect">
            <a:avLst>
              <a:gd name="adj" fmla="val 18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500" b="1">
                <a:solidFill>
                  <a:srgbClr val="B4822F"/>
                </a:solidFill>
                <a:latin typeface="Times New Roman"/>
                <a:ea typeface="Times New Roman"/>
                <a:cs typeface="B Titr"/>
              </a:defRPr>
            </a:pPr>
            <a:r>
              <a:rPr lang="fa-IR">
                <a:latin typeface="Times New Roman"/>
                <a:cs typeface="B Lotus"/>
              </a:rPr>
              <a:t>۴</a:t>
            </a:r>
          </a:p>
        </p:txBody>
      </p:sp>
      <p:sp>
        <p:nvSpPr>
          <p:cNvPr id="16" name="TextBox 15"/>
          <p:cNvSpPr txBox="1"/>
          <p:nvPr/>
        </p:nvSpPr>
        <p:spPr>
          <a:xfrm>
            <a:off x="1828800" y="3950208"/>
            <a:ext cx="8991295" cy="713232"/>
          </a:xfrm>
          <a:prstGeom prst="rect">
            <a:avLst/>
          </a:prstGeom>
          <a:noFill/>
        </p:spPr>
        <p:txBody>
          <a:bodyPr wrap="square" lIns="36576" tIns="18288" rIns="36576" bIns="18288" anchor="ctr"/>
          <a:lstStyle/>
          <a:p>
            <a:pPr algn="r" rtl="1">
              <a:defRPr lang="fa-IR" sz="2300" b="0">
                <a:solidFill>
                  <a:srgbClr val="102C47"/>
                </a:solidFill>
                <a:latin typeface="Lalezar"/>
                <a:ea typeface="Lalezar"/>
                <a:cs typeface="B Titr"/>
              </a:defRPr>
            </a:pPr>
            <a:r>
              <a:rPr lang="fa-IR">
                <a:latin typeface="Times New Roman"/>
                <a:cs typeface="B Titr"/>
              </a:rPr>
              <a:t>نتایج و بحث</a:t>
            </a:r>
          </a:p>
        </p:txBody>
      </p:sp>
      <p:sp>
        <p:nvSpPr>
          <p:cNvPr id="17" name="Rounded Rectangle 16"/>
          <p:cNvSpPr/>
          <p:nvPr/>
        </p:nvSpPr>
        <p:spPr>
          <a:xfrm>
            <a:off x="1005840" y="4809744"/>
            <a:ext cx="10180015" cy="713232"/>
          </a:xfrm>
          <a:prstGeom prst="roundRect">
            <a:avLst>
              <a:gd name="adj" fmla="val 150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ounded Rectangle 17"/>
          <p:cNvSpPr/>
          <p:nvPr/>
        </p:nvSpPr>
        <p:spPr>
          <a:xfrm>
            <a:off x="1207008" y="4937760"/>
            <a:ext cx="457200" cy="457200"/>
          </a:xfrm>
          <a:prstGeom prst="roundRect">
            <a:avLst>
              <a:gd name="adj" fmla="val 18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500" b="1">
                <a:solidFill>
                  <a:srgbClr val="3F6B4A"/>
                </a:solidFill>
                <a:latin typeface="Times New Roman"/>
                <a:ea typeface="Times New Roman"/>
                <a:cs typeface="B Titr"/>
              </a:defRPr>
            </a:pPr>
            <a:r>
              <a:rPr lang="fa-IR">
                <a:latin typeface="Times New Roman"/>
                <a:cs typeface="B Lotus"/>
              </a:rPr>
              <a:t>۵</a:t>
            </a:r>
          </a:p>
        </p:txBody>
      </p:sp>
      <p:sp>
        <p:nvSpPr>
          <p:cNvPr id="19" name="TextBox 18"/>
          <p:cNvSpPr txBox="1"/>
          <p:nvPr/>
        </p:nvSpPr>
        <p:spPr>
          <a:xfrm>
            <a:off x="1828800" y="4809744"/>
            <a:ext cx="8991295" cy="713232"/>
          </a:xfrm>
          <a:prstGeom prst="rect">
            <a:avLst/>
          </a:prstGeom>
          <a:noFill/>
        </p:spPr>
        <p:txBody>
          <a:bodyPr wrap="square" lIns="36576" tIns="18288" rIns="36576" bIns="18288" anchor="ctr"/>
          <a:lstStyle/>
          <a:p>
            <a:pPr algn="r" rtl="1">
              <a:defRPr lang="fa-IR" sz="2300" b="0">
                <a:solidFill>
                  <a:srgbClr val="102C47"/>
                </a:solidFill>
                <a:latin typeface="Lalezar"/>
                <a:ea typeface="Lalezar"/>
                <a:cs typeface="B Titr"/>
              </a:defRPr>
            </a:pPr>
            <a:r>
              <a:rPr lang="fa-IR">
                <a:latin typeface="Times New Roman"/>
                <a:cs typeface="B Titr"/>
              </a:rPr>
              <a:t>نتیجه گیری و پیشنهادات</a:t>
            </a:r>
          </a:p>
        </p:txBody>
      </p:sp>
    </p:spTree>
  </p:cSld>
  <p:clrMapOvr>
    <a:masterClrMapping/>
  </p:clrMapOvr>
  <p:transition spd="med" advTm="1404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48640" y="1737360"/>
            <a:ext cx="4754880" cy="3291840"/>
          </a:xfrm>
          <a:prstGeom prst="rect">
            <a:avLst/>
          </a:prstGeom>
          <a:noFill/>
        </p:spPr>
        <p:txBody>
          <a:bodyPr wrap="square" lIns="36576" tIns="18288" rIns="36576" bIns="18288" anchor="ctr"/>
          <a:lstStyle/>
          <a:p>
            <a:pPr algn="l" rtl="1">
              <a:defRPr lang="fa-IR" sz="19000" b="1">
                <a:solidFill>
                  <a:srgbClr val="274A6B"/>
                </a:solidFill>
                <a:latin typeface="Times New Roman"/>
                <a:ea typeface="Times New Roman"/>
                <a:cs typeface="B Titr"/>
              </a:defRPr>
            </a:pPr>
            <a:r>
              <a:rPr lang="fa-IR">
                <a:latin typeface="Times New Roman"/>
                <a:cs typeface="B Titr"/>
              </a:rPr>
              <a:t>۱</a:t>
            </a:r>
          </a:p>
        </p:txBody>
      </p:sp>
      <p:sp>
        <p:nvSpPr>
          <p:cNvPr id="4" name="Rectangle 3"/>
          <p:cNvSpPr/>
          <p:nvPr/>
        </p:nvSpPr>
        <p:spPr>
          <a:xfrm>
            <a:off x="7711135" y="2487168"/>
            <a:ext cx="3383280" cy="45720"/>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2697480"/>
            <a:ext cx="11094415" cy="1143000"/>
          </a:xfrm>
          <a:prstGeom prst="rect">
            <a:avLst/>
          </a:prstGeom>
          <a:noFill/>
        </p:spPr>
        <p:txBody>
          <a:bodyPr wrap="square" lIns="36576" tIns="18288" rIns="36576" bIns="18288" anchor="ctr"/>
          <a:lstStyle/>
          <a:p>
            <a:pPr algn="r" rtl="1">
              <a:defRPr lang="fa-IR" sz="4600" b="1">
                <a:solidFill>
                  <a:srgbClr val="FFFFFF"/>
                </a:solidFill>
                <a:latin typeface="Times New Roman"/>
                <a:ea typeface="Times New Roman"/>
                <a:cs typeface="B Titr"/>
              </a:defRPr>
            </a:pPr>
            <a:r>
              <a:rPr lang="fa-IR">
                <a:latin typeface="Times New Roman"/>
                <a:cs typeface="B Titr"/>
              </a:rPr>
              <a:t>مقدمه و کلیات</a:t>
            </a:r>
          </a:p>
        </p:txBody>
      </p:sp>
      <p:sp>
        <p:nvSpPr>
          <p:cNvPr id="6" name="Rectangle 5"/>
          <p:cNvSpPr/>
          <p:nvPr/>
        </p:nvSpPr>
        <p:spPr>
          <a:xfrm>
            <a:off x="9533900" y="5504688"/>
            <a:ext cx="1999427" cy="32004"/>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533900" y="5632704"/>
            <a:ext cx="1999427" cy="457200"/>
          </a:xfrm>
          <a:prstGeom prst="rect">
            <a:avLst/>
          </a:prstGeom>
          <a:noFill/>
        </p:spPr>
        <p:txBody>
          <a:bodyPr wrap="square" lIns="36576" tIns="18288" rIns="36576" bIns="18288" anchor="t"/>
          <a:lstStyle/>
          <a:p>
            <a:pPr algn="ctr" rtl="1">
              <a:defRPr lang="fa-IR" sz="1250" b="1">
                <a:solidFill>
                  <a:srgbClr val="FFFFFF"/>
                </a:solidFill>
                <a:latin typeface="Times New Roman"/>
                <a:ea typeface="Times New Roman"/>
                <a:cs typeface="B Titr"/>
              </a:defRPr>
            </a:pPr>
            <a:r>
              <a:rPr lang="fa-IR">
                <a:latin typeface="Times New Roman"/>
                <a:cs typeface="B Lotus"/>
              </a:rPr>
              <a:t>مقدمه و کلیات</a:t>
            </a:r>
          </a:p>
        </p:txBody>
      </p:sp>
      <p:sp>
        <p:nvSpPr>
          <p:cNvPr id="8" name="Rectangle 7"/>
          <p:cNvSpPr/>
          <p:nvPr/>
        </p:nvSpPr>
        <p:spPr>
          <a:xfrm>
            <a:off x="7315017"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017"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مبانی و پیشینه</a:t>
            </a:r>
          </a:p>
        </p:txBody>
      </p:sp>
      <p:sp>
        <p:nvSpPr>
          <p:cNvPr id="10" name="Rectangle 9"/>
          <p:cNvSpPr/>
          <p:nvPr/>
        </p:nvSpPr>
        <p:spPr>
          <a:xfrm>
            <a:off x="5096134"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096134"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روش شناسی</a:t>
            </a:r>
          </a:p>
        </p:txBody>
      </p:sp>
      <p:sp>
        <p:nvSpPr>
          <p:cNvPr id="12" name="Rectangle 11"/>
          <p:cNvSpPr/>
          <p:nvPr/>
        </p:nvSpPr>
        <p:spPr>
          <a:xfrm>
            <a:off x="2877251"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77251"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نتایج و بحث</a:t>
            </a:r>
          </a:p>
        </p:txBody>
      </p:sp>
      <p:sp>
        <p:nvSpPr>
          <p:cNvPr id="14" name="Rectangle 13"/>
          <p:cNvSpPr/>
          <p:nvPr/>
        </p:nvSpPr>
        <p:spPr>
          <a:xfrm>
            <a:off x="658368"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58368"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نتیجه گیری و پیشنهادات</a:t>
            </a:r>
          </a:p>
        </p:txBody>
      </p:sp>
    </p:spTree>
  </p:cSld>
  <p:clrMapOvr>
    <a:masterClrMapping/>
  </p:clrMapOvr>
  <p:transition spd="slow" advTm="650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مقدمه</a:t>
            </a: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548640" y="1325880"/>
            <a:ext cx="11094415" cy="49377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51560" y="1533832"/>
            <a:ext cx="10088575" cy="4557252"/>
          </a:xfrm>
          <a:prstGeom prst="rect">
            <a:avLst/>
          </a:prstGeom>
          <a:noFill/>
        </p:spPr>
        <p:txBody>
          <a:bodyPr wrap="square" lIns="36576" tIns="18288" rIns="36576" bIns="18288" numCol="1" anchor="t"/>
          <a:lstStyle/>
          <a:p>
            <a:pPr indent="457200" algn="just" rtl="1">
              <a:lnSpc>
                <a:spcPct val="115000"/>
              </a:lnSpc>
              <a:spcAft>
                <a:spcPts val="1200"/>
              </a:spcAft>
              <a:defRPr lang="fa-IR">
                <a:cs typeface="B Lotus"/>
              </a:defRPr>
            </a:pPr>
            <a:r>
              <a:rPr lang="fa-IR" sz="2000" b="1" dirty="0">
                <a:solidFill>
                  <a:srgbClr val="22303B"/>
                </a:solidFill>
                <a:latin typeface="Times New Roman"/>
                <a:cs typeface="B Lotus"/>
              </a:rPr>
              <a:t>جمعیت سالمندان در ایران با شتاب زیادی رو به افزایش است؛ </a:t>
            </a:r>
            <a:r>
              <a:rPr lang="fa-IR" sz="2000" b="1" dirty="0" err="1">
                <a:solidFill>
                  <a:srgbClr val="22303B"/>
                </a:solidFill>
                <a:latin typeface="Times New Roman"/>
                <a:cs typeface="B Lotus"/>
              </a:rPr>
              <a:t>به‌طوری‌که</a:t>
            </a:r>
            <a:r>
              <a:rPr lang="fa-IR" sz="2000" b="1" dirty="0">
                <a:solidFill>
                  <a:srgbClr val="22303B"/>
                </a:solidFill>
                <a:latin typeface="Times New Roman"/>
                <a:cs typeface="B Lotus"/>
              </a:rPr>
              <a:t> </a:t>
            </a:r>
            <a:r>
              <a:rPr lang="fa-IR" sz="2000" b="1" dirty="0" err="1">
                <a:solidFill>
                  <a:srgbClr val="22303B"/>
                </a:solidFill>
                <a:latin typeface="Times New Roman"/>
                <a:cs typeface="B Lotus"/>
              </a:rPr>
              <a:t>پیش‌بینی</a:t>
            </a:r>
            <a:r>
              <a:rPr lang="fa-IR" sz="2000" b="1" dirty="0">
                <a:solidFill>
                  <a:srgbClr val="22303B"/>
                </a:solidFill>
                <a:latin typeface="Times New Roman"/>
                <a:cs typeface="B Lotus"/>
              </a:rPr>
              <a:t> </a:t>
            </a:r>
            <a:r>
              <a:rPr lang="fa-IR" sz="2000" b="1" dirty="0" err="1">
                <a:solidFill>
                  <a:srgbClr val="22303B"/>
                </a:solidFill>
                <a:latin typeface="Times New Roman"/>
                <a:cs typeface="B Lotus"/>
              </a:rPr>
              <a:t>می‌شود</a:t>
            </a:r>
            <a:r>
              <a:rPr lang="fa-IR" sz="2000" b="1" dirty="0">
                <a:solidFill>
                  <a:srgbClr val="22303B"/>
                </a:solidFill>
                <a:latin typeface="Times New Roman"/>
                <a:cs typeface="B Lotus"/>
              </a:rPr>
              <a:t> تا سال ۲۰۵۰ حدود ۲۷.۹ درصد جمعیت کشور را افراد ۶۰ سال و بالاتر تشکیل دهند. این وضعیت، </a:t>
            </a:r>
            <a:r>
              <a:rPr lang="fa-IR" sz="2000" b="1" dirty="0" err="1">
                <a:solidFill>
                  <a:srgbClr val="22303B"/>
                </a:solidFill>
                <a:latin typeface="Times New Roman"/>
                <a:cs typeface="B Lotus"/>
              </a:rPr>
              <a:t>برنامه‌ریزی</a:t>
            </a:r>
            <a:r>
              <a:rPr lang="fa-IR" sz="2000" b="1" dirty="0">
                <a:solidFill>
                  <a:srgbClr val="22303B"/>
                </a:solidFill>
                <a:latin typeface="Times New Roman"/>
                <a:cs typeface="B Lotus"/>
              </a:rPr>
              <a:t> برای </a:t>
            </a:r>
            <a:r>
              <a:rPr lang="fa-IR" sz="2000" b="1" dirty="0" err="1">
                <a:solidFill>
                  <a:srgbClr val="22303B"/>
                </a:solidFill>
                <a:latin typeface="Times New Roman"/>
                <a:cs typeface="B Lotus"/>
              </a:rPr>
              <a:t>خدمات‌رسانی</a:t>
            </a:r>
            <a:r>
              <a:rPr lang="fa-IR" sz="2000" b="1" dirty="0">
                <a:solidFill>
                  <a:srgbClr val="22303B"/>
                </a:solidFill>
                <a:latin typeface="Times New Roman"/>
                <a:cs typeface="B Lotus"/>
              </a:rPr>
              <a:t> به سالمندان را از یک توصیه به </a:t>
            </a:r>
            <a:r>
              <a:rPr lang="fa-IR" sz="2000" b="1" dirty="0" err="1">
                <a:solidFill>
                  <a:srgbClr val="22303B"/>
                </a:solidFill>
                <a:latin typeface="Times New Roman"/>
                <a:cs typeface="B Lotus"/>
              </a:rPr>
              <a:t>ضرورتی</a:t>
            </a:r>
            <a:r>
              <a:rPr lang="fa-IR" sz="2000" b="1" dirty="0">
                <a:solidFill>
                  <a:srgbClr val="22303B"/>
                </a:solidFill>
                <a:latin typeface="Times New Roman"/>
                <a:cs typeface="B Lotus"/>
              </a:rPr>
              <a:t> فوری تبدیل کرده است. تغییرات اجتماعی مانند شهرنشینی و کاهش </a:t>
            </a:r>
            <a:r>
              <a:rPr lang="fa-IR" sz="2000" b="1" dirty="0" err="1">
                <a:solidFill>
                  <a:srgbClr val="22303B"/>
                </a:solidFill>
                <a:latin typeface="Times New Roman"/>
                <a:cs typeface="B Lotus"/>
              </a:rPr>
              <a:t>خانواده‌های</a:t>
            </a:r>
            <a:r>
              <a:rPr lang="fa-IR" sz="2000" b="1" dirty="0">
                <a:solidFill>
                  <a:srgbClr val="22303B"/>
                </a:solidFill>
                <a:latin typeface="Times New Roman"/>
                <a:cs typeface="B Lotus"/>
              </a:rPr>
              <a:t> </a:t>
            </a:r>
            <a:r>
              <a:rPr lang="fa-IR" sz="2000" b="1" dirty="0" err="1">
                <a:solidFill>
                  <a:srgbClr val="22303B"/>
                </a:solidFill>
                <a:latin typeface="Times New Roman"/>
                <a:cs typeface="B Lotus"/>
              </a:rPr>
              <a:t>چندنسلی</a:t>
            </a:r>
            <a:r>
              <a:rPr lang="fa-IR" sz="2000" b="1" dirty="0">
                <a:solidFill>
                  <a:srgbClr val="22303B"/>
                </a:solidFill>
                <a:latin typeface="Times New Roman"/>
                <a:cs typeface="B Lotus"/>
              </a:rPr>
              <a:t>، باعث شده بسیاری از سالمندان تنها یا فقط با همسرشان زندگی کنند که نتیجه آن کاهش </a:t>
            </a:r>
            <a:r>
              <a:rPr lang="fa-IR" sz="2000" b="1" dirty="0" err="1">
                <a:solidFill>
                  <a:srgbClr val="22303B"/>
                </a:solidFill>
                <a:latin typeface="Times New Roman"/>
                <a:cs typeface="B Lotus"/>
              </a:rPr>
              <a:t>حمایت‌های</a:t>
            </a:r>
            <a:r>
              <a:rPr lang="fa-IR" sz="2000" b="1" dirty="0">
                <a:solidFill>
                  <a:srgbClr val="22303B"/>
                </a:solidFill>
                <a:latin typeface="Times New Roman"/>
                <a:cs typeface="B Lotus"/>
              </a:rPr>
              <a:t> خانوادگی و اجتماعی است؛ در این میان، زنان سالمند به دلیل نرخ بالاتر بیوگی، بیش از مردان در معرض تنهایی قرار دارند.</a:t>
            </a:r>
          </a:p>
          <a:p>
            <a:pPr indent="457200" algn="just" rtl="1">
              <a:lnSpc>
                <a:spcPct val="115000"/>
              </a:lnSpc>
              <a:spcAft>
                <a:spcPts val="1200"/>
              </a:spcAft>
              <a:defRPr lang="fa-IR">
                <a:cs typeface="B Lotus"/>
              </a:defRPr>
            </a:pPr>
            <a:r>
              <a:rPr lang="fa-IR" sz="2000" b="1" dirty="0">
                <a:solidFill>
                  <a:srgbClr val="22303B"/>
                </a:solidFill>
                <a:latin typeface="Times New Roman"/>
                <a:cs typeface="B Lotus"/>
              </a:rPr>
              <a:t>علاوه بر این، شیوع </a:t>
            </a:r>
            <a:r>
              <a:rPr lang="fa-IR" sz="2000" b="1" dirty="0" err="1">
                <a:solidFill>
                  <a:srgbClr val="22303B"/>
                </a:solidFill>
                <a:latin typeface="Times New Roman"/>
                <a:cs typeface="B Lotus"/>
              </a:rPr>
              <a:t>بیماری‌های</a:t>
            </a:r>
            <a:r>
              <a:rPr lang="fa-IR" sz="2000" b="1" dirty="0">
                <a:solidFill>
                  <a:srgbClr val="22303B"/>
                </a:solidFill>
                <a:latin typeface="Times New Roman"/>
                <a:cs typeface="B Lotus"/>
              </a:rPr>
              <a:t> مزمن و کاهش </a:t>
            </a:r>
            <a:r>
              <a:rPr lang="fa-IR" sz="2000" b="1" dirty="0" err="1">
                <a:solidFill>
                  <a:srgbClr val="22303B"/>
                </a:solidFill>
                <a:latin typeface="Times New Roman"/>
                <a:cs typeface="B Lotus"/>
              </a:rPr>
              <a:t>توانایی‌های</a:t>
            </a:r>
            <a:r>
              <a:rPr lang="fa-IR" sz="2000" b="1" dirty="0">
                <a:solidFill>
                  <a:srgbClr val="22303B"/>
                </a:solidFill>
                <a:latin typeface="Times New Roman"/>
                <a:cs typeface="B Lotus"/>
              </a:rPr>
              <a:t> جسمی، سلامت روان و کیفیت زندگی سالمندان را به شدت تحت تأثیر قرار داده است. امروزه تعریف «سالمندی موفق» از صرفاً طول عمر و نبود بیماری، به سمت حفظ استقلال و مشارکت اجتماعی تغییر کرده است. </a:t>
            </a:r>
            <a:r>
              <a:rPr lang="fa-IR" sz="2000" b="1" dirty="0" err="1">
                <a:solidFill>
                  <a:srgbClr val="22303B"/>
                </a:solidFill>
                <a:latin typeface="Times New Roman"/>
                <a:cs typeface="B Lotus"/>
              </a:rPr>
              <a:t>پژوهش‌های</a:t>
            </a:r>
            <a:r>
              <a:rPr lang="fa-IR" sz="2000" b="1" dirty="0">
                <a:solidFill>
                  <a:srgbClr val="22303B"/>
                </a:solidFill>
                <a:latin typeface="Times New Roman"/>
                <a:cs typeface="B Lotus"/>
              </a:rPr>
              <a:t> داخلی نشان </a:t>
            </a:r>
            <a:r>
              <a:rPr lang="fa-IR" sz="2000" b="1" dirty="0" err="1">
                <a:solidFill>
                  <a:srgbClr val="22303B"/>
                </a:solidFill>
                <a:latin typeface="Times New Roman"/>
                <a:cs typeface="B Lotus"/>
              </a:rPr>
              <a:t>می‌دهد</a:t>
            </a:r>
            <a:r>
              <a:rPr lang="fa-IR" sz="2000" b="1" dirty="0">
                <a:solidFill>
                  <a:srgbClr val="22303B"/>
                </a:solidFill>
                <a:latin typeface="Times New Roman"/>
                <a:cs typeface="B Lotus"/>
              </a:rPr>
              <a:t> که سلامت </a:t>
            </a:r>
            <a:r>
              <a:rPr lang="fa-IR" sz="2000" b="1" dirty="0" err="1">
                <a:solidFill>
                  <a:srgbClr val="22303B"/>
                </a:solidFill>
                <a:latin typeface="Times New Roman"/>
                <a:cs typeface="B Lotus"/>
              </a:rPr>
              <a:t>ادراک‌شده</a:t>
            </a:r>
            <a:r>
              <a:rPr lang="fa-IR" sz="2000" b="1" dirty="0">
                <a:solidFill>
                  <a:srgbClr val="22303B"/>
                </a:solidFill>
                <a:latin typeface="Times New Roman"/>
                <a:cs typeface="B Lotus"/>
              </a:rPr>
              <a:t>، کفایت درآمد، جایگاه اجتماعی و </a:t>
            </a:r>
            <a:r>
              <a:rPr lang="fa-IR" sz="2000" b="1" dirty="0" err="1">
                <a:solidFill>
                  <a:srgbClr val="22303B"/>
                </a:solidFill>
                <a:latin typeface="Times New Roman"/>
                <a:cs typeface="B Lotus"/>
              </a:rPr>
              <a:t>حمایت‌های</a:t>
            </a:r>
            <a:r>
              <a:rPr lang="fa-IR" sz="2000" b="1" dirty="0">
                <a:solidFill>
                  <a:srgbClr val="22303B"/>
                </a:solidFill>
                <a:latin typeface="Times New Roman"/>
                <a:cs typeface="B Lotus"/>
              </a:rPr>
              <a:t> روانی-اجتماعی، </a:t>
            </a:r>
            <a:r>
              <a:rPr lang="fa-IR" sz="2000" b="1" dirty="0" err="1">
                <a:solidFill>
                  <a:srgbClr val="22303B"/>
                </a:solidFill>
                <a:latin typeface="Times New Roman"/>
                <a:cs typeface="B Lotus"/>
              </a:rPr>
              <a:t>تعیین‌کننده‌ترین</a:t>
            </a:r>
            <a:r>
              <a:rPr lang="fa-IR" sz="2000" b="1" dirty="0">
                <a:solidFill>
                  <a:srgbClr val="22303B"/>
                </a:solidFill>
                <a:latin typeface="Times New Roman"/>
                <a:cs typeface="B Lotus"/>
              </a:rPr>
              <a:t> عوامل در کیفیت زندگی و استقلال عملکردی سالمندان هستند؛ بنابراین در </a:t>
            </a:r>
            <a:r>
              <a:rPr lang="fa-IR" sz="2000" b="1" dirty="0" err="1">
                <a:solidFill>
                  <a:srgbClr val="22303B"/>
                </a:solidFill>
                <a:latin typeface="Times New Roman"/>
                <a:cs typeface="B Lotus"/>
              </a:rPr>
              <a:t>برنامه‌ریزی</a:t>
            </a:r>
            <a:r>
              <a:rPr lang="fa-IR" sz="2000" b="1" dirty="0">
                <a:solidFill>
                  <a:srgbClr val="22303B"/>
                </a:solidFill>
                <a:latin typeface="Times New Roman"/>
                <a:cs typeface="B Lotus"/>
              </a:rPr>
              <a:t> برای این دوران، </a:t>
            </a:r>
            <a:r>
              <a:rPr lang="fa-IR" sz="2000" b="1" dirty="0" err="1">
                <a:solidFill>
                  <a:srgbClr val="22303B"/>
                </a:solidFill>
                <a:latin typeface="Times New Roman"/>
                <a:cs typeface="B Lotus"/>
              </a:rPr>
              <a:t>نمی‌توان</a:t>
            </a:r>
            <a:r>
              <a:rPr lang="fa-IR" sz="2000" b="1" dirty="0">
                <a:solidFill>
                  <a:srgbClr val="22303B"/>
                </a:solidFill>
                <a:latin typeface="Times New Roman"/>
                <a:cs typeface="B Lotus"/>
              </a:rPr>
              <a:t> تنها به خدمات درمانی بسنده کرد. با توجه به تغییرات زیستی، روانی و اجتماعی در این دوره و اهمیت بهزیستی </a:t>
            </a:r>
            <a:r>
              <a:rPr lang="fa-IR" sz="2000" b="1" dirty="0" err="1">
                <a:solidFill>
                  <a:srgbClr val="22303B"/>
                </a:solidFill>
                <a:latin typeface="Times New Roman"/>
                <a:cs typeface="B Lotus"/>
              </a:rPr>
              <a:t>روان‌شناختی</a:t>
            </a:r>
            <a:r>
              <a:rPr lang="fa-IR" sz="2000" b="1" dirty="0">
                <a:solidFill>
                  <a:srgbClr val="22303B"/>
                </a:solidFill>
                <a:latin typeface="Times New Roman"/>
                <a:cs typeface="B Lotus"/>
              </a:rPr>
              <a:t>، پژوهش حاضر با هدف تعیین نقش «هوش معنوی» و «اضطراب سلامتی» در </a:t>
            </a:r>
            <a:r>
              <a:rPr lang="fa-IR" sz="2000" b="1" dirty="0" err="1">
                <a:solidFill>
                  <a:srgbClr val="22303B"/>
                </a:solidFill>
                <a:latin typeface="Times New Roman"/>
                <a:cs typeface="B Lotus"/>
              </a:rPr>
              <a:t>پیش‌بینی</a:t>
            </a:r>
            <a:r>
              <a:rPr lang="fa-IR" sz="2000" b="1" dirty="0">
                <a:solidFill>
                  <a:srgbClr val="22303B"/>
                </a:solidFill>
                <a:latin typeface="Times New Roman"/>
                <a:cs typeface="B Lotus"/>
              </a:rPr>
              <a:t> «اضطراب مرگ» در سالمندان انجام شده است.</a:t>
            </a:r>
          </a:p>
        </p:txBody>
      </p:sp>
    </p:spTree>
  </p:cSld>
  <p:clrMapOvr>
    <a:masterClrMapping/>
  </p:clrMapOvr>
  <p:transition spd="med" advTm="75000">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بیان مساله</a:t>
            </a: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۲</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548640" y="1325880"/>
            <a:ext cx="11094415" cy="49377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51560" y="1691640"/>
            <a:ext cx="10088575" cy="4206240"/>
          </a:xfrm>
          <a:prstGeom prst="rect">
            <a:avLst/>
          </a:prstGeom>
          <a:noFill/>
        </p:spPr>
        <p:txBody>
          <a:bodyPr wrap="square" lIns="36576" tIns="18288" rIns="36576" bIns="18288" anchor="t"/>
          <a:lstStyle/>
          <a:p>
            <a:pPr indent="457200" algn="just" rtl="1">
              <a:lnSpc>
                <a:spcPct val="115000"/>
              </a:lnSpc>
              <a:spcAft>
                <a:spcPts val="1200"/>
              </a:spcAft>
              <a:defRPr lang="fa-IR">
                <a:cs typeface="B Lotus"/>
              </a:defRPr>
            </a:pPr>
            <a:r>
              <a:rPr lang="fa-IR" sz="2000" b="0" dirty="0">
                <a:solidFill>
                  <a:srgbClr val="22303B"/>
                </a:solidFill>
                <a:latin typeface="Times New Roman"/>
                <a:cs typeface="B Lotus"/>
              </a:rPr>
              <a:t>جمعیت سالمندان جهان با شتابی </a:t>
            </a:r>
            <a:r>
              <a:rPr lang="fa-IR" sz="2000" b="0" dirty="0" err="1">
                <a:solidFill>
                  <a:srgbClr val="22303B"/>
                </a:solidFill>
                <a:latin typeface="Times New Roman"/>
                <a:cs typeface="B Lotus"/>
              </a:rPr>
              <a:t>بی‌سابقه</a:t>
            </a:r>
            <a:r>
              <a:rPr lang="fa-IR" sz="2000" b="0" dirty="0">
                <a:solidFill>
                  <a:srgbClr val="22303B"/>
                </a:solidFill>
                <a:latin typeface="Times New Roman"/>
                <a:cs typeface="B Lotus"/>
              </a:rPr>
              <a:t> رو به افزایش است. ایران نیز از این روند جهانی </a:t>
            </a:r>
            <a:r>
              <a:rPr lang="fa-IR" sz="2000" b="0" dirty="0" err="1">
                <a:solidFill>
                  <a:srgbClr val="22303B"/>
                </a:solidFill>
                <a:latin typeface="Times New Roman"/>
                <a:cs typeface="B Lotus"/>
              </a:rPr>
              <a:t>مستثنا</a:t>
            </a:r>
            <a:r>
              <a:rPr lang="fa-IR" sz="2000" b="0" dirty="0">
                <a:solidFill>
                  <a:srgbClr val="22303B"/>
                </a:solidFill>
                <a:latin typeface="Times New Roman"/>
                <a:cs typeface="B Lotus"/>
              </a:rPr>
              <a:t> نیست و با کاهش نرخ باروری و افزایش امید به زندگی، به سرعت در حال تجربه تحول جمعیتی است. </a:t>
            </a:r>
            <a:r>
              <a:rPr lang="fa-IR" sz="2000" b="0" dirty="0" err="1">
                <a:solidFill>
                  <a:srgbClr val="22303B"/>
                </a:solidFill>
                <a:latin typeface="Times New Roman"/>
                <a:cs typeface="B Lotus"/>
              </a:rPr>
              <a:t>پیش‌بینی</a:t>
            </a:r>
            <a:r>
              <a:rPr lang="fa-IR" sz="2000" b="0" dirty="0">
                <a:solidFill>
                  <a:srgbClr val="22303B"/>
                </a:solidFill>
                <a:latin typeface="Times New Roman"/>
                <a:cs typeface="B Lotus"/>
              </a:rPr>
              <a:t> </a:t>
            </a:r>
            <a:r>
              <a:rPr lang="fa-IR" sz="2000" b="0" dirty="0" err="1">
                <a:solidFill>
                  <a:srgbClr val="22303B"/>
                </a:solidFill>
                <a:latin typeface="Times New Roman"/>
                <a:cs typeface="B Lotus"/>
              </a:rPr>
              <a:t>می‌شود</a:t>
            </a:r>
            <a:r>
              <a:rPr lang="fa-IR" sz="2000" b="0" dirty="0">
                <a:solidFill>
                  <a:srgbClr val="22303B"/>
                </a:solidFill>
                <a:latin typeface="Times New Roman"/>
                <a:cs typeface="B Lotus"/>
              </a:rPr>
              <a:t> تا سال ۲۰۵۰، حدود ۲۷.۹ درصد از جمعیت ایران را سالمندان تشکیل دهند که در این میان سهم زنان نیز بسیار قابل توجه خواهد بود. این وضعیت، ضرورت توجه به نیازهای جسمی، روانی و اجتماعی سالمندان را در </a:t>
            </a:r>
            <a:r>
              <a:rPr lang="fa-IR" sz="2000" b="0" dirty="0" err="1">
                <a:solidFill>
                  <a:srgbClr val="22303B"/>
                </a:solidFill>
                <a:latin typeface="Times New Roman"/>
                <a:cs typeface="B Lotus"/>
              </a:rPr>
              <a:t>برنامه‌ریزی‌های</a:t>
            </a:r>
            <a:r>
              <a:rPr lang="fa-IR" sz="2000" b="0" dirty="0">
                <a:solidFill>
                  <a:srgbClr val="22303B"/>
                </a:solidFill>
                <a:latin typeface="Times New Roman"/>
                <a:cs typeface="B Lotus"/>
              </a:rPr>
              <a:t> نظام سلامت و رفاه کشور، </a:t>
            </a:r>
            <a:r>
              <a:rPr lang="fa-IR" sz="2000" b="0" dirty="0" err="1">
                <a:solidFill>
                  <a:srgbClr val="22303B"/>
                </a:solidFill>
                <a:latin typeface="Times New Roman"/>
                <a:cs typeface="B Lotus"/>
              </a:rPr>
              <a:t>به‌ویژه</a:t>
            </a:r>
            <a:r>
              <a:rPr lang="fa-IR" sz="2000" b="0" dirty="0">
                <a:solidFill>
                  <a:srgbClr val="22303B"/>
                </a:solidFill>
                <a:latin typeface="Times New Roman"/>
                <a:cs typeface="B Lotus"/>
              </a:rPr>
              <a:t> در </a:t>
            </a:r>
            <a:r>
              <a:rPr lang="fa-IR" sz="2000" b="0" dirty="0" err="1">
                <a:solidFill>
                  <a:srgbClr val="22303B"/>
                </a:solidFill>
                <a:latin typeface="Times New Roman"/>
                <a:cs typeface="B Lotus"/>
              </a:rPr>
              <a:t>زمینه‌های</a:t>
            </a:r>
            <a:r>
              <a:rPr lang="fa-IR" sz="2000" b="0" dirty="0">
                <a:solidFill>
                  <a:srgbClr val="22303B"/>
                </a:solidFill>
                <a:latin typeface="Times New Roman"/>
                <a:cs typeface="B Lotus"/>
              </a:rPr>
              <a:t> مراقبت </a:t>
            </a:r>
            <a:r>
              <a:rPr lang="fa-IR" sz="2000" b="0" dirty="0" err="1">
                <a:solidFill>
                  <a:srgbClr val="22303B"/>
                </a:solidFill>
                <a:latin typeface="Times New Roman"/>
                <a:cs typeface="B Lotus"/>
              </a:rPr>
              <a:t>طولانی‌مدت</a:t>
            </a:r>
            <a:r>
              <a:rPr lang="fa-IR" sz="2000" b="0" dirty="0">
                <a:solidFill>
                  <a:srgbClr val="22303B"/>
                </a:solidFill>
                <a:latin typeface="Times New Roman"/>
                <a:cs typeface="B Lotus"/>
              </a:rPr>
              <a:t> و سلامت روان، بیش از پیش آشکار </a:t>
            </a:r>
            <a:r>
              <a:rPr lang="fa-IR" sz="2000" b="0" dirty="0" err="1">
                <a:solidFill>
                  <a:srgbClr val="22303B"/>
                </a:solidFill>
                <a:latin typeface="Times New Roman"/>
                <a:cs typeface="B Lotus"/>
              </a:rPr>
              <a:t>می‌سازد</a:t>
            </a:r>
            <a:r>
              <a:rPr lang="fa-IR" sz="2000" b="0" dirty="0">
                <a:solidFill>
                  <a:srgbClr val="22303B"/>
                </a:solidFill>
                <a:latin typeface="Times New Roman"/>
                <a:cs typeface="B Lotus"/>
              </a:rPr>
              <a:t>.</a:t>
            </a:r>
          </a:p>
          <a:p>
            <a:pPr indent="457200" algn="just" rtl="1">
              <a:lnSpc>
                <a:spcPct val="115000"/>
              </a:lnSpc>
              <a:spcAft>
                <a:spcPts val="1200"/>
              </a:spcAft>
              <a:defRPr lang="fa-IR">
                <a:cs typeface="B Lotus"/>
              </a:defRPr>
            </a:pPr>
            <a:r>
              <a:rPr lang="fa-IR" sz="2000" b="0" dirty="0">
                <a:solidFill>
                  <a:srgbClr val="22303B"/>
                </a:solidFill>
                <a:latin typeface="Times New Roman"/>
                <a:cs typeface="B Lotus"/>
              </a:rPr>
              <a:t>یکی از </a:t>
            </a:r>
            <a:r>
              <a:rPr lang="fa-IR" sz="2000" b="0" dirty="0" err="1">
                <a:solidFill>
                  <a:srgbClr val="22303B"/>
                </a:solidFill>
                <a:latin typeface="Times New Roman"/>
                <a:cs typeface="B Lotus"/>
              </a:rPr>
              <a:t>مؤلفه‌های</a:t>
            </a:r>
            <a:r>
              <a:rPr lang="fa-IR" sz="2000" b="0" dirty="0">
                <a:solidFill>
                  <a:srgbClr val="22303B"/>
                </a:solidFill>
                <a:latin typeface="Times New Roman"/>
                <a:cs typeface="B Lotus"/>
              </a:rPr>
              <a:t> کلیدی در مواجهه با </a:t>
            </a:r>
            <a:r>
              <a:rPr lang="fa-IR" sz="2000" b="0" dirty="0" err="1">
                <a:solidFill>
                  <a:srgbClr val="22303B"/>
                </a:solidFill>
                <a:latin typeface="Times New Roman"/>
                <a:cs typeface="B Lotus"/>
              </a:rPr>
              <a:t>چالش‌های</a:t>
            </a:r>
            <a:r>
              <a:rPr lang="fa-IR" sz="2000" b="0" dirty="0">
                <a:solidFill>
                  <a:srgbClr val="22303B"/>
                </a:solidFill>
                <a:latin typeface="Times New Roman"/>
                <a:cs typeface="B Lotus"/>
              </a:rPr>
              <a:t> این دوران، «هوش معنوی» است. هوش معنوی به توانایی فرد در درک معنا و هدف زندگی و استفاده از منابع معنوی برای مواجهه با </a:t>
            </a:r>
            <a:r>
              <a:rPr lang="fa-IR" sz="2000" b="0" dirty="0" err="1">
                <a:solidFill>
                  <a:srgbClr val="22303B"/>
                </a:solidFill>
                <a:latin typeface="Times New Roman"/>
                <a:cs typeface="B Lotus"/>
              </a:rPr>
              <a:t>چالش‌ها</a:t>
            </a:r>
            <a:r>
              <a:rPr lang="fa-IR" sz="2000" b="0" dirty="0">
                <a:solidFill>
                  <a:srgbClr val="22303B"/>
                </a:solidFill>
                <a:latin typeface="Times New Roman"/>
                <a:cs typeface="B Lotus"/>
              </a:rPr>
              <a:t> اشاره دارد. </a:t>
            </a:r>
            <a:r>
              <a:rPr lang="fa-IR" sz="2000" b="0" dirty="0" err="1">
                <a:solidFill>
                  <a:srgbClr val="22303B"/>
                </a:solidFill>
                <a:latin typeface="Times New Roman"/>
                <a:cs typeface="B Lotus"/>
              </a:rPr>
              <a:t>پژوهش‌ها</a:t>
            </a:r>
            <a:r>
              <a:rPr lang="fa-IR" sz="2000" b="0" dirty="0">
                <a:solidFill>
                  <a:srgbClr val="22303B"/>
                </a:solidFill>
                <a:latin typeface="Times New Roman"/>
                <a:cs typeface="B Lotus"/>
              </a:rPr>
              <a:t> نشان </a:t>
            </a:r>
            <a:r>
              <a:rPr lang="fa-IR" sz="2000" b="0" dirty="0" err="1">
                <a:solidFill>
                  <a:srgbClr val="22303B"/>
                </a:solidFill>
                <a:latin typeface="Times New Roman"/>
                <a:cs typeface="B Lotus"/>
              </a:rPr>
              <a:t>می‌دهند</a:t>
            </a:r>
            <a:r>
              <a:rPr lang="fa-IR" sz="2000" b="0" dirty="0">
                <a:solidFill>
                  <a:srgbClr val="22303B"/>
                </a:solidFill>
                <a:latin typeface="Times New Roman"/>
                <a:cs typeface="B Lotus"/>
              </a:rPr>
              <a:t> که هوش معنوی با «اضطراب مرگ» رابطه منفی و معناداری دارد؛ به این معنا که سالمندان با هوش معنوی بالاتر، به دلیل برخورداری از </a:t>
            </a:r>
            <a:r>
              <a:rPr lang="fa-IR" sz="2000" b="0" dirty="0" err="1">
                <a:solidFill>
                  <a:srgbClr val="22303B"/>
                </a:solidFill>
                <a:latin typeface="Times New Roman"/>
                <a:cs typeface="B Lotus"/>
              </a:rPr>
              <a:t>تاب‌آوری</a:t>
            </a:r>
            <a:r>
              <a:rPr lang="fa-IR" sz="2000" b="0" dirty="0">
                <a:solidFill>
                  <a:srgbClr val="22303B"/>
                </a:solidFill>
                <a:latin typeface="Times New Roman"/>
                <a:cs typeface="B Lotus"/>
              </a:rPr>
              <a:t> و توانایی یافتن معنا در زندگی، با اضطراب مرگ کمتری </a:t>
            </a:r>
            <a:r>
              <a:rPr lang="fa-IR" sz="2000" b="0" dirty="0" err="1">
                <a:solidFill>
                  <a:srgbClr val="22303B"/>
                </a:solidFill>
                <a:latin typeface="Times New Roman"/>
                <a:cs typeface="B Lotus"/>
              </a:rPr>
              <a:t>روبه‌رو</a:t>
            </a:r>
            <a:r>
              <a:rPr lang="fa-IR" sz="2000" b="0" dirty="0">
                <a:solidFill>
                  <a:srgbClr val="22303B"/>
                </a:solidFill>
                <a:latin typeface="Times New Roman"/>
                <a:cs typeface="B Lotus"/>
              </a:rPr>
              <a:t> هستند. بنابراین، تقویت این ظرفیت </a:t>
            </a:r>
            <a:r>
              <a:rPr lang="fa-IR" sz="2000" b="0" dirty="0" err="1">
                <a:solidFill>
                  <a:srgbClr val="22303B"/>
                </a:solidFill>
                <a:latin typeface="Times New Roman"/>
                <a:cs typeface="B Lotus"/>
              </a:rPr>
              <a:t>می‌تواند</a:t>
            </a:r>
            <a:r>
              <a:rPr lang="fa-IR" sz="2000" b="0" dirty="0">
                <a:solidFill>
                  <a:srgbClr val="22303B"/>
                </a:solidFill>
                <a:latin typeface="Times New Roman"/>
                <a:cs typeface="B Lotus"/>
              </a:rPr>
              <a:t> </a:t>
            </a:r>
            <a:r>
              <a:rPr lang="fa-IR" sz="2000" b="0" dirty="0" err="1">
                <a:solidFill>
                  <a:srgbClr val="22303B"/>
                </a:solidFill>
                <a:latin typeface="Times New Roman"/>
                <a:cs typeface="B Lotus"/>
              </a:rPr>
              <a:t>راهکاری</a:t>
            </a:r>
            <a:r>
              <a:rPr lang="fa-IR" sz="2000" b="0" dirty="0">
                <a:solidFill>
                  <a:srgbClr val="22303B"/>
                </a:solidFill>
                <a:latin typeface="Times New Roman"/>
                <a:cs typeface="B Lotus"/>
              </a:rPr>
              <a:t> مؤثر در ارتقای سلامت روان سالمندان باشد.</a:t>
            </a:r>
          </a:p>
        </p:txBody>
      </p:sp>
    </p:spTree>
  </p:cSld>
  <p:clrMapOvr>
    <a:masterClrMapping/>
  </p:clrMapOvr>
  <p:transition spd="med" advTm="68440">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بیان مساله</a:t>
            </a: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۳</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548640" y="1325880"/>
            <a:ext cx="11094415" cy="49377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51560" y="1691640"/>
            <a:ext cx="10088575" cy="4206240"/>
          </a:xfrm>
          <a:prstGeom prst="rect">
            <a:avLst/>
          </a:prstGeom>
          <a:noFill/>
        </p:spPr>
        <p:txBody>
          <a:bodyPr wrap="square" lIns="36576" tIns="18288" rIns="36576" bIns="18288" anchor="t"/>
          <a:lstStyle/>
          <a:p>
            <a:pPr indent="457200" algn="just" rtl="1">
              <a:lnSpc>
                <a:spcPct val="115000"/>
              </a:lnSpc>
              <a:spcAft>
                <a:spcPts val="1200"/>
              </a:spcAft>
              <a:defRPr lang="fa-IR">
                <a:cs typeface="B Lotus"/>
              </a:defRPr>
            </a:pPr>
            <a:r>
              <a:rPr lang="fa-IR" sz="2000" b="0" dirty="0">
                <a:solidFill>
                  <a:srgbClr val="22303B"/>
                </a:solidFill>
                <a:latin typeface="Times New Roman"/>
                <a:cs typeface="B Lotus"/>
              </a:rPr>
              <a:t>متغیر دیگر که بر </a:t>
            </a:r>
            <a:r>
              <a:rPr lang="fa-IR" sz="2000" b="0" dirty="0" err="1">
                <a:solidFill>
                  <a:srgbClr val="22303B"/>
                </a:solidFill>
                <a:latin typeface="Times New Roman"/>
                <a:cs typeface="B Lotus"/>
              </a:rPr>
              <a:t>تجربۀ</a:t>
            </a:r>
            <a:r>
              <a:rPr lang="fa-IR" sz="2000" b="0" dirty="0">
                <a:solidFill>
                  <a:srgbClr val="22303B"/>
                </a:solidFill>
                <a:latin typeface="Times New Roman"/>
                <a:cs typeface="B Lotus"/>
              </a:rPr>
              <a:t> سالمندی تأثیرگذار است، «اضطراب سلامتی» </a:t>
            </a:r>
            <a:r>
              <a:rPr lang="fa-IR" sz="2000" b="0" dirty="0" err="1">
                <a:solidFill>
                  <a:srgbClr val="22303B"/>
                </a:solidFill>
                <a:latin typeface="Times New Roman"/>
                <a:cs typeface="B Lotus"/>
              </a:rPr>
              <a:t>می‌باشد</a:t>
            </a:r>
            <a:r>
              <a:rPr lang="fa-IR" sz="2000" b="0" dirty="0">
                <a:solidFill>
                  <a:srgbClr val="22303B"/>
                </a:solidFill>
                <a:latin typeface="Times New Roman"/>
                <a:cs typeface="B Lotus"/>
              </a:rPr>
              <a:t>. با افزایش سن و احتمال ابتلا به </a:t>
            </a:r>
            <a:r>
              <a:rPr lang="fa-IR" sz="2000" b="0" dirty="0" err="1">
                <a:solidFill>
                  <a:srgbClr val="22303B"/>
                </a:solidFill>
                <a:latin typeface="Times New Roman"/>
                <a:cs typeface="B Lotus"/>
              </a:rPr>
              <a:t>بیماری‌های</a:t>
            </a:r>
            <a:r>
              <a:rPr lang="fa-IR" sz="2000" b="0" dirty="0">
                <a:solidFill>
                  <a:srgbClr val="22303B"/>
                </a:solidFill>
                <a:latin typeface="Times New Roman"/>
                <a:cs typeface="B Lotus"/>
              </a:rPr>
              <a:t> مزمن و </a:t>
            </a:r>
            <a:r>
              <a:rPr lang="fa-IR" sz="2000" b="0" dirty="0" err="1">
                <a:solidFill>
                  <a:srgbClr val="22303B"/>
                </a:solidFill>
                <a:latin typeface="Times New Roman"/>
                <a:cs typeface="B Lotus"/>
              </a:rPr>
              <a:t>چندبیماری</a:t>
            </a:r>
            <a:r>
              <a:rPr lang="fa-IR" sz="2000" b="0" dirty="0">
                <a:solidFill>
                  <a:srgbClr val="22303B"/>
                </a:solidFill>
                <a:latin typeface="Times New Roman"/>
                <a:cs typeface="B Lotus"/>
              </a:rPr>
              <a:t>، </a:t>
            </a:r>
            <a:r>
              <a:rPr lang="fa-IR" sz="2000" b="0" dirty="0" err="1">
                <a:solidFill>
                  <a:srgbClr val="22303B"/>
                </a:solidFill>
                <a:latin typeface="Times New Roman"/>
                <a:cs typeface="B Lotus"/>
              </a:rPr>
              <a:t>نگرانی‌های</a:t>
            </a:r>
            <a:r>
              <a:rPr lang="fa-IR" sz="2000" b="0" dirty="0">
                <a:solidFill>
                  <a:srgbClr val="22303B"/>
                </a:solidFill>
                <a:latin typeface="Times New Roman"/>
                <a:cs typeface="B Lotus"/>
              </a:rPr>
              <a:t> مربوط به وضعیت سلامت و احتمال ابتلا به </a:t>
            </a:r>
            <a:r>
              <a:rPr lang="fa-IR" sz="2000" b="0" dirty="0" err="1">
                <a:solidFill>
                  <a:srgbClr val="22303B"/>
                </a:solidFill>
                <a:latin typeface="Times New Roman"/>
                <a:cs typeface="B Lotus"/>
              </a:rPr>
              <a:t>بیماری‌های</a:t>
            </a:r>
            <a:r>
              <a:rPr lang="fa-IR" sz="2000" b="0" dirty="0">
                <a:solidFill>
                  <a:srgbClr val="22303B"/>
                </a:solidFill>
                <a:latin typeface="Times New Roman"/>
                <a:cs typeface="B Lotus"/>
              </a:rPr>
              <a:t> جدی در سالمندان افزایش </a:t>
            </a:r>
            <a:r>
              <a:rPr lang="fa-IR" sz="2000" b="0" dirty="0" err="1">
                <a:solidFill>
                  <a:srgbClr val="22303B"/>
                </a:solidFill>
                <a:latin typeface="Times New Roman"/>
                <a:cs typeface="B Lotus"/>
              </a:rPr>
              <a:t>می‌یابد</a:t>
            </a:r>
            <a:r>
              <a:rPr lang="fa-IR" sz="2000" b="0" dirty="0">
                <a:solidFill>
                  <a:srgbClr val="22303B"/>
                </a:solidFill>
                <a:latin typeface="Times New Roman"/>
                <a:cs typeface="B Lotus"/>
              </a:rPr>
              <a:t>. این اضطراب که </a:t>
            </a:r>
            <a:r>
              <a:rPr lang="fa-IR" sz="2000" b="0" dirty="0" err="1">
                <a:solidFill>
                  <a:srgbClr val="22303B"/>
                </a:solidFill>
                <a:latin typeface="Times New Roman"/>
                <a:cs typeface="B Lotus"/>
              </a:rPr>
              <a:t>می‌تواند</a:t>
            </a:r>
            <a:r>
              <a:rPr lang="fa-IR" sz="2000" b="0" dirty="0">
                <a:solidFill>
                  <a:srgbClr val="22303B"/>
                </a:solidFill>
                <a:latin typeface="Times New Roman"/>
                <a:cs typeface="B Lotus"/>
              </a:rPr>
              <a:t> منجر به رفتارهای </a:t>
            </a:r>
            <a:r>
              <a:rPr lang="fa-IR" sz="2000" b="0" dirty="0" err="1">
                <a:solidFill>
                  <a:srgbClr val="22303B"/>
                </a:solidFill>
                <a:latin typeface="Times New Roman"/>
                <a:cs typeface="B Lotus"/>
              </a:rPr>
              <a:t>جست‌وجوگرانه</a:t>
            </a:r>
            <a:r>
              <a:rPr lang="fa-IR" sz="2000" b="0" dirty="0">
                <a:solidFill>
                  <a:srgbClr val="22303B"/>
                </a:solidFill>
                <a:latin typeface="Times New Roman"/>
                <a:cs typeface="B Lotus"/>
              </a:rPr>
              <a:t> مکرر برای اطمینان از سلامت شود، در پیوند با عواملی چون انزوای اجتماعی و کاهش </a:t>
            </a:r>
            <a:r>
              <a:rPr lang="fa-IR" sz="2000" b="0" dirty="0" err="1">
                <a:solidFill>
                  <a:srgbClr val="22303B"/>
                </a:solidFill>
                <a:latin typeface="Times New Roman"/>
                <a:cs typeface="B Lotus"/>
              </a:rPr>
              <a:t>حمایت‌های</a:t>
            </a:r>
            <a:r>
              <a:rPr lang="fa-IR" sz="2000" b="0" dirty="0">
                <a:solidFill>
                  <a:srgbClr val="22303B"/>
                </a:solidFill>
                <a:latin typeface="Times New Roman"/>
                <a:cs typeface="B Lotus"/>
              </a:rPr>
              <a:t> محیطی، سلامت روان را به شدت تحت تأثیر قرار </a:t>
            </a:r>
            <a:r>
              <a:rPr lang="fa-IR" sz="2000" b="0" dirty="0" err="1">
                <a:solidFill>
                  <a:srgbClr val="22303B"/>
                </a:solidFill>
                <a:latin typeface="Times New Roman"/>
                <a:cs typeface="B Lotus"/>
              </a:rPr>
              <a:t>می‌دهد</a:t>
            </a:r>
            <a:r>
              <a:rPr lang="fa-IR" sz="2000" b="0" dirty="0">
                <a:solidFill>
                  <a:srgbClr val="22303B"/>
                </a:solidFill>
                <a:latin typeface="Times New Roman"/>
                <a:cs typeface="B Lotus"/>
              </a:rPr>
              <a:t>. شناسایی دقیق این اضطراب در سالمندان برای طراحی </a:t>
            </a:r>
            <a:r>
              <a:rPr lang="fa-IR" sz="2000" b="0" dirty="0" err="1">
                <a:solidFill>
                  <a:srgbClr val="22303B"/>
                </a:solidFill>
                <a:latin typeface="Times New Roman"/>
                <a:cs typeface="B Lotus"/>
              </a:rPr>
              <a:t>برنامه‌های</a:t>
            </a:r>
            <a:r>
              <a:rPr lang="fa-IR" sz="2000" b="0" dirty="0">
                <a:solidFill>
                  <a:srgbClr val="22303B"/>
                </a:solidFill>
                <a:latin typeface="Times New Roman"/>
                <a:cs typeface="B Lotus"/>
              </a:rPr>
              <a:t> پیشگیرانه ضروری است.</a:t>
            </a:r>
          </a:p>
          <a:p>
            <a:pPr indent="457200" algn="just" rtl="1">
              <a:lnSpc>
                <a:spcPct val="115000"/>
              </a:lnSpc>
              <a:spcAft>
                <a:spcPts val="1200"/>
              </a:spcAft>
              <a:defRPr lang="fa-IR">
                <a:cs typeface="B Lotus"/>
              </a:defRPr>
            </a:pPr>
            <a:r>
              <a:rPr lang="fa-IR" sz="2000" b="0" dirty="0">
                <a:solidFill>
                  <a:srgbClr val="22303B"/>
                </a:solidFill>
                <a:latin typeface="Times New Roman"/>
                <a:cs typeface="B Lotus"/>
              </a:rPr>
              <a:t>با توجه به پیوستگی میان تغییرات جسمی، روانی و اجتماعی در دوران سالمندی، مشخص است که اضطراب مرگ تحت تأثیر متغیرهای مختلفی قرار دارد. از یک سو اضطراب سلامتی ناشی از </a:t>
            </a:r>
            <a:r>
              <a:rPr lang="fa-IR" sz="2000" b="0" dirty="0" err="1">
                <a:solidFill>
                  <a:srgbClr val="22303B"/>
                </a:solidFill>
                <a:latin typeface="Times New Roman"/>
                <a:cs typeface="B Lotus"/>
              </a:rPr>
              <a:t>محدودیت‌های</a:t>
            </a:r>
            <a:r>
              <a:rPr lang="fa-IR" sz="2000" b="0" dirty="0">
                <a:solidFill>
                  <a:srgbClr val="22303B"/>
                </a:solidFill>
                <a:latin typeface="Times New Roman"/>
                <a:cs typeface="B Lotus"/>
              </a:rPr>
              <a:t> جسمی، و از سوی دیگر هوش معنوی به عنوان یک منبع درونی، بر نحوه مواجهه فرد با مرگ اثر </a:t>
            </a:r>
            <a:r>
              <a:rPr lang="fa-IR" sz="2000" b="0" dirty="0" err="1">
                <a:solidFill>
                  <a:srgbClr val="22303B"/>
                </a:solidFill>
                <a:latin typeface="Times New Roman"/>
                <a:cs typeface="B Lotus"/>
              </a:rPr>
              <a:t>می‌گذارند</a:t>
            </a:r>
            <a:r>
              <a:rPr lang="fa-IR" sz="2000" b="0" dirty="0">
                <a:solidFill>
                  <a:srgbClr val="22303B"/>
                </a:solidFill>
                <a:latin typeface="Times New Roman"/>
                <a:cs typeface="B Lotus"/>
              </a:rPr>
              <a:t>. بر این اساس، پژوهش حاضر با هدف تعیین نقش هوش معنوی و اضطراب سلامتی در ارتباط با اضطراب مرگ در سالمندان انجام شده است تا گامی در جهت شناخت بهتر نیازهای این گروه و ارتقای کیفیت زندگی آنان باشد</a:t>
            </a:r>
            <a:r>
              <a:rPr lang="fa-IR" sz="2000" b="0" dirty="0" smtClean="0">
                <a:solidFill>
                  <a:srgbClr val="22303B"/>
                </a:solidFill>
                <a:latin typeface="Times New Roman"/>
                <a:cs typeface="B Lotus"/>
              </a:rPr>
              <a:t>.</a:t>
            </a:r>
          </a:p>
          <a:p>
            <a:pPr indent="457200" algn="just" rtl="1">
              <a:lnSpc>
                <a:spcPct val="115000"/>
              </a:lnSpc>
              <a:spcAft>
                <a:spcPts val="1200"/>
              </a:spcAft>
              <a:defRPr lang="fa-IR">
                <a:cs typeface="B Lotus"/>
              </a:defRPr>
            </a:pPr>
            <a:r>
              <a:rPr lang="fa-IR" sz="2000" dirty="0" smtClean="0">
                <a:solidFill>
                  <a:srgbClr val="22303B"/>
                </a:solidFill>
                <a:effectLst>
                  <a:outerShdw blurRad="38100" dist="38100" dir="2700000" algn="tl">
                    <a:srgbClr val="000000">
                      <a:alpha val="43137"/>
                    </a:srgbClr>
                  </a:outerShdw>
                </a:effectLst>
                <a:latin typeface="Times New Roman"/>
                <a:cs typeface="B Nazanin Outline" panose="00000400000000000000" pitchFamily="2" charset="-78"/>
              </a:rPr>
              <a:t>آیا بین هوش معنوی و اضطراب سلامتی با اضطراب مرگ  در سالمندان رابطه  وجود دارد.</a:t>
            </a:r>
            <a:endParaRPr lang="fa-IR" sz="2000" dirty="0">
              <a:solidFill>
                <a:srgbClr val="22303B"/>
              </a:solidFill>
              <a:effectLst>
                <a:outerShdw blurRad="38100" dist="38100" dir="2700000" algn="tl">
                  <a:srgbClr val="000000">
                    <a:alpha val="43137"/>
                  </a:srgbClr>
                </a:outerShdw>
              </a:effectLst>
              <a:latin typeface="Times New Roman"/>
              <a:cs typeface="B Nazanin Outline" panose="00000400000000000000" pitchFamily="2" charset="-78"/>
            </a:endParaRPr>
          </a:p>
        </p:txBody>
      </p:sp>
    </p:spTree>
  </p:cSld>
  <p:clrMapOvr>
    <a:masterClrMapping/>
  </p:clrMapOvr>
  <p:transition spd="med" advTm="65560">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اهداف تحقیق</a:t>
            </a: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۴</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548640" y="1325880"/>
            <a:ext cx="11094415" cy="16002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991295" y="1592884"/>
            <a:ext cx="219456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a:solidFill>
                  <a:srgbClr val="2A5D8F"/>
                </a:solidFill>
                <a:latin typeface="Times New Roman"/>
                <a:cs typeface="B Titr"/>
              </a:rPr>
              <a:t>هدف اصلی:</a:t>
            </a:r>
          </a:p>
        </p:txBody>
      </p:sp>
      <p:sp>
        <p:nvSpPr>
          <p:cNvPr id="11" name="TextBox 10"/>
          <p:cNvSpPr txBox="1"/>
          <p:nvPr/>
        </p:nvSpPr>
        <p:spPr>
          <a:xfrm>
            <a:off x="1005840" y="2103120"/>
            <a:ext cx="9082057" cy="640080"/>
          </a:xfrm>
          <a:prstGeom prst="rect">
            <a:avLst/>
          </a:prstGeom>
          <a:noFill/>
        </p:spPr>
        <p:txBody>
          <a:bodyPr wrap="square" lIns="36576" tIns="18288" rIns="36576" bIns="18288" anchor="t"/>
          <a:lstStyle/>
          <a:p>
            <a:pPr algn="r" rtl="1">
              <a:lnSpc>
                <a:spcPct val="110000"/>
              </a:lnSpc>
              <a:spcAft>
                <a:spcPts val="0"/>
              </a:spcAft>
              <a:defRPr lang="fa-IR">
                <a:cs typeface="B Lotus"/>
              </a:defRPr>
            </a:pPr>
            <a:r>
              <a:rPr lang="fa-IR" sz="2000" b="0" dirty="0">
                <a:solidFill>
                  <a:srgbClr val="22303B"/>
                </a:solidFill>
                <a:latin typeface="Times New Roman"/>
                <a:ea typeface="Times New Roman"/>
                <a:cs typeface="B Lotus"/>
              </a:rPr>
              <a:t>- تعیین رابطه هوش معنوی و اضطراب سلامتی با اضطراب مرگ در سالمندان</a:t>
            </a:r>
          </a:p>
        </p:txBody>
      </p:sp>
      <p:sp>
        <p:nvSpPr>
          <p:cNvPr id="12" name="Rounded Rectangle 11"/>
          <p:cNvSpPr/>
          <p:nvPr/>
        </p:nvSpPr>
        <p:spPr>
          <a:xfrm>
            <a:off x="548640" y="3154680"/>
            <a:ext cx="11094415" cy="21488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991295" y="3421684"/>
            <a:ext cx="219456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a:solidFill>
                  <a:srgbClr val="4F5A8E"/>
                </a:solidFill>
                <a:latin typeface="Times New Roman"/>
                <a:cs typeface="B Titr"/>
              </a:rPr>
              <a:t>اهداف فرعی:</a:t>
            </a:r>
          </a:p>
        </p:txBody>
      </p:sp>
      <p:sp>
        <p:nvSpPr>
          <p:cNvPr id="14" name="TextBox 13"/>
          <p:cNvSpPr txBox="1"/>
          <p:nvPr/>
        </p:nvSpPr>
        <p:spPr>
          <a:xfrm>
            <a:off x="1005840" y="3931920"/>
            <a:ext cx="9082057" cy="1188720"/>
          </a:xfrm>
          <a:prstGeom prst="rect">
            <a:avLst/>
          </a:prstGeom>
          <a:noFill/>
        </p:spPr>
        <p:txBody>
          <a:bodyPr wrap="square" lIns="36576" tIns="18288" rIns="36576" bIns="18288" anchor="t"/>
          <a:lstStyle/>
          <a:p>
            <a:pPr algn="r" rtl="1">
              <a:lnSpc>
                <a:spcPct val="110000"/>
              </a:lnSpc>
              <a:spcAft>
                <a:spcPts val="800"/>
              </a:spcAft>
              <a:defRPr lang="fa-IR">
                <a:cs typeface="B Lotus"/>
              </a:defRPr>
            </a:pPr>
            <a:r>
              <a:rPr lang="fa-IR" sz="2000" b="0" dirty="0">
                <a:solidFill>
                  <a:srgbClr val="22303B"/>
                </a:solidFill>
                <a:latin typeface="Times New Roman"/>
                <a:ea typeface="Times New Roman"/>
                <a:cs typeface="B Lotus"/>
              </a:rPr>
              <a:t>- تعیین رابطه بین هوش معنوی و اضطراب مرگ در سالمندان</a:t>
            </a:r>
          </a:p>
          <a:p>
            <a:pPr algn="r" rtl="1">
              <a:lnSpc>
                <a:spcPct val="110000"/>
              </a:lnSpc>
              <a:spcAft>
                <a:spcPts val="800"/>
              </a:spcAft>
              <a:defRPr lang="fa-IR">
                <a:cs typeface="B Lotus"/>
              </a:defRPr>
            </a:pPr>
            <a:r>
              <a:rPr lang="fa-IR" sz="2000" b="0" dirty="0">
                <a:solidFill>
                  <a:srgbClr val="22303B"/>
                </a:solidFill>
                <a:latin typeface="Times New Roman"/>
                <a:ea typeface="Times New Roman"/>
                <a:cs typeface="B Lotus"/>
              </a:rPr>
              <a:t>- تعیین رابطه بین اضطراب سلامتی و اضطراب مرگ در سالمندان</a:t>
            </a:r>
          </a:p>
        </p:txBody>
      </p:sp>
    </p:spTree>
  </p:cSld>
  <p:clrMapOvr>
    <a:masterClrMapping/>
  </p:clrMapOvr>
  <p:transition spd="med" advTm="22360">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فرضیه‌های پژوهش</a:t>
            </a: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548640" y="1325880"/>
            <a:ext cx="11094415" cy="16002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351215" y="1627632"/>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a:solidFill>
                  <a:srgbClr val="B4822F"/>
                </a:solidFill>
                <a:latin typeface="Times New Roman"/>
                <a:cs typeface="B Titr"/>
              </a:rPr>
              <a:t>فرضیه اصلی:</a:t>
            </a:r>
          </a:p>
        </p:txBody>
      </p:sp>
      <p:sp>
        <p:nvSpPr>
          <p:cNvPr id="11" name="TextBox 10"/>
          <p:cNvSpPr txBox="1"/>
          <p:nvPr/>
        </p:nvSpPr>
        <p:spPr>
          <a:xfrm>
            <a:off x="1005840" y="2103120"/>
            <a:ext cx="9259037" cy="640080"/>
          </a:xfrm>
          <a:prstGeom prst="rect">
            <a:avLst/>
          </a:prstGeom>
          <a:noFill/>
        </p:spPr>
        <p:txBody>
          <a:bodyPr wrap="square" lIns="36576" tIns="18288" rIns="36576" bIns="18288" anchor="t"/>
          <a:lstStyle/>
          <a:p>
            <a:pPr algn="r" rtl="1">
              <a:lnSpc>
                <a:spcPct val="110000"/>
              </a:lnSpc>
              <a:spcAft>
                <a:spcPts val="0"/>
              </a:spcAft>
              <a:defRPr lang="fa-IR">
                <a:cs typeface="B Lotus"/>
              </a:defRPr>
            </a:pPr>
            <a:r>
              <a:rPr lang="fa-IR" sz="2000" b="0" dirty="0">
                <a:solidFill>
                  <a:srgbClr val="22303B"/>
                </a:solidFill>
                <a:latin typeface="Times New Roman"/>
                <a:ea typeface="Times New Roman"/>
                <a:cs typeface="B Lotus"/>
              </a:rPr>
              <a:t>- بین هوش معنوی و اضطراب سلامتی با اضطراب مرگ در سالمندان رابطه وجود دارد.</a:t>
            </a:r>
          </a:p>
        </p:txBody>
      </p:sp>
      <p:sp>
        <p:nvSpPr>
          <p:cNvPr id="12" name="Rounded Rectangle 11"/>
          <p:cNvSpPr/>
          <p:nvPr/>
        </p:nvSpPr>
        <p:spPr>
          <a:xfrm>
            <a:off x="548640" y="3154680"/>
            <a:ext cx="11094415" cy="21488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351215" y="3456432"/>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err="1">
                <a:solidFill>
                  <a:srgbClr val="4F5A8E"/>
                </a:solidFill>
                <a:latin typeface="Times New Roman"/>
                <a:cs typeface="B Titr"/>
              </a:rPr>
              <a:t>فرضیه‌های</a:t>
            </a:r>
            <a:r>
              <a:rPr lang="fa-IR" sz="2000" b="1" dirty="0">
                <a:solidFill>
                  <a:srgbClr val="4F5A8E"/>
                </a:solidFill>
                <a:latin typeface="Times New Roman"/>
                <a:cs typeface="B Titr"/>
              </a:rPr>
              <a:t> فرعی:</a:t>
            </a:r>
          </a:p>
        </p:txBody>
      </p:sp>
      <p:sp>
        <p:nvSpPr>
          <p:cNvPr id="14" name="TextBox 13"/>
          <p:cNvSpPr txBox="1"/>
          <p:nvPr/>
        </p:nvSpPr>
        <p:spPr>
          <a:xfrm>
            <a:off x="1005840" y="3931920"/>
            <a:ext cx="9259037" cy="1188720"/>
          </a:xfrm>
          <a:prstGeom prst="rect">
            <a:avLst/>
          </a:prstGeom>
          <a:noFill/>
        </p:spPr>
        <p:txBody>
          <a:bodyPr wrap="square" lIns="36576" tIns="18288" rIns="36576" bIns="18288" anchor="t"/>
          <a:lstStyle/>
          <a:p>
            <a:pPr algn="r" rtl="1">
              <a:lnSpc>
                <a:spcPct val="110000"/>
              </a:lnSpc>
              <a:spcAft>
                <a:spcPts val="800"/>
              </a:spcAft>
              <a:defRPr lang="fa-IR">
                <a:cs typeface="B Lotus"/>
              </a:defRPr>
            </a:pPr>
            <a:r>
              <a:rPr lang="fa-IR" sz="2000" b="0" dirty="0">
                <a:solidFill>
                  <a:srgbClr val="22303B"/>
                </a:solidFill>
                <a:latin typeface="Times New Roman"/>
                <a:ea typeface="Times New Roman"/>
                <a:cs typeface="B Lotus"/>
              </a:rPr>
              <a:t>- بین هوش معنوی و اضطراب مرگ در سالمندان رابطه وجود دارد.</a:t>
            </a:r>
          </a:p>
          <a:p>
            <a:pPr algn="r" rtl="1">
              <a:lnSpc>
                <a:spcPct val="110000"/>
              </a:lnSpc>
              <a:spcAft>
                <a:spcPts val="800"/>
              </a:spcAft>
              <a:defRPr lang="fa-IR">
                <a:cs typeface="B Lotus"/>
              </a:defRPr>
            </a:pPr>
            <a:r>
              <a:rPr lang="fa-IR" sz="2000" b="0" dirty="0">
                <a:solidFill>
                  <a:srgbClr val="22303B"/>
                </a:solidFill>
                <a:latin typeface="Times New Roman"/>
                <a:ea typeface="Times New Roman"/>
                <a:cs typeface="B Lotus"/>
              </a:rPr>
              <a:t>- بین اضطراب سلامتی و اضطراب مرگ در سالمندان رابطه وجود دارد.</a:t>
            </a:r>
          </a:p>
        </p:txBody>
      </p:sp>
    </p:spTree>
  </p:cSld>
  <p:clrMapOvr>
    <a:masterClrMapping/>
  </p:clrMapOvr>
  <p:transition spd="med" advTm="23640">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smtClean="0">
                <a:latin typeface="Times New Roman"/>
                <a:cs typeface="B Titr"/>
              </a:rPr>
              <a:t>تعاریف نظری و عملیاتی </a:t>
            </a:r>
            <a:r>
              <a:rPr lang="fa-IR" dirty="0" err="1" smtClean="0">
                <a:latin typeface="Times New Roman"/>
                <a:cs typeface="B Titr"/>
              </a:rPr>
              <a:t>متغیرها</a:t>
            </a:r>
            <a:r>
              <a:rPr lang="fa-IR" dirty="0" smtClean="0">
                <a:latin typeface="Times New Roman"/>
                <a:cs typeface="B Titr"/>
              </a:rPr>
              <a:t> </a:t>
            </a:r>
            <a:endParaRPr lang="fa-IR" dirty="0">
              <a:latin typeface="Times New Roman"/>
              <a:cs typeface="B Titr"/>
            </a:endParaRP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402336" y="1856232"/>
            <a:ext cx="11094415" cy="3037636"/>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030941" y="2013966"/>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B4822F"/>
                </a:solidFill>
                <a:latin typeface="Times New Roman"/>
                <a:cs typeface="B Titr"/>
              </a:rPr>
              <a:t>هوش معنوی:</a:t>
            </a:r>
            <a:endParaRPr lang="fa-IR" sz="2000" b="1" dirty="0">
              <a:solidFill>
                <a:srgbClr val="B4822F"/>
              </a:solidFill>
              <a:latin typeface="Times New Roman"/>
              <a:cs typeface="B Titr"/>
            </a:endParaRPr>
          </a:p>
        </p:txBody>
      </p:sp>
      <p:sp>
        <p:nvSpPr>
          <p:cNvPr id="11" name="TextBox 10"/>
          <p:cNvSpPr txBox="1"/>
          <p:nvPr/>
        </p:nvSpPr>
        <p:spPr>
          <a:xfrm>
            <a:off x="1152917" y="2542032"/>
            <a:ext cx="9259037" cy="2148840"/>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b="0" dirty="0" smtClean="0">
                <a:solidFill>
                  <a:srgbClr val="22303B"/>
                </a:solidFill>
                <a:latin typeface="Times New Roman"/>
                <a:ea typeface="Times New Roman"/>
                <a:cs typeface="B Lotus"/>
              </a:rPr>
              <a:t>کینگ هوش معنوی را </a:t>
            </a:r>
            <a:r>
              <a:rPr lang="fa-IR" sz="2000" b="0" dirty="0" err="1" smtClean="0">
                <a:solidFill>
                  <a:srgbClr val="22303B"/>
                </a:solidFill>
                <a:latin typeface="Times New Roman"/>
                <a:ea typeface="Times New Roman"/>
                <a:cs typeface="B Lotus"/>
              </a:rPr>
              <a:t>مجموعه‌ای</a:t>
            </a:r>
            <a:r>
              <a:rPr lang="fa-IR" sz="2000" b="0" dirty="0" smtClean="0">
                <a:solidFill>
                  <a:srgbClr val="22303B"/>
                </a:solidFill>
                <a:latin typeface="Times New Roman"/>
                <a:ea typeface="Times New Roman"/>
                <a:cs typeface="B Lotus"/>
              </a:rPr>
              <a:t> از </a:t>
            </a:r>
            <a:r>
              <a:rPr lang="fa-IR" sz="2000" b="0" dirty="0" err="1" smtClean="0">
                <a:solidFill>
                  <a:srgbClr val="22303B"/>
                </a:solidFill>
                <a:latin typeface="Times New Roman"/>
                <a:ea typeface="Times New Roman"/>
                <a:cs typeface="B Lotus"/>
              </a:rPr>
              <a:t>ظرفیت‌های</a:t>
            </a:r>
            <a:r>
              <a:rPr lang="fa-IR" sz="2000" b="0" dirty="0" smtClean="0">
                <a:solidFill>
                  <a:srgbClr val="22303B"/>
                </a:solidFill>
                <a:latin typeface="Times New Roman"/>
                <a:ea typeface="Times New Roman"/>
                <a:cs typeface="B Lotus"/>
              </a:rPr>
              <a:t> مبتنی بر </a:t>
            </a:r>
            <a:r>
              <a:rPr lang="fa-IR" sz="2000" b="0" dirty="0" err="1" smtClean="0">
                <a:solidFill>
                  <a:srgbClr val="22303B"/>
                </a:solidFill>
                <a:latin typeface="Times New Roman"/>
                <a:ea typeface="Times New Roman"/>
                <a:cs typeface="B Lotus"/>
              </a:rPr>
              <a:t>جنبه‌های</a:t>
            </a:r>
            <a:r>
              <a:rPr lang="fa-IR" sz="2000" b="0" dirty="0" smtClean="0">
                <a:solidFill>
                  <a:srgbClr val="22303B"/>
                </a:solidFill>
                <a:latin typeface="Times New Roman"/>
                <a:ea typeface="Times New Roman"/>
                <a:cs typeface="B Lotus"/>
              </a:rPr>
              <a:t> غیرمادی و </a:t>
            </a:r>
            <a:r>
              <a:rPr lang="fa-IR" sz="2000" b="0" dirty="0" err="1" smtClean="0">
                <a:solidFill>
                  <a:srgbClr val="22303B"/>
                </a:solidFill>
                <a:latin typeface="Times New Roman"/>
                <a:ea typeface="Times New Roman"/>
                <a:cs typeface="B Lotus"/>
              </a:rPr>
              <a:t>متعالي</a:t>
            </a:r>
            <a:r>
              <a:rPr lang="fa-IR" sz="2000" b="0" dirty="0" smtClean="0">
                <a:solidFill>
                  <a:srgbClr val="22303B"/>
                </a:solidFill>
                <a:latin typeface="Times New Roman"/>
                <a:ea typeface="Times New Roman"/>
                <a:cs typeface="B Lotus"/>
              </a:rPr>
              <a:t> هستی تعریف می کند که شامل چهار </a:t>
            </a:r>
            <a:r>
              <a:rPr lang="fa-IR" sz="2000" b="0" dirty="0" err="1" smtClean="0">
                <a:solidFill>
                  <a:srgbClr val="22303B"/>
                </a:solidFill>
                <a:latin typeface="Times New Roman"/>
                <a:ea typeface="Times New Roman"/>
                <a:cs typeface="B Lotus"/>
              </a:rPr>
              <a:t>مولفه</a:t>
            </a:r>
            <a:r>
              <a:rPr lang="fa-IR" sz="2000" b="0" dirty="0" smtClean="0">
                <a:solidFill>
                  <a:srgbClr val="22303B"/>
                </a:solidFill>
                <a:latin typeface="Times New Roman"/>
                <a:ea typeface="Times New Roman"/>
                <a:cs typeface="B Lotus"/>
              </a:rPr>
              <a:t> است:</a:t>
            </a:r>
          </a:p>
          <a:p>
            <a:pPr marL="809625" lvl="1" algn="r" rtl="1">
              <a:lnSpc>
                <a:spcPct val="110000"/>
              </a:lnSpc>
              <a:defRPr lang="fa-IR">
                <a:cs typeface="B Lotus"/>
              </a:defRPr>
            </a:pPr>
            <a:r>
              <a:rPr lang="fa-IR" sz="2000" dirty="0" smtClean="0">
                <a:solidFill>
                  <a:srgbClr val="22303B"/>
                </a:solidFill>
                <a:latin typeface="Times New Roman"/>
                <a:ea typeface="Times New Roman"/>
                <a:cs typeface="B Lotus"/>
              </a:rPr>
              <a:t>۱- تفکر </a:t>
            </a:r>
            <a:r>
              <a:rPr lang="fa-IR" sz="2000" dirty="0">
                <a:solidFill>
                  <a:srgbClr val="22303B"/>
                </a:solidFill>
                <a:latin typeface="Times New Roman"/>
                <a:ea typeface="Times New Roman"/>
                <a:cs typeface="B Lotus"/>
              </a:rPr>
              <a:t>انتقادی</a:t>
            </a:r>
            <a:r>
              <a:rPr lang="fa-IR" sz="2000" dirty="0" smtClean="0">
                <a:solidFill>
                  <a:srgbClr val="22303B"/>
                </a:solidFill>
                <a:latin typeface="Times New Roman"/>
                <a:ea typeface="Times New Roman"/>
                <a:cs typeface="B Lotus"/>
              </a:rPr>
              <a:t> </a:t>
            </a:r>
            <a:r>
              <a:rPr lang="fa-IR" sz="2000" dirty="0" err="1" smtClean="0">
                <a:solidFill>
                  <a:srgbClr val="22303B"/>
                </a:solidFill>
                <a:latin typeface="Times New Roman"/>
                <a:ea typeface="Times New Roman"/>
                <a:cs typeface="B Lotus"/>
              </a:rPr>
              <a:t>وجودی</a:t>
            </a:r>
            <a:r>
              <a:rPr lang="fa-IR" sz="2000" dirty="0" smtClean="0">
                <a:solidFill>
                  <a:srgbClr val="22303B"/>
                </a:solidFill>
                <a:latin typeface="Times New Roman"/>
                <a:ea typeface="Times New Roman"/>
                <a:cs typeface="B Lotus"/>
              </a:rPr>
              <a:t> </a:t>
            </a:r>
          </a:p>
          <a:p>
            <a:pPr marL="814388" lvl="1" algn="r" rtl="1">
              <a:lnSpc>
                <a:spcPct val="110000"/>
              </a:lnSpc>
              <a:defRPr lang="fa-IR">
                <a:cs typeface="B Lotus"/>
              </a:defRPr>
            </a:pPr>
            <a:r>
              <a:rPr lang="fa-IR" sz="2000" b="0" dirty="0" smtClean="0">
                <a:solidFill>
                  <a:srgbClr val="22303B"/>
                </a:solidFill>
                <a:latin typeface="Times New Roman"/>
                <a:ea typeface="Times New Roman"/>
                <a:cs typeface="B Lotus"/>
              </a:rPr>
              <a:t>۲</a:t>
            </a:r>
            <a:r>
              <a:rPr lang="fa-IR" sz="2000" dirty="0" smtClean="0">
                <a:solidFill>
                  <a:srgbClr val="22303B"/>
                </a:solidFill>
                <a:latin typeface="Times New Roman"/>
                <a:ea typeface="Times New Roman"/>
                <a:cs typeface="B Lotus"/>
              </a:rPr>
              <a:t>- تولید معنی شخصی</a:t>
            </a:r>
          </a:p>
          <a:p>
            <a:pPr marL="814388" lvl="1" algn="r" rtl="1">
              <a:lnSpc>
                <a:spcPct val="110000"/>
              </a:lnSpc>
              <a:defRPr lang="fa-IR">
                <a:cs typeface="B Lotus"/>
              </a:defRPr>
            </a:pPr>
            <a:r>
              <a:rPr lang="fa-IR" sz="2000" dirty="0" smtClean="0">
                <a:solidFill>
                  <a:srgbClr val="22303B"/>
                </a:solidFill>
                <a:latin typeface="Times New Roman"/>
                <a:ea typeface="Times New Roman"/>
                <a:cs typeface="B Lotus"/>
              </a:rPr>
              <a:t>۳- آگاهی متعالی</a:t>
            </a:r>
          </a:p>
          <a:p>
            <a:pPr marL="814388" lvl="1" algn="r" rtl="1">
              <a:lnSpc>
                <a:spcPct val="110000"/>
              </a:lnSpc>
              <a:defRPr lang="fa-IR">
                <a:cs typeface="B Lotus"/>
              </a:defRPr>
            </a:pPr>
            <a:r>
              <a:rPr lang="fa-IR" sz="2000" dirty="0" smtClean="0">
                <a:solidFill>
                  <a:srgbClr val="22303B"/>
                </a:solidFill>
                <a:latin typeface="Times New Roman"/>
                <a:ea typeface="Times New Roman"/>
                <a:cs typeface="B Lotus"/>
              </a:rPr>
              <a:t>۴- گسترش حالتهای هوشیاری و آگاهی </a:t>
            </a:r>
            <a:endParaRPr lang="fa-IR" sz="2000" dirty="0">
              <a:solidFill>
                <a:srgbClr val="22303B"/>
              </a:solidFill>
              <a:latin typeface="Times New Roman"/>
              <a:ea typeface="Times New Roman"/>
              <a:cs typeface="B Lotus"/>
            </a:endParaRPr>
          </a:p>
          <a:p>
            <a:pPr algn="r" rtl="1">
              <a:lnSpc>
                <a:spcPct val="110000"/>
              </a:lnSpc>
              <a:spcAft>
                <a:spcPts val="0"/>
              </a:spcAft>
              <a:defRPr lang="fa-IR">
                <a:cs typeface="B Lotus"/>
              </a:defRPr>
            </a:pPr>
            <a:endParaRPr lang="fa-IR" sz="2000" b="0" dirty="0">
              <a:solidFill>
                <a:srgbClr val="22303B"/>
              </a:solidFill>
              <a:latin typeface="Times New Roman"/>
              <a:ea typeface="Times New Roman"/>
              <a:cs typeface="B Lotus"/>
            </a:endParaRPr>
          </a:p>
        </p:txBody>
      </p:sp>
      <p:sp>
        <p:nvSpPr>
          <p:cNvPr id="13" name="TextBox 12"/>
          <p:cNvSpPr txBox="1"/>
          <p:nvPr/>
        </p:nvSpPr>
        <p:spPr>
          <a:xfrm>
            <a:off x="8351215" y="1097280"/>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4F5A8E"/>
                </a:solidFill>
                <a:latin typeface="Times New Roman"/>
                <a:cs typeface="B Titr"/>
              </a:rPr>
              <a:t>۱- تعاریف نظری :</a:t>
            </a:r>
            <a:endParaRPr lang="fa-IR" sz="2000" b="1" dirty="0">
              <a:solidFill>
                <a:srgbClr val="4F5A8E"/>
              </a:solidFill>
              <a:latin typeface="Times New Roman"/>
              <a:cs typeface="B Titr"/>
            </a:endParaRPr>
          </a:p>
        </p:txBody>
      </p:sp>
    </p:spTree>
    <p:extLst>
      <p:ext uri="{BB962C8B-B14F-4D97-AF65-F5344CB8AC3E}">
        <p14:creationId xmlns:p14="http://schemas.microsoft.com/office/powerpoint/2010/main" val="200759077"/>
      </p:ext>
    </p:extLst>
  </p:cSld>
  <p:clrMapOvr>
    <a:masterClrMapping/>
  </p:clrMapOvr>
  <p:transition spd="med" advTm="23640">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smtClean="0">
                <a:latin typeface="Times New Roman"/>
                <a:cs typeface="B Titr"/>
              </a:rPr>
              <a:t>تعاریف نظری و عملیاتی </a:t>
            </a:r>
            <a:r>
              <a:rPr lang="fa-IR" dirty="0" err="1" smtClean="0">
                <a:latin typeface="Times New Roman"/>
                <a:cs typeface="B Titr"/>
              </a:rPr>
              <a:t>متغیرها</a:t>
            </a:r>
            <a:r>
              <a:rPr lang="fa-IR" dirty="0" smtClean="0">
                <a:latin typeface="Times New Roman"/>
                <a:cs typeface="B Titr"/>
              </a:rPr>
              <a:t> </a:t>
            </a:r>
            <a:endParaRPr lang="fa-IR" dirty="0">
              <a:latin typeface="Times New Roman"/>
              <a:cs typeface="B Titr"/>
            </a:endParaRP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9" name="Rounded Rectangle 8"/>
          <p:cNvSpPr/>
          <p:nvPr/>
        </p:nvSpPr>
        <p:spPr>
          <a:xfrm>
            <a:off x="402336" y="1856232"/>
            <a:ext cx="11094415" cy="1861658"/>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030941" y="2013966"/>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B4822F"/>
                </a:solidFill>
                <a:latin typeface="Times New Roman"/>
                <a:cs typeface="B Titr"/>
              </a:rPr>
              <a:t>اضطراب سلامتی:</a:t>
            </a:r>
            <a:endParaRPr lang="fa-IR" sz="2000" b="1" dirty="0">
              <a:solidFill>
                <a:srgbClr val="B4822F"/>
              </a:solidFill>
              <a:latin typeface="Times New Roman"/>
              <a:cs typeface="B Titr"/>
            </a:endParaRPr>
          </a:p>
        </p:txBody>
      </p:sp>
      <p:sp>
        <p:nvSpPr>
          <p:cNvPr id="11" name="TextBox 10"/>
          <p:cNvSpPr txBox="1"/>
          <p:nvPr/>
        </p:nvSpPr>
        <p:spPr>
          <a:xfrm>
            <a:off x="1152915" y="2554706"/>
            <a:ext cx="9259037" cy="916686"/>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b="0" dirty="0" smtClean="0">
                <a:solidFill>
                  <a:srgbClr val="22303B"/>
                </a:solidFill>
                <a:latin typeface="Times New Roman"/>
                <a:ea typeface="Times New Roman"/>
                <a:cs typeface="B Lotus"/>
              </a:rPr>
              <a:t>نوعی نگرانی و اشتغال ذهنی افراطی و مداوم به یک بیماری جدی یا احتمال ابتلا به آن است که ممکن است حتی در شرایطی که علائم جسمانی قابل توجه یا شواهد پزشکی کافی برای وجود بیماری وجود ندارد ، ادامه یابد .</a:t>
            </a:r>
            <a:endParaRPr lang="fa-IR" sz="2000" b="0" dirty="0">
              <a:solidFill>
                <a:srgbClr val="22303B"/>
              </a:solidFill>
              <a:latin typeface="Times New Roman"/>
              <a:ea typeface="Times New Roman"/>
              <a:cs typeface="B Lotus"/>
            </a:endParaRPr>
          </a:p>
        </p:txBody>
      </p:sp>
      <p:sp>
        <p:nvSpPr>
          <p:cNvPr id="13" name="TextBox 12"/>
          <p:cNvSpPr txBox="1"/>
          <p:nvPr/>
        </p:nvSpPr>
        <p:spPr>
          <a:xfrm>
            <a:off x="8351215" y="1097280"/>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4F5A8E"/>
                </a:solidFill>
                <a:latin typeface="Times New Roman"/>
                <a:cs typeface="B Titr"/>
              </a:rPr>
              <a:t>۱- تعاریف نظری :</a:t>
            </a:r>
            <a:endParaRPr lang="fa-IR" sz="2000" b="1" dirty="0">
              <a:solidFill>
                <a:srgbClr val="4F5A8E"/>
              </a:solidFill>
              <a:latin typeface="Times New Roman"/>
              <a:cs typeface="B Titr"/>
            </a:endParaRPr>
          </a:p>
        </p:txBody>
      </p:sp>
      <p:sp>
        <p:nvSpPr>
          <p:cNvPr id="14" name="Rounded Rectangle 13"/>
          <p:cNvSpPr/>
          <p:nvPr/>
        </p:nvSpPr>
        <p:spPr>
          <a:xfrm>
            <a:off x="235227" y="4125100"/>
            <a:ext cx="11094415" cy="1861658"/>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030941" y="4321394"/>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B4822F"/>
                </a:solidFill>
                <a:latin typeface="Times New Roman"/>
                <a:cs typeface="B Titr"/>
              </a:rPr>
              <a:t>اضطراب مرگ:</a:t>
            </a:r>
            <a:endParaRPr lang="fa-IR" sz="2000" b="1" dirty="0">
              <a:solidFill>
                <a:srgbClr val="B4822F"/>
              </a:solidFill>
              <a:latin typeface="Times New Roman"/>
              <a:cs typeface="B Titr"/>
            </a:endParaRPr>
          </a:p>
        </p:txBody>
      </p:sp>
      <p:sp>
        <p:nvSpPr>
          <p:cNvPr id="16" name="TextBox 15"/>
          <p:cNvSpPr txBox="1"/>
          <p:nvPr/>
        </p:nvSpPr>
        <p:spPr>
          <a:xfrm>
            <a:off x="1310880" y="4924333"/>
            <a:ext cx="9259037" cy="916686"/>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b="0" dirty="0" smtClean="0">
                <a:solidFill>
                  <a:srgbClr val="22303B"/>
                </a:solidFill>
                <a:latin typeface="Times New Roman"/>
                <a:ea typeface="Times New Roman"/>
                <a:cs typeface="B Lotus"/>
              </a:rPr>
              <a:t>به ترس ، نگرانی و اضطراب </a:t>
            </a:r>
            <a:r>
              <a:rPr lang="fa-IR" sz="2000" b="0" dirty="0" err="1" smtClean="0">
                <a:solidFill>
                  <a:srgbClr val="22303B"/>
                </a:solidFill>
                <a:latin typeface="Times New Roman"/>
                <a:ea typeface="Times New Roman"/>
                <a:cs typeface="B Lotus"/>
              </a:rPr>
              <a:t>افراطیو</a:t>
            </a:r>
            <a:r>
              <a:rPr lang="fa-IR" sz="2000" b="0" dirty="0" smtClean="0">
                <a:solidFill>
                  <a:srgbClr val="22303B"/>
                </a:solidFill>
                <a:latin typeface="Times New Roman"/>
                <a:ea typeface="Times New Roman"/>
                <a:cs typeface="B Lotus"/>
              </a:rPr>
              <a:t> غیر منطقی درباره مرگ فرآیند مردن و یا آنچه پس از مرگ رخ می دهد اشاره دارد.</a:t>
            </a:r>
            <a:endParaRPr lang="fa-IR" sz="2000" b="0" dirty="0">
              <a:solidFill>
                <a:srgbClr val="22303B"/>
              </a:solidFill>
              <a:latin typeface="Times New Roman"/>
              <a:ea typeface="Times New Roman"/>
              <a:cs typeface="B Lotus"/>
            </a:endParaRPr>
          </a:p>
        </p:txBody>
      </p:sp>
    </p:spTree>
    <p:extLst>
      <p:ext uri="{BB962C8B-B14F-4D97-AF65-F5344CB8AC3E}">
        <p14:creationId xmlns:p14="http://schemas.microsoft.com/office/powerpoint/2010/main" val="3539444339"/>
      </p:ext>
    </p:extLst>
  </p:cSld>
  <p:clrMapOvr>
    <a:masterClrMapping/>
  </p:clrMapOvr>
  <p:transition spd="med" advTm="23640">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ounded Rectangle 14"/>
          <p:cNvSpPr/>
          <p:nvPr/>
        </p:nvSpPr>
        <p:spPr>
          <a:xfrm>
            <a:off x="402336" y="1593291"/>
            <a:ext cx="11094415" cy="1358892"/>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smtClean="0">
                <a:latin typeface="Times New Roman"/>
                <a:cs typeface="B Titr"/>
              </a:rPr>
              <a:t>تعاریف نظری و عملیاتی </a:t>
            </a:r>
            <a:r>
              <a:rPr lang="fa-IR" dirty="0" err="1" smtClean="0">
                <a:latin typeface="Times New Roman"/>
                <a:cs typeface="B Titr"/>
              </a:rPr>
              <a:t>متغیرها</a:t>
            </a:r>
            <a:r>
              <a:rPr lang="fa-IR" dirty="0" smtClean="0">
                <a:latin typeface="Times New Roman"/>
                <a:cs typeface="B Titr"/>
              </a:rPr>
              <a:t> </a:t>
            </a:r>
            <a:endParaRPr lang="fa-IR" dirty="0">
              <a:latin typeface="Times New Roman"/>
              <a:cs typeface="B Titr"/>
            </a:endParaRPr>
          </a:p>
        </p:txBody>
      </p:sp>
      <p:sp>
        <p:nvSpPr>
          <p:cNvPr id="5" name="Rounded Rectangle 4"/>
          <p:cNvSpPr/>
          <p:nvPr/>
        </p:nvSpPr>
        <p:spPr>
          <a:xfrm>
            <a:off x="548640" y="502920"/>
            <a:ext cx="1641348" cy="365760"/>
          </a:xfrm>
          <a:prstGeom prst="roundRect">
            <a:avLst>
              <a:gd name="adj" fmla="val 50000"/>
            </a:avLst>
          </a:prstGeom>
          <a:solidFill>
            <a:srgbClr val="2A5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مقدمه و کلیات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مقدمه و کلیات</a:t>
            </a:r>
          </a:p>
        </p:txBody>
      </p:sp>
      <p:sp>
        <p:nvSpPr>
          <p:cNvPr id="10" name="TextBox 9"/>
          <p:cNvSpPr txBox="1"/>
          <p:nvPr/>
        </p:nvSpPr>
        <p:spPr>
          <a:xfrm>
            <a:off x="7999522" y="1718166"/>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B4822F"/>
                </a:solidFill>
                <a:latin typeface="Times New Roman"/>
                <a:cs typeface="B Titr"/>
              </a:rPr>
              <a:t>هوش معنوی:</a:t>
            </a:r>
            <a:endParaRPr lang="fa-IR" sz="2000" b="1" dirty="0">
              <a:solidFill>
                <a:srgbClr val="B4822F"/>
              </a:solidFill>
              <a:latin typeface="Times New Roman"/>
              <a:cs typeface="B Titr"/>
            </a:endParaRPr>
          </a:p>
        </p:txBody>
      </p:sp>
      <p:sp>
        <p:nvSpPr>
          <p:cNvPr id="11" name="TextBox 10"/>
          <p:cNvSpPr txBox="1"/>
          <p:nvPr/>
        </p:nvSpPr>
        <p:spPr>
          <a:xfrm>
            <a:off x="1056082" y="2273961"/>
            <a:ext cx="9589172" cy="543285"/>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dirty="0" smtClean="0">
                <a:solidFill>
                  <a:srgbClr val="22303B"/>
                </a:solidFill>
                <a:latin typeface="Times New Roman"/>
                <a:ea typeface="Times New Roman"/>
                <a:cs typeface="B Lotus"/>
              </a:rPr>
              <a:t>در این پژوهش، ن</a:t>
            </a:r>
            <a:r>
              <a:rPr lang="fa-IR" sz="2000" b="0" dirty="0" smtClean="0">
                <a:solidFill>
                  <a:srgbClr val="22303B"/>
                </a:solidFill>
                <a:latin typeface="Times New Roman"/>
                <a:ea typeface="Times New Roman"/>
                <a:cs typeface="B Lotus"/>
              </a:rPr>
              <a:t>مره ای که شرکت کننده از پرسشنامه  هوش معنوی  کینگ که شامل ۲۴ گویه است کسب کرده است.</a:t>
            </a:r>
            <a:endParaRPr lang="fa-IR" sz="2000" dirty="0">
              <a:solidFill>
                <a:srgbClr val="22303B"/>
              </a:solidFill>
              <a:latin typeface="Times New Roman"/>
              <a:ea typeface="Times New Roman"/>
              <a:cs typeface="B Lotus"/>
            </a:endParaRPr>
          </a:p>
          <a:p>
            <a:pPr algn="r" rtl="1">
              <a:lnSpc>
                <a:spcPct val="110000"/>
              </a:lnSpc>
              <a:spcAft>
                <a:spcPts val="0"/>
              </a:spcAft>
              <a:defRPr lang="fa-IR">
                <a:cs typeface="B Lotus"/>
              </a:defRPr>
            </a:pPr>
            <a:endParaRPr lang="fa-IR" sz="2000" b="0" dirty="0">
              <a:solidFill>
                <a:srgbClr val="22303B"/>
              </a:solidFill>
              <a:latin typeface="Times New Roman"/>
              <a:ea typeface="Times New Roman"/>
              <a:cs typeface="B Lotus"/>
            </a:endParaRPr>
          </a:p>
        </p:txBody>
      </p:sp>
      <p:sp>
        <p:nvSpPr>
          <p:cNvPr id="14" name="TextBox 13"/>
          <p:cNvSpPr txBox="1"/>
          <p:nvPr/>
        </p:nvSpPr>
        <p:spPr>
          <a:xfrm>
            <a:off x="8351215" y="1097280"/>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4F5A8E"/>
                </a:solidFill>
                <a:latin typeface="Times New Roman"/>
                <a:cs typeface="B Titr"/>
              </a:rPr>
              <a:t>۲- تعاریف عملیاتی :</a:t>
            </a:r>
            <a:endParaRPr lang="fa-IR" sz="2000" b="1" dirty="0">
              <a:solidFill>
                <a:srgbClr val="4F5A8E"/>
              </a:solidFill>
              <a:latin typeface="Times New Roman"/>
              <a:cs typeface="B Titr"/>
            </a:endParaRPr>
          </a:p>
        </p:txBody>
      </p:sp>
      <p:sp>
        <p:nvSpPr>
          <p:cNvPr id="16" name="Rounded Rectangle 15"/>
          <p:cNvSpPr/>
          <p:nvPr/>
        </p:nvSpPr>
        <p:spPr>
          <a:xfrm>
            <a:off x="402336" y="2982070"/>
            <a:ext cx="11094415" cy="1555386"/>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999522" y="3175653"/>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0070C0"/>
                </a:solidFill>
                <a:latin typeface="Times New Roman"/>
                <a:cs typeface="B Titr"/>
              </a:rPr>
              <a:t>اضطراب سلامتی:</a:t>
            </a:r>
            <a:endParaRPr lang="fa-IR" sz="2000" b="1" dirty="0">
              <a:solidFill>
                <a:srgbClr val="0070C0"/>
              </a:solidFill>
              <a:latin typeface="Times New Roman"/>
              <a:cs typeface="B Titr"/>
            </a:endParaRPr>
          </a:p>
        </p:txBody>
      </p:sp>
      <p:sp>
        <p:nvSpPr>
          <p:cNvPr id="18" name="TextBox 17"/>
          <p:cNvSpPr txBox="1"/>
          <p:nvPr/>
        </p:nvSpPr>
        <p:spPr>
          <a:xfrm>
            <a:off x="1030001" y="3692658"/>
            <a:ext cx="9589172" cy="720366"/>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dirty="0" smtClean="0">
                <a:solidFill>
                  <a:srgbClr val="22303B"/>
                </a:solidFill>
                <a:latin typeface="Times New Roman"/>
                <a:ea typeface="Times New Roman"/>
                <a:cs typeface="B Lotus"/>
              </a:rPr>
              <a:t>در این پژوهش، ن</a:t>
            </a:r>
            <a:r>
              <a:rPr lang="fa-IR" sz="2000" b="0" dirty="0" smtClean="0">
                <a:solidFill>
                  <a:srgbClr val="22303B"/>
                </a:solidFill>
                <a:latin typeface="Times New Roman"/>
                <a:ea typeface="Times New Roman"/>
                <a:cs typeface="B Lotus"/>
              </a:rPr>
              <a:t>مره ای که شرکت کننده از پرسشنامه کوتاه اضطراب سلامتی ۴ </a:t>
            </a:r>
            <a:r>
              <a:rPr lang="fa-IR" sz="2000" b="0" dirty="0" err="1" smtClean="0">
                <a:solidFill>
                  <a:srgbClr val="22303B"/>
                </a:solidFill>
                <a:latin typeface="Times New Roman"/>
                <a:ea typeface="Times New Roman"/>
                <a:cs typeface="B Lotus"/>
              </a:rPr>
              <a:t>سالکووسکیس</a:t>
            </a:r>
            <a:r>
              <a:rPr lang="fa-IR" sz="2000" b="0" dirty="0" smtClean="0">
                <a:solidFill>
                  <a:srgbClr val="22303B"/>
                </a:solidFill>
                <a:latin typeface="Times New Roman"/>
                <a:ea typeface="Times New Roman"/>
                <a:cs typeface="B Lotus"/>
              </a:rPr>
              <a:t> که شامل ۱۸ گویه است کسب کرده است.</a:t>
            </a:r>
            <a:endParaRPr lang="fa-IR" sz="2000" dirty="0">
              <a:solidFill>
                <a:srgbClr val="22303B"/>
              </a:solidFill>
              <a:latin typeface="Times New Roman"/>
              <a:ea typeface="Times New Roman"/>
              <a:cs typeface="B Lotus"/>
            </a:endParaRPr>
          </a:p>
          <a:p>
            <a:pPr algn="r" rtl="1">
              <a:lnSpc>
                <a:spcPct val="110000"/>
              </a:lnSpc>
              <a:spcAft>
                <a:spcPts val="0"/>
              </a:spcAft>
              <a:defRPr lang="fa-IR">
                <a:cs typeface="B Lotus"/>
              </a:defRPr>
            </a:pPr>
            <a:endParaRPr lang="fa-IR" sz="2000" b="0" dirty="0">
              <a:solidFill>
                <a:srgbClr val="22303B"/>
              </a:solidFill>
              <a:latin typeface="Times New Roman"/>
              <a:ea typeface="Times New Roman"/>
              <a:cs typeface="B Lotus"/>
            </a:endParaRPr>
          </a:p>
        </p:txBody>
      </p:sp>
      <p:sp>
        <p:nvSpPr>
          <p:cNvPr id="19" name="Rounded Rectangle 18"/>
          <p:cNvSpPr/>
          <p:nvPr/>
        </p:nvSpPr>
        <p:spPr>
          <a:xfrm>
            <a:off x="402336" y="4567344"/>
            <a:ext cx="11094415" cy="1555386"/>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999522" y="4692219"/>
            <a:ext cx="2743200" cy="457200"/>
          </a:xfrm>
          <a:prstGeom prst="rect">
            <a:avLst/>
          </a:prstGeom>
          <a:noFill/>
        </p:spPr>
        <p:txBody>
          <a:bodyPr wrap="square" lIns="36576" tIns="18288" rIns="36576" bIns="18288" anchor="t"/>
          <a:lstStyle/>
          <a:p>
            <a:pPr algn="r" rtl="1">
              <a:lnSpc>
                <a:spcPct val="115000"/>
              </a:lnSpc>
              <a:spcAft>
                <a:spcPts val="0"/>
              </a:spcAft>
              <a:defRPr lang="fa-IR">
                <a:cs typeface="B Lotus"/>
              </a:defRPr>
            </a:pPr>
            <a:r>
              <a:rPr lang="fa-IR" sz="2000" b="1" dirty="0" smtClean="0">
                <a:solidFill>
                  <a:srgbClr val="C00000"/>
                </a:solidFill>
                <a:latin typeface="Times New Roman"/>
                <a:cs typeface="B Titr"/>
              </a:rPr>
              <a:t>اضطراب مرگ:</a:t>
            </a:r>
            <a:endParaRPr lang="fa-IR" sz="2000" b="1" dirty="0">
              <a:solidFill>
                <a:srgbClr val="C00000"/>
              </a:solidFill>
              <a:latin typeface="Times New Roman"/>
              <a:cs typeface="B Titr"/>
            </a:endParaRPr>
          </a:p>
        </p:txBody>
      </p:sp>
      <p:sp>
        <p:nvSpPr>
          <p:cNvPr id="21" name="TextBox 20"/>
          <p:cNvSpPr txBox="1"/>
          <p:nvPr/>
        </p:nvSpPr>
        <p:spPr>
          <a:xfrm>
            <a:off x="1030001" y="5209224"/>
            <a:ext cx="9589172" cy="720366"/>
          </a:xfrm>
          <a:prstGeom prst="rect">
            <a:avLst/>
          </a:prstGeom>
          <a:noFill/>
        </p:spPr>
        <p:txBody>
          <a:bodyPr wrap="square" lIns="36576" tIns="18288" rIns="36576" bIns="18288" anchor="t"/>
          <a:lstStyle/>
          <a:p>
            <a:pPr marL="342900" indent="-342900" algn="r" rtl="1">
              <a:lnSpc>
                <a:spcPct val="110000"/>
              </a:lnSpc>
              <a:spcAft>
                <a:spcPts val="0"/>
              </a:spcAft>
              <a:buFontTx/>
              <a:buChar char="-"/>
              <a:defRPr lang="fa-IR">
                <a:cs typeface="B Lotus"/>
              </a:defRPr>
            </a:pPr>
            <a:r>
              <a:rPr lang="fa-IR" sz="2000" dirty="0" smtClean="0">
                <a:solidFill>
                  <a:srgbClr val="22303B"/>
                </a:solidFill>
                <a:latin typeface="Times New Roman"/>
                <a:ea typeface="Times New Roman"/>
                <a:cs typeface="B Lotus"/>
              </a:rPr>
              <a:t>در این پژوهش، ن</a:t>
            </a:r>
            <a:r>
              <a:rPr lang="fa-IR" sz="2000" b="0" dirty="0" smtClean="0">
                <a:solidFill>
                  <a:srgbClr val="22303B"/>
                </a:solidFill>
                <a:latin typeface="Times New Roman"/>
                <a:ea typeface="Times New Roman"/>
                <a:cs typeface="B Lotus"/>
              </a:rPr>
              <a:t>مره ای که شرکت کننده از پرسشنامه اضطراب مرگ ۳ </a:t>
            </a:r>
            <a:r>
              <a:rPr lang="fa-IR" sz="2000" b="0" dirty="0" err="1" smtClean="0">
                <a:solidFill>
                  <a:srgbClr val="22303B"/>
                </a:solidFill>
                <a:latin typeface="Times New Roman"/>
                <a:ea typeface="Times New Roman"/>
                <a:cs typeface="B Lotus"/>
              </a:rPr>
              <a:t>تمپلر</a:t>
            </a:r>
            <a:r>
              <a:rPr lang="fa-IR" sz="2000" b="0" dirty="0" smtClean="0">
                <a:solidFill>
                  <a:srgbClr val="22303B"/>
                </a:solidFill>
                <a:latin typeface="Times New Roman"/>
                <a:ea typeface="Times New Roman"/>
                <a:cs typeface="B Lotus"/>
              </a:rPr>
              <a:t> شامل ۱۵گویه است کسب کرده است.</a:t>
            </a:r>
            <a:endParaRPr lang="fa-IR" sz="2000" dirty="0">
              <a:solidFill>
                <a:srgbClr val="22303B"/>
              </a:solidFill>
              <a:latin typeface="Times New Roman"/>
              <a:ea typeface="Times New Roman"/>
              <a:cs typeface="B Lotus"/>
            </a:endParaRPr>
          </a:p>
          <a:p>
            <a:pPr algn="r" rtl="1">
              <a:lnSpc>
                <a:spcPct val="110000"/>
              </a:lnSpc>
              <a:spcAft>
                <a:spcPts val="0"/>
              </a:spcAft>
              <a:defRPr lang="fa-IR">
                <a:cs typeface="B Lotus"/>
              </a:defRPr>
            </a:pPr>
            <a:endParaRPr lang="fa-IR" sz="2000" b="0" dirty="0">
              <a:solidFill>
                <a:srgbClr val="22303B"/>
              </a:solidFill>
              <a:latin typeface="Times New Roman"/>
              <a:ea typeface="Times New Roman"/>
              <a:cs typeface="B Lotus"/>
            </a:endParaRPr>
          </a:p>
        </p:txBody>
      </p:sp>
    </p:spTree>
    <p:extLst>
      <p:ext uri="{BB962C8B-B14F-4D97-AF65-F5344CB8AC3E}">
        <p14:creationId xmlns:p14="http://schemas.microsoft.com/office/powerpoint/2010/main" val="4218555282"/>
      </p:ext>
    </p:extLst>
  </p:cSld>
  <p:clrMapOvr>
    <a:masterClrMapping/>
  </p:clrMapOvr>
  <p:transition spd="med" advTm="23640">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48640" y="1737360"/>
            <a:ext cx="4754880" cy="3291840"/>
          </a:xfrm>
          <a:prstGeom prst="rect">
            <a:avLst/>
          </a:prstGeom>
          <a:noFill/>
        </p:spPr>
        <p:txBody>
          <a:bodyPr wrap="square" lIns="36576" tIns="18288" rIns="36576" bIns="18288" anchor="ctr"/>
          <a:lstStyle/>
          <a:p>
            <a:pPr algn="l" rtl="1">
              <a:defRPr lang="fa-IR" sz="19000" b="1">
                <a:solidFill>
                  <a:srgbClr val="274A6B"/>
                </a:solidFill>
                <a:latin typeface="Times New Roman"/>
                <a:ea typeface="Times New Roman"/>
                <a:cs typeface="B Titr"/>
              </a:defRPr>
            </a:pPr>
            <a:r>
              <a:rPr lang="fa-IR">
                <a:latin typeface="Times New Roman"/>
                <a:cs typeface="B Titr"/>
              </a:rPr>
              <a:t>۲</a:t>
            </a:r>
          </a:p>
        </p:txBody>
      </p:sp>
      <p:sp>
        <p:nvSpPr>
          <p:cNvPr id="4" name="Rectangle 3"/>
          <p:cNvSpPr/>
          <p:nvPr/>
        </p:nvSpPr>
        <p:spPr>
          <a:xfrm>
            <a:off x="7711135" y="2487168"/>
            <a:ext cx="3383280" cy="45720"/>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2697480"/>
            <a:ext cx="11094415" cy="1143000"/>
          </a:xfrm>
          <a:prstGeom prst="rect">
            <a:avLst/>
          </a:prstGeom>
          <a:noFill/>
        </p:spPr>
        <p:txBody>
          <a:bodyPr wrap="square" lIns="36576" tIns="18288" rIns="36576" bIns="18288" anchor="ctr"/>
          <a:lstStyle/>
          <a:p>
            <a:pPr algn="r" rtl="1">
              <a:defRPr lang="fa-IR" sz="4600" b="1">
                <a:solidFill>
                  <a:srgbClr val="FFFFFF"/>
                </a:solidFill>
                <a:latin typeface="Times New Roman"/>
                <a:ea typeface="Times New Roman"/>
                <a:cs typeface="B Titr"/>
              </a:defRPr>
            </a:pPr>
            <a:r>
              <a:rPr lang="fa-IR">
                <a:latin typeface="Times New Roman"/>
                <a:cs typeface="B Titr"/>
              </a:rPr>
              <a:t>مبانی و پیشینه</a:t>
            </a:r>
          </a:p>
        </p:txBody>
      </p:sp>
      <p:sp>
        <p:nvSpPr>
          <p:cNvPr id="6" name="Rectangle 5"/>
          <p:cNvSpPr/>
          <p:nvPr/>
        </p:nvSpPr>
        <p:spPr>
          <a:xfrm>
            <a:off x="9533900"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533900"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مقدمه و کلیات</a:t>
            </a:r>
          </a:p>
        </p:txBody>
      </p:sp>
      <p:sp>
        <p:nvSpPr>
          <p:cNvPr id="8" name="Rectangle 7"/>
          <p:cNvSpPr/>
          <p:nvPr/>
        </p:nvSpPr>
        <p:spPr>
          <a:xfrm>
            <a:off x="7315017" y="5504688"/>
            <a:ext cx="1999427" cy="32004"/>
          </a:xfrm>
          <a:prstGeom prst="rect">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017" y="5632704"/>
            <a:ext cx="1999427" cy="457200"/>
          </a:xfrm>
          <a:prstGeom prst="rect">
            <a:avLst/>
          </a:prstGeom>
          <a:noFill/>
        </p:spPr>
        <p:txBody>
          <a:bodyPr wrap="square" lIns="36576" tIns="18288" rIns="36576" bIns="18288" anchor="t"/>
          <a:lstStyle/>
          <a:p>
            <a:pPr algn="ctr" rtl="1">
              <a:defRPr lang="fa-IR" sz="1250" b="1">
                <a:solidFill>
                  <a:srgbClr val="FFFFFF"/>
                </a:solidFill>
                <a:latin typeface="Times New Roman"/>
                <a:ea typeface="Times New Roman"/>
                <a:cs typeface="B Titr"/>
              </a:defRPr>
            </a:pPr>
            <a:r>
              <a:rPr lang="fa-IR">
                <a:latin typeface="Times New Roman"/>
                <a:cs typeface="B Lotus"/>
              </a:rPr>
              <a:t>مبانی و پیشینه</a:t>
            </a:r>
          </a:p>
        </p:txBody>
      </p:sp>
      <p:sp>
        <p:nvSpPr>
          <p:cNvPr id="10" name="Rectangle 9"/>
          <p:cNvSpPr/>
          <p:nvPr/>
        </p:nvSpPr>
        <p:spPr>
          <a:xfrm>
            <a:off x="5096134"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096134"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روش شناسی</a:t>
            </a:r>
          </a:p>
        </p:txBody>
      </p:sp>
      <p:sp>
        <p:nvSpPr>
          <p:cNvPr id="12" name="Rectangle 11"/>
          <p:cNvSpPr/>
          <p:nvPr/>
        </p:nvSpPr>
        <p:spPr>
          <a:xfrm>
            <a:off x="2877251"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77251"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نتایج و بحث</a:t>
            </a:r>
          </a:p>
        </p:txBody>
      </p:sp>
      <p:sp>
        <p:nvSpPr>
          <p:cNvPr id="14" name="Rectangle 13"/>
          <p:cNvSpPr/>
          <p:nvPr/>
        </p:nvSpPr>
        <p:spPr>
          <a:xfrm>
            <a:off x="658368"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58368"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نتیجه گیری و پیشنهادات</a:t>
            </a:r>
          </a:p>
        </p:txBody>
      </p:sp>
    </p:spTree>
  </p:cSld>
  <p:clrMapOvr>
    <a:masterClrMapping/>
  </p:clrMapOvr>
  <p:transition spd="slow" advTm="650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پیشینه تحقیق داخلی</a:t>
            </a:r>
          </a:p>
        </p:txBody>
      </p:sp>
      <p:sp>
        <p:nvSpPr>
          <p:cNvPr id="5" name="Rounded Rectangle 4"/>
          <p:cNvSpPr/>
          <p:nvPr/>
        </p:nvSpPr>
        <p:spPr>
          <a:xfrm>
            <a:off x="548640" y="502920"/>
            <a:ext cx="1746504" cy="365760"/>
          </a:xfrm>
          <a:prstGeom prst="roundRect">
            <a:avLst>
              <a:gd name="adj" fmla="val 50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مبانی و پیشینه</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۶</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مبانی و پیشینه</a:t>
            </a:r>
          </a:p>
        </p:txBody>
      </p:sp>
      <p:sp>
        <p:nvSpPr>
          <p:cNvPr id="9" name="Rounded Rectangle 8"/>
          <p:cNvSpPr/>
          <p:nvPr/>
        </p:nvSpPr>
        <p:spPr>
          <a:xfrm>
            <a:off x="6233008" y="1463040"/>
            <a:ext cx="5410047" cy="41148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6287872" y="1517904"/>
            <a:ext cx="5300319" cy="841248"/>
          </a:xfrm>
          <a:prstGeom prst="roundRect">
            <a:avLst>
              <a:gd name="adj" fmla="val 12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r" rtl="1">
              <a:defRPr lang="fa-IR" sz="1100">
                <a:solidFill>
                  <a:srgbClr val="E4DEEE"/>
                </a:solidFill>
                <a:latin typeface="Times New Roman"/>
                <a:ea typeface="Times New Roman"/>
                <a:cs typeface="B Lotus"/>
              </a:defRPr>
            </a:pPr>
            <a:r>
              <a:rPr lang="fa-IR" dirty="0">
                <a:latin typeface="Times New Roman"/>
                <a:cs typeface="B Lotus"/>
              </a:rPr>
              <a:t>نویسنده</a:t>
            </a:r>
          </a:p>
          <a:p>
            <a:pPr algn="r" rtl="1">
              <a:defRPr lang="fa-IR" sz="1550" b="1">
                <a:solidFill>
                  <a:srgbClr val="FFFFFF"/>
                </a:solidFill>
                <a:latin typeface="Times New Roman"/>
                <a:ea typeface="Times New Roman"/>
                <a:cs typeface="B Titr"/>
              </a:defRPr>
            </a:pPr>
            <a:r>
              <a:rPr lang="fa-IR" dirty="0" err="1">
                <a:latin typeface="Times New Roman"/>
                <a:cs typeface="B Lotus"/>
              </a:rPr>
              <a:t>یوسفی‌افراشته</a:t>
            </a:r>
            <a:r>
              <a:rPr lang="fa-IR" dirty="0">
                <a:latin typeface="Times New Roman"/>
                <a:cs typeface="B Lotus"/>
              </a:rPr>
              <a:t>، </a:t>
            </a:r>
            <a:r>
              <a:rPr lang="fa-IR" dirty="0" err="1">
                <a:latin typeface="Times New Roman"/>
                <a:cs typeface="B Lotus"/>
              </a:rPr>
              <a:t>فرتاش</a:t>
            </a:r>
            <a:r>
              <a:rPr lang="fa-IR" dirty="0">
                <a:latin typeface="Times New Roman"/>
                <a:cs typeface="B Lotus"/>
              </a:rPr>
              <a:t> و </a:t>
            </a:r>
            <a:r>
              <a:rPr lang="fa-IR" dirty="0" err="1">
                <a:latin typeface="Times New Roman"/>
                <a:cs typeface="B Lotus"/>
              </a:rPr>
              <a:t>ابوترابی</a:t>
            </a:r>
            <a:r>
              <a:rPr lang="fa-IR" dirty="0">
                <a:latin typeface="Times New Roman"/>
                <a:cs typeface="B Lotus"/>
              </a:rPr>
              <a:t> (۱۴۰۴)</a:t>
            </a:r>
          </a:p>
        </p:txBody>
      </p:sp>
      <p:sp>
        <p:nvSpPr>
          <p:cNvPr id="11" name="TextBox 10"/>
          <p:cNvSpPr txBox="1"/>
          <p:nvPr/>
        </p:nvSpPr>
        <p:spPr>
          <a:xfrm>
            <a:off x="6507328" y="2542032"/>
            <a:ext cx="4861407" cy="2743200"/>
          </a:xfrm>
          <a:prstGeom prst="rect">
            <a:avLst/>
          </a:prstGeom>
          <a:noFill/>
        </p:spPr>
        <p:txBody>
          <a:bodyPr wrap="square" lIns="36576" tIns="18288" rIns="36576" bIns="18288" anchor="t"/>
          <a:lstStyle/>
          <a:p>
            <a:pPr algn="just" rtl="1">
              <a:lnSpc>
                <a:spcPct val="120000"/>
              </a:lnSpc>
              <a:spcAft>
                <a:spcPts val="900"/>
              </a:spcAft>
              <a:defRPr lang="fa-IR">
                <a:cs typeface="B Lotus"/>
              </a:defRPr>
            </a:pPr>
            <a:r>
              <a:rPr lang="fa-IR" sz="2000" b="0" dirty="0">
                <a:solidFill>
                  <a:srgbClr val="22303B"/>
                </a:solidFill>
                <a:latin typeface="Arial"/>
                <a:ea typeface="Arial"/>
                <a:cs typeface="B Lotus"/>
              </a:rPr>
              <a:t>بین هوش معنوی و اضطراب مرگ رابطه منفی و معنادار وجود دارد و معنای زندگی و </a:t>
            </a:r>
            <a:r>
              <a:rPr lang="fa-IR" sz="2000" b="0" dirty="0" err="1">
                <a:solidFill>
                  <a:srgbClr val="22303B"/>
                </a:solidFill>
                <a:latin typeface="Arial"/>
                <a:ea typeface="Arial"/>
                <a:cs typeface="B Lotus"/>
              </a:rPr>
              <a:t>تاب‌آوری</a:t>
            </a:r>
            <a:r>
              <a:rPr lang="fa-IR" sz="2000" b="0" dirty="0">
                <a:solidFill>
                  <a:srgbClr val="22303B"/>
                </a:solidFill>
                <a:latin typeface="Arial"/>
                <a:ea typeface="Arial"/>
                <a:cs typeface="B Lotus"/>
              </a:rPr>
              <a:t> در این رابطه نقش میانجی ایفا </a:t>
            </a:r>
            <a:r>
              <a:rPr lang="fa-IR" sz="2000" b="0" dirty="0" err="1">
                <a:solidFill>
                  <a:srgbClr val="22303B"/>
                </a:solidFill>
                <a:latin typeface="Arial"/>
                <a:ea typeface="Arial"/>
                <a:cs typeface="B Lotus"/>
              </a:rPr>
              <a:t>می‌کنند</a:t>
            </a:r>
            <a:r>
              <a:rPr lang="fa-IR" sz="2000" b="0" dirty="0">
                <a:solidFill>
                  <a:srgbClr val="22303B"/>
                </a:solidFill>
                <a:latin typeface="Arial"/>
                <a:ea typeface="Arial"/>
                <a:cs typeface="B Lotus"/>
              </a:rPr>
              <a:t>؛ </a:t>
            </a:r>
            <a:r>
              <a:rPr lang="fa-IR" sz="2000" b="0" dirty="0" err="1">
                <a:solidFill>
                  <a:srgbClr val="22303B"/>
                </a:solidFill>
                <a:latin typeface="Arial"/>
                <a:ea typeface="Arial"/>
                <a:cs typeface="B Lotus"/>
              </a:rPr>
              <a:t>به‌عبارت‌دیگر</a:t>
            </a:r>
            <a:r>
              <a:rPr lang="fa-IR" sz="2000" b="0" dirty="0">
                <a:solidFill>
                  <a:srgbClr val="22303B"/>
                </a:solidFill>
                <a:latin typeface="Arial"/>
                <a:ea typeface="Arial"/>
                <a:cs typeface="B Lotus"/>
              </a:rPr>
              <a:t>، </a:t>
            </a:r>
            <a:r>
              <a:rPr lang="fa-IR" sz="2000" b="0" dirty="0" err="1">
                <a:solidFill>
                  <a:srgbClr val="22303B"/>
                </a:solidFill>
                <a:latin typeface="Arial"/>
                <a:ea typeface="Arial"/>
                <a:cs typeface="B Lotus"/>
              </a:rPr>
              <a:t>سالمندانی</a:t>
            </a:r>
            <a:r>
              <a:rPr lang="fa-IR" sz="2000" b="0" dirty="0">
                <a:solidFill>
                  <a:srgbClr val="22303B"/>
                </a:solidFill>
                <a:latin typeface="Arial"/>
                <a:ea typeface="Arial"/>
                <a:cs typeface="B Lotus"/>
              </a:rPr>
              <a:t> که از هوش معنوی بالاتری برخوردار بودند، اضطراب مرگ کمتری را تجربه کردند.</a:t>
            </a:r>
          </a:p>
        </p:txBody>
      </p:sp>
      <p:sp>
        <p:nvSpPr>
          <p:cNvPr id="12" name="Rounded Rectangle 11"/>
          <p:cNvSpPr/>
          <p:nvPr/>
        </p:nvSpPr>
        <p:spPr>
          <a:xfrm>
            <a:off x="548640" y="1463040"/>
            <a:ext cx="5410047" cy="41148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603504" y="1517904"/>
            <a:ext cx="5300319" cy="841248"/>
          </a:xfrm>
          <a:prstGeom prst="roundRect">
            <a:avLst>
              <a:gd name="adj" fmla="val 12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r" rtl="1">
              <a:defRPr lang="fa-IR" sz="1100">
                <a:solidFill>
                  <a:srgbClr val="E4DEEE"/>
                </a:solidFill>
                <a:latin typeface="Times New Roman"/>
                <a:ea typeface="Times New Roman"/>
                <a:cs typeface="B Lotus"/>
              </a:defRPr>
            </a:pPr>
            <a:r>
              <a:rPr lang="fa-IR">
                <a:latin typeface="Times New Roman"/>
                <a:cs typeface="B Lotus"/>
              </a:rPr>
              <a:t>نویسنده</a:t>
            </a:r>
          </a:p>
          <a:p>
            <a:pPr algn="r" rtl="1">
              <a:defRPr lang="fa-IR" sz="1550" b="1">
                <a:solidFill>
                  <a:srgbClr val="FFFFFF"/>
                </a:solidFill>
                <a:latin typeface="Times New Roman"/>
                <a:ea typeface="Times New Roman"/>
                <a:cs typeface="B Titr"/>
              </a:defRPr>
            </a:pPr>
            <a:r>
              <a:rPr lang="fa-IR">
                <a:latin typeface="Times New Roman"/>
                <a:cs typeface="B Lotus"/>
              </a:rPr>
              <a:t>سلمانی و ذوقی (۱۴۰۱)</a:t>
            </a:r>
          </a:p>
        </p:txBody>
      </p:sp>
      <p:sp>
        <p:nvSpPr>
          <p:cNvPr id="14" name="TextBox 13"/>
          <p:cNvSpPr txBox="1"/>
          <p:nvPr/>
        </p:nvSpPr>
        <p:spPr>
          <a:xfrm>
            <a:off x="822960" y="2542032"/>
            <a:ext cx="4861407" cy="2743200"/>
          </a:xfrm>
          <a:prstGeom prst="rect">
            <a:avLst/>
          </a:prstGeom>
          <a:noFill/>
        </p:spPr>
        <p:txBody>
          <a:bodyPr wrap="square" lIns="36576" tIns="18288" rIns="36576" bIns="18288" anchor="t"/>
          <a:lstStyle/>
          <a:p>
            <a:pPr algn="just" rtl="1">
              <a:lnSpc>
                <a:spcPct val="120000"/>
              </a:lnSpc>
              <a:spcAft>
                <a:spcPts val="900"/>
              </a:spcAft>
              <a:defRPr lang="fa-IR">
                <a:cs typeface="B Lotus"/>
              </a:defRPr>
            </a:pPr>
            <a:r>
              <a:rPr lang="fa-IR" sz="2000" b="0" dirty="0">
                <a:solidFill>
                  <a:srgbClr val="22303B"/>
                </a:solidFill>
                <a:latin typeface="Arial"/>
                <a:ea typeface="Arial"/>
                <a:cs typeface="B Lotus"/>
              </a:rPr>
              <a:t>هوش معنوی با اضطراب مرگ سالمندان رابطه منفی دارد و </a:t>
            </a:r>
            <a:r>
              <a:rPr lang="fa-IR" sz="2000" b="0" dirty="0" err="1">
                <a:solidFill>
                  <a:srgbClr val="22303B"/>
                </a:solidFill>
                <a:latin typeface="Arial"/>
                <a:ea typeface="Arial"/>
                <a:cs typeface="B Lotus"/>
              </a:rPr>
              <a:t>ذهن‌آگاهی</a:t>
            </a:r>
            <a:r>
              <a:rPr lang="fa-IR" sz="2000" b="0" dirty="0">
                <a:solidFill>
                  <a:srgbClr val="22303B"/>
                </a:solidFill>
                <a:latin typeface="Arial"/>
                <a:ea typeface="Arial"/>
                <a:cs typeface="B Lotus"/>
              </a:rPr>
              <a:t> این رابطه را </a:t>
            </a:r>
            <a:r>
              <a:rPr lang="fa-IR" sz="2000" b="0" dirty="0" err="1">
                <a:solidFill>
                  <a:srgbClr val="22303B"/>
                </a:solidFill>
                <a:latin typeface="Arial"/>
                <a:ea typeface="Arial"/>
                <a:cs typeface="B Lotus"/>
              </a:rPr>
              <a:t>میانجی‌گری</a:t>
            </a:r>
            <a:r>
              <a:rPr lang="fa-IR" sz="2000" b="0" dirty="0">
                <a:solidFill>
                  <a:srgbClr val="22303B"/>
                </a:solidFill>
                <a:latin typeface="Arial"/>
                <a:ea typeface="Arial"/>
                <a:cs typeface="B Lotus"/>
              </a:rPr>
              <a:t> </a:t>
            </a:r>
            <a:r>
              <a:rPr lang="fa-IR" sz="2000" b="0" dirty="0" err="1">
                <a:solidFill>
                  <a:srgbClr val="22303B"/>
                </a:solidFill>
                <a:latin typeface="Arial"/>
                <a:ea typeface="Arial"/>
                <a:cs typeface="B Lotus"/>
              </a:rPr>
              <a:t>می‌کند</a:t>
            </a:r>
            <a:r>
              <a:rPr lang="fa-IR" sz="2000" b="0" dirty="0">
                <a:solidFill>
                  <a:srgbClr val="22303B"/>
                </a:solidFill>
                <a:latin typeface="Arial"/>
                <a:ea typeface="Arial"/>
                <a:cs typeface="B Lotus"/>
              </a:rPr>
              <a:t>.</a:t>
            </a:r>
          </a:p>
        </p:txBody>
      </p:sp>
    </p:spTree>
  </p:cSld>
  <p:clrMapOvr>
    <a:masterClrMapping/>
  </p:clrMapOvr>
  <p:transition spd="med" advTm="31320">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پیشینه تحقیق خارجی</a:t>
            </a:r>
          </a:p>
        </p:txBody>
      </p:sp>
      <p:sp>
        <p:nvSpPr>
          <p:cNvPr id="5" name="Rounded Rectangle 4"/>
          <p:cNvSpPr/>
          <p:nvPr/>
        </p:nvSpPr>
        <p:spPr>
          <a:xfrm>
            <a:off x="548640" y="502920"/>
            <a:ext cx="1746504" cy="365760"/>
          </a:xfrm>
          <a:prstGeom prst="roundRect">
            <a:avLst>
              <a:gd name="adj" fmla="val 50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مبانی و پیشینه</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۷</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مبانی و پیشینه</a:t>
            </a:r>
          </a:p>
        </p:txBody>
      </p:sp>
      <p:sp>
        <p:nvSpPr>
          <p:cNvPr id="9" name="Rounded Rectangle 8"/>
          <p:cNvSpPr/>
          <p:nvPr/>
        </p:nvSpPr>
        <p:spPr>
          <a:xfrm>
            <a:off x="6233008" y="1463040"/>
            <a:ext cx="5410047" cy="41148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6287872" y="1517904"/>
            <a:ext cx="5300319" cy="841248"/>
          </a:xfrm>
          <a:prstGeom prst="roundRect">
            <a:avLst>
              <a:gd name="adj" fmla="val 12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r" rtl="1">
              <a:defRPr lang="fa-IR" sz="1100">
                <a:solidFill>
                  <a:srgbClr val="E4DEEE"/>
                </a:solidFill>
                <a:latin typeface="Times New Roman"/>
                <a:ea typeface="Times New Roman"/>
                <a:cs typeface="B Lotus"/>
              </a:defRPr>
            </a:pPr>
            <a:r>
              <a:rPr lang="fa-IR">
                <a:latin typeface="Times New Roman"/>
                <a:cs typeface="B Lotus"/>
              </a:rPr>
              <a:t>نویسنده</a:t>
            </a:r>
          </a:p>
          <a:p>
            <a:pPr algn="r" rtl="1">
              <a:defRPr lang="fa-IR" sz="1550" b="1">
                <a:solidFill>
                  <a:srgbClr val="FFFFFF"/>
                </a:solidFill>
                <a:latin typeface="Times New Roman"/>
                <a:ea typeface="Times New Roman"/>
                <a:cs typeface="B Titr"/>
              </a:defRPr>
            </a:pPr>
            <a:r>
              <a:rPr lang="fa-IR">
                <a:latin typeface="Times New Roman"/>
                <a:cs typeface="B Lotus"/>
              </a:rPr>
              <a:t>لو، یانگ و ما در سال (۲۰۲۵)</a:t>
            </a:r>
          </a:p>
        </p:txBody>
      </p:sp>
      <p:sp>
        <p:nvSpPr>
          <p:cNvPr id="11" name="TextBox 10"/>
          <p:cNvSpPr txBox="1"/>
          <p:nvPr/>
        </p:nvSpPr>
        <p:spPr>
          <a:xfrm>
            <a:off x="6507328" y="2542032"/>
            <a:ext cx="4861407" cy="2743200"/>
          </a:xfrm>
          <a:prstGeom prst="rect">
            <a:avLst/>
          </a:prstGeom>
          <a:noFill/>
        </p:spPr>
        <p:txBody>
          <a:bodyPr wrap="square" lIns="36576" tIns="18288" rIns="36576" bIns="18288" anchor="t"/>
          <a:lstStyle/>
          <a:p>
            <a:pPr algn="r" rtl="1">
              <a:lnSpc>
                <a:spcPct val="120000"/>
              </a:lnSpc>
              <a:spcAft>
                <a:spcPts val="900"/>
              </a:spcAft>
              <a:defRPr lang="fa-IR">
                <a:cs typeface="B Lotus"/>
              </a:defRPr>
            </a:pPr>
            <a:r>
              <a:rPr lang="fa-IR" sz="1500" b="0">
                <a:solidFill>
                  <a:srgbClr val="22303B"/>
                </a:solidFill>
                <a:latin typeface="Arial"/>
                <a:ea typeface="Arial"/>
                <a:cs typeface="B Lotus"/>
              </a:rPr>
              <a:t>مداخلات روان‌شناختی مختلف می‌توانند اضطراب مرگ سالمندان را کاهش دهند. در میان روش‌های بررسی‌شده، آموزش مؤلفه‌های مرتبط با هوش معنوی بیشترین رتبه اثربخشی را در کاهش اضطراب مرگ سالمندان به دست آورد. این یافته به‌طور مستقیم از اهمیت هوش معنوی در کاهش اضطراب مرگ سالمندان حمایت می‌کند.</a:t>
            </a:r>
          </a:p>
        </p:txBody>
      </p:sp>
      <p:sp>
        <p:nvSpPr>
          <p:cNvPr id="12" name="Rounded Rectangle 11"/>
          <p:cNvSpPr/>
          <p:nvPr/>
        </p:nvSpPr>
        <p:spPr>
          <a:xfrm>
            <a:off x="548640" y="1463040"/>
            <a:ext cx="5410047" cy="41148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603504" y="1517904"/>
            <a:ext cx="5300319" cy="841248"/>
          </a:xfrm>
          <a:prstGeom prst="roundRect">
            <a:avLst>
              <a:gd name="adj" fmla="val 12000"/>
            </a:avLst>
          </a:prstGeom>
          <a:solidFill>
            <a:srgbClr val="4F5A8E"/>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r" rtl="1">
              <a:defRPr lang="fa-IR" sz="1100">
                <a:solidFill>
                  <a:srgbClr val="E4DEEE"/>
                </a:solidFill>
                <a:latin typeface="Times New Roman"/>
                <a:ea typeface="Times New Roman"/>
                <a:cs typeface="B Lotus"/>
              </a:defRPr>
            </a:pPr>
            <a:r>
              <a:rPr lang="fa-IR">
                <a:latin typeface="Times New Roman"/>
                <a:cs typeface="B Lotus"/>
              </a:rPr>
              <a:t>نویسنده</a:t>
            </a:r>
          </a:p>
          <a:p>
            <a:pPr algn="r" rtl="1">
              <a:defRPr lang="fa-IR" sz="1550" b="1">
                <a:solidFill>
                  <a:srgbClr val="FFFFFF"/>
                </a:solidFill>
                <a:latin typeface="Times New Roman"/>
                <a:ea typeface="Times New Roman"/>
                <a:cs typeface="B Titr"/>
              </a:defRPr>
            </a:pPr>
            <a:r>
              <a:rPr lang="fa-IR">
                <a:latin typeface="Times New Roman"/>
                <a:cs typeface="B Lotus"/>
              </a:rPr>
              <a:t>یونس، رحمه، راجحا و مزواک در سال (۲۰۲۴)</a:t>
            </a:r>
          </a:p>
        </p:txBody>
      </p:sp>
      <p:sp>
        <p:nvSpPr>
          <p:cNvPr id="14" name="TextBox 13"/>
          <p:cNvSpPr txBox="1"/>
          <p:nvPr/>
        </p:nvSpPr>
        <p:spPr>
          <a:xfrm>
            <a:off x="822960" y="2542032"/>
            <a:ext cx="4861407" cy="2743200"/>
          </a:xfrm>
          <a:prstGeom prst="rect">
            <a:avLst/>
          </a:prstGeom>
          <a:noFill/>
        </p:spPr>
        <p:txBody>
          <a:bodyPr wrap="square" lIns="36576" tIns="18288" rIns="36576" bIns="18288" anchor="t"/>
          <a:lstStyle/>
          <a:p>
            <a:pPr algn="r" rtl="1">
              <a:lnSpc>
                <a:spcPct val="120000"/>
              </a:lnSpc>
              <a:spcAft>
                <a:spcPts val="900"/>
              </a:spcAft>
              <a:defRPr lang="fa-IR">
                <a:cs typeface="B Lotus"/>
              </a:defRPr>
            </a:pPr>
            <a:r>
              <a:rPr lang="fa-IR" sz="1500" b="0">
                <a:solidFill>
                  <a:srgbClr val="22303B"/>
                </a:solidFill>
                <a:latin typeface="Arial"/>
                <a:ea typeface="Arial"/>
                <a:cs typeface="B Lotus"/>
              </a:rPr>
              <a:t>اضطراب مرگ سالمندان پدیده‌ای چندبعدی است و عوامل روان‌شناختی، اجتماعی و معنوی در شکل‌گیری و شدت آن نقش دارند. این مطالعه بر اهمیت توجه به عوامل معنوی و روان‌شناختی در پیشگیری و کاهش اضطراب مرگ سالمندان تأکید می‌کند.</a:t>
            </a:r>
          </a:p>
        </p:txBody>
      </p:sp>
    </p:spTree>
  </p:cSld>
  <p:clrMapOvr>
    <a:masterClrMapping/>
  </p:clrMapOvr>
  <p:transition spd="med" advTm="42840">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48640" y="1737360"/>
            <a:ext cx="4754880" cy="3291840"/>
          </a:xfrm>
          <a:prstGeom prst="rect">
            <a:avLst/>
          </a:prstGeom>
          <a:noFill/>
        </p:spPr>
        <p:txBody>
          <a:bodyPr wrap="square" lIns="36576" tIns="18288" rIns="36576" bIns="18288" anchor="ctr"/>
          <a:lstStyle/>
          <a:p>
            <a:pPr algn="l" rtl="1">
              <a:defRPr lang="fa-IR" sz="19000" b="1">
                <a:solidFill>
                  <a:srgbClr val="274A6B"/>
                </a:solidFill>
                <a:latin typeface="Times New Roman"/>
                <a:ea typeface="Times New Roman"/>
                <a:cs typeface="B Titr"/>
              </a:defRPr>
            </a:pPr>
            <a:r>
              <a:rPr lang="fa-IR">
                <a:latin typeface="Times New Roman"/>
                <a:cs typeface="B Titr"/>
              </a:rPr>
              <a:t>۳</a:t>
            </a:r>
          </a:p>
        </p:txBody>
      </p:sp>
      <p:sp>
        <p:nvSpPr>
          <p:cNvPr id="4" name="Rectangle 3"/>
          <p:cNvSpPr/>
          <p:nvPr/>
        </p:nvSpPr>
        <p:spPr>
          <a:xfrm>
            <a:off x="7711135" y="2487168"/>
            <a:ext cx="3383280" cy="45720"/>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2697480"/>
            <a:ext cx="11094415" cy="1143000"/>
          </a:xfrm>
          <a:prstGeom prst="rect">
            <a:avLst/>
          </a:prstGeom>
          <a:noFill/>
        </p:spPr>
        <p:txBody>
          <a:bodyPr wrap="square" lIns="36576" tIns="18288" rIns="36576" bIns="18288" anchor="ctr"/>
          <a:lstStyle/>
          <a:p>
            <a:pPr algn="r" rtl="1">
              <a:defRPr lang="fa-IR" sz="4600" b="1">
                <a:solidFill>
                  <a:srgbClr val="FFFFFF"/>
                </a:solidFill>
                <a:latin typeface="Times New Roman"/>
                <a:ea typeface="Times New Roman"/>
                <a:cs typeface="B Titr"/>
              </a:defRPr>
            </a:pPr>
            <a:r>
              <a:rPr lang="fa-IR">
                <a:latin typeface="Times New Roman"/>
                <a:cs typeface="B Titr"/>
              </a:rPr>
              <a:t>روش شناسی</a:t>
            </a:r>
          </a:p>
        </p:txBody>
      </p:sp>
      <p:sp>
        <p:nvSpPr>
          <p:cNvPr id="6" name="Rectangle 5"/>
          <p:cNvSpPr/>
          <p:nvPr/>
        </p:nvSpPr>
        <p:spPr>
          <a:xfrm>
            <a:off x="9533900"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533900"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مقدمه و کلیات</a:t>
            </a:r>
          </a:p>
        </p:txBody>
      </p:sp>
      <p:sp>
        <p:nvSpPr>
          <p:cNvPr id="8" name="Rectangle 7"/>
          <p:cNvSpPr/>
          <p:nvPr/>
        </p:nvSpPr>
        <p:spPr>
          <a:xfrm>
            <a:off x="7315017"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017"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مبانی و پیشینه</a:t>
            </a:r>
          </a:p>
        </p:txBody>
      </p:sp>
      <p:sp>
        <p:nvSpPr>
          <p:cNvPr id="10" name="Rectangle 9"/>
          <p:cNvSpPr/>
          <p:nvPr/>
        </p:nvSpPr>
        <p:spPr>
          <a:xfrm>
            <a:off x="5096134" y="5504688"/>
            <a:ext cx="1999427" cy="32004"/>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096134" y="5632704"/>
            <a:ext cx="1999427" cy="457200"/>
          </a:xfrm>
          <a:prstGeom prst="rect">
            <a:avLst/>
          </a:prstGeom>
          <a:noFill/>
        </p:spPr>
        <p:txBody>
          <a:bodyPr wrap="square" lIns="36576" tIns="18288" rIns="36576" bIns="18288" anchor="t"/>
          <a:lstStyle/>
          <a:p>
            <a:pPr algn="ctr" rtl="1">
              <a:defRPr lang="fa-IR" sz="1250" b="1">
                <a:solidFill>
                  <a:srgbClr val="FFFFFF"/>
                </a:solidFill>
                <a:latin typeface="Times New Roman"/>
                <a:ea typeface="Times New Roman"/>
                <a:cs typeface="B Titr"/>
              </a:defRPr>
            </a:pPr>
            <a:r>
              <a:rPr lang="fa-IR">
                <a:latin typeface="Times New Roman"/>
                <a:cs typeface="B Lotus"/>
              </a:rPr>
              <a:t>روش شناسی</a:t>
            </a:r>
          </a:p>
        </p:txBody>
      </p:sp>
      <p:sp>
        <p:nvSpPr>
          <p:cNvPr id="12" name="Rectangle 11"/>
          <p:cNvSpPr/>
          <p:nvPr/>
        </p:nvSpPr>
        <p:spPr>
          <a:xfrm>
            <a:off x="2877251"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77251"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نتایج و بحث</a:t>
            </a:r>
          </a:p>
        </p:txBody>
      </p:sp>
      <p:sp>
        <p:nvSpPr>
          <p:cNvPr id="14" name="Rectangle 13"/>
          <p:cNvSpPr/>
          <p:nvPr/>
        </p:nvSpPr>
        <p:spPr>
          <a:xfrm>
            <a:off x="658368"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58368"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نتیجه گیری و پیشنهادات</a:t>
            </a:r>
          </a:p>
        </p:txBody>
      </p:sp>
    </p:spTree>
  </p:cSld>
  <p:clrMapOvr>
    <a:masterClrMapping/>
  </p:clrMapOvr>
  <p:transition spd="slow" advTm="650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روش شناسی تحقیق</a:t>
            </a: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۸</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روش شناسی</a:t>
            </a:r>
          </a:p>
        </p:txBody>
      </p:sp>
      <p:sp>
        <p:nvSpPr>
          <p:cNvPr id="9" name="Rounded Rectangle 8"/>
          <p:cNvSpPr/>
          <p:nvPr/>
        </p:nvSpPr>
        <p:spPr>
          <a:xfrm>
            <a:off x="6233008" y="1508760"/>
            <a:ext cx="5410047" cy="32918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53048" y="1892808"/>
            <a:ext cx="128016" cy="457200"/>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781648" y="1856232"/>
            <a:ext cx="4587087" cy="548640"/>
          </a:xfrm>
          <a:prstGeom prst="rect">
            <a:avLst/>
          </a:prstGeom>
          <a:noFill/>
        </p:spPr>
        <p:txBody>
          <a:bodyPr wrap="square" lIns="36576" tIns="18288" rIns="36576" bIns="18288" anchor="t"/>
          <a:lstStyle/>
          <a:p>
            <a:pPr algn="r" rtl="1">
              <a:defRPr lang="fa-IR" sz="2000" b="1">
                <a:solidFill>
                  <a:srgbClr val="2C7A68"/>
                </a:solidFill>
                <a:latin typeface="Times New Roman"/>
                <a:ea typeface="Times New Roman"/>
                <a:cs typeface="B Titr"/>
              </a:defRPr>
            </a:pPr>
            <a:r>
              <a:rPr lang="fa-IR" dirty="0">
                <a:latin typeface="Times New Roman"/>
                <a:cs typeface="B Titr"/>
              </a:rPr>
              <a:t>نوع تحقیق:</a:t>
            </a:r>
          </a:p>
        </p:txBody>
      </p:sp>
      <p:sp>
        <p:nvSpPr>
          <p:cNvPr id="12" name="TextBox 11"/>
          <p:cNvSpPr txBox="1"/>
          <p:nvPr/>
        </p:nvSpPr>
        <p:spPr>
          <a:xfrm>
            <a:off x="6781648" y="2514600"/>
            <a:ext cx="4312767" cy="1920240"/>
          </a:xfrm>
          <a:prstGeom prst="rect">
            <a:avLst/>
          </a:prstGeom>
          <a:noFill/>
        </p:spPr>
        <p:txBody>
          <a:bodyPr wrap="square" lIns="36576" tIns="18288" rIns="36576" bIns="18288" anchor="t"/>
          <a:lstStyle/>
          <a:p>
            <a:pPr algn="just" rtl="1">
              <a:lnSpc>
                <a:spcPct val="120000"/>
              </a:lnSpc>
              <a:spcAft>
                <a:spcPts val="900"/>
              </a:spcAft>
              <a:defRPr lang="fa-IR">
                <a:cs typeface="B Lotus"/>
              </a:defRPr>
            </a:pPr>
            <a:r>
              <a:rPr lang="fa-IR" sz="2000" b="1" dirty="0">
                <a:solidFill>
                  <a:srgbClr val="22303B"/>
                </a:solidFill>
                <a:latin typeface="Iransans"/>
                <a:cs typeface="B Nazanin"/>
              </a:rPr>
              <a:t>این پژوهش از نظر هدف در زمره </a:t>
            </a:r>
            <a:r>
              <a:rPr lang="fa-IR" sz="2000" b="1" u="sng" dirty="0">
                <a:solidFill>
                  <a:srgbClr val="22303B"/>
                </a:solidFill>
                <a:latin typeface="Iransans"/>
                <a:cs typeface="B Nazanin"/>
              </a:rPr>
              <a:t>پژوهش های کاربردی </a:t>
            </a:r>
            <a:r>
              <a:rPr lang="fa-IR" sz="2000" b="1" dirty="0">
                <a:solidFill>
                  <a:srgbClr val="22303B"/>
                </a:solidFill>
                <a:latin typeface="Iransans"/>
                <a:cs typeface="B Nazanin"/>
              </a:rPr>
              <a:t>قرار می </a:t>
            </a:r>
            <a:r>
              <a:rPr lang="fa-IR" sz="2000" b="1" dirty="0" smtClean="0">
                <a:solidFill>
                  <a:srgbClr val="22303B"/>
                </a:solidFill>
                <a:latin typeface="Iransans"/>
                <a:cs typeface="B Nazanin"/>
              </a:rPr>
              <a:t>گیرد و از نظر ماهیت از نوع </a:t>
            </a:r>
            <a:r>
              <a:rPr lang="fa-IR" sz="2000" b="1" u="sng" dirty="0" smtClean="0">
                <a:solidFill>
                  <a:srgbClr val="22303B"/>
                </a:solidFill>
                <a:latin typeface="Iransans"/>
                <a:cs typeface="B Nazanin"/>
              </a:rPr>
              <a:t>توصیفی و همبستگی </a:t>
            </a:r>
            <a:r>
              <a:rPr lang="fa-IR" sz="2000" b="1" dirty="0" smtClean="0">
                <a:solidFill>
                  <a:srgbClr val="22303B"/>
                </a:solidFill>
                <a:latin typeface="Iransans"/>
                <a:cs typeface="B Nazanin"/>
              </a:rPr>
              <a:t>است.</a:t>
            </a:r>
            <a:endParaRPr lang="fa-IR" sz="2000" b="1" dirty="0">
              <a:solidFill>
                <a:srgbClr val="22303B"/>
              </a:solidFill>
              <a:latin typeface="Iransans"/>
              <a:cs typeface="B Nazanin"/>
            </a:endParaRPr>
          </a:p>
        </p:txBody>
      </p:sp>
      <p:sp>
        <p:nvSpPr>
          <p:cNvPr id="13" name="Rounded Rectangle 12"/>
          <p:cNvSpPr/>
          <p:nvPr/>
        </p:nvSpPr>
        <p:spPr>
          <a:xfrm>
            <a:off x="548640" y="1508760"/>
            <a:ext cx="5410047" cy="32918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868680" y="1892808"/>
            <a:ext cx="128016" cy="457200"/>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97280" y="1856232"/>
            <a:ext cx="4587087" cy="548640"/>
          </a:xfrm>
          <a:prstGeom prst="rect">
            <a:avLst/>
          </a:prstGeom>
          <a:noFill/>
        </p:spPr>
        <p:txBody>
          <a:bodyPr wrap="square" lIns="36576" tIns="18288" rIns="36576" bIns="18288" anchor="t"/>
          <a:lstStyle/>
          <a:p>
            <a:pPr algn="r" rtl="1">
              <a:defRPr lang="fa-IR" sz="2000" b="1">
                <a:solidFill>
                  <a:srgbClr val="2C7A68"/>
                </a:solidFill>
                <a:latin typeface="Times New Roman"/>
                <a:ea typeface="Times New Roman"/>
                <a:cs typeface="B Titr"/>
              </a:defRPr>
            </a:pPr>
            <a:r>
              <a:rPr lang="fa-IR">
                <a:latin typeface="Times New Roman"/>
                <a:cs typeface="B Titr"/>
              </a:rPr>
              <a:t>جامعه آماری:</a:t>
            </a:r>
          </a:p>
        </p:txBody>
      </p:sp>
      <p:sp>
        <p:nvSpPr>
          <p:cNvPr id="16" name="TextBox 15"/>
          <p:cNvSpPr txBox="1"/>
          <p:nvPr/>
        </p:nvSpPr>
        <p:spPr>
          <a:xfrm>
            <a:off x="1097280" y="2514600"/>
            <a:ext cx="4312767" cy="1920240"/>
          </a:xfrm>
          <a:prstGeom prst="rect">
            <a:avLst/>
          </a:prstGeom>
          <a:noFill/>
        </p:spPr>
        <p:txBody>
          <a:bodyPr wrap="square" lIns="36576" tIns="18288" rIns="36576" bIns="18288" anchor="t"/>
          <a:lstStyle/>
          <a:p>
            <a:pPr algn="just" rtl="1">
              <a:lnSpc>
                <a:spcPct val="120000"/>
              </a:lnSpc>
              <a:spcAft>
                <a:spcPts val="900"/>
              </a:spcAft>
              <a:defRPr lang="fa-IR">
                <a:cs typeface="B Lotus"/>
              </a:defRPr>
            </a:pPr>
            <a:r>
              <a:rPr lang="fa-IR" sz="2000" b="1" dirty="0">
                <a:solidFill>
                  <a:srgbClr val="22303B"/>
                </a:solidFill>
                <a:latin typeface="Iransans"/>
                <a:ea typeface="微软雅黑"/>
                <a:cs typeface="B Nazanin"/>
              </a:rPr>
              <a:t>جامعه آماری این پژوهش شامل کلیه سالمندان بالای ۶۰ سال ساکن خانه سالمندان فرشتگان شهر تهران در سال ۱۴۰۴ است که تعداد آنها ‎100‎ نفر است.</a:t>
            </a:r>
          </a:p>
        </p:txBody>
      </p:sp>
    </p:spTree>
  </p:cSld>
  <p:clrMapOvr>
    <a:masterClrMapping/>
  </p:clrMapOvr>
  <p:transition spd="med" advTm="23320">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نمونه آماری و روش نمونه گیری</a:t>
            </a: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۹</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روش شناسی</a:t>
            </a:r>
          </a:p>
        </p:txBody>
      </p:sp>
      <p:sp>
        <p:nvSpPr>
          <p:cNvPr id="9" name="Rounded Rectangle 8"/>
          <p:cNvSpPr/>
          <p:nvPr/>
        </p:nvSpPr>
        <p:spPr>
          <a:xfrm>
            <a:off x="548640" y="1600200"/>
            <a:ext cx="11094415" cy="201168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97280" y="2011680"/>
            <a:ext cx="9997135" cy="1280160"/>
          </a:xfrm>
          <a:prstGeom prst="rect">
            <a:avLst/>
          </a:prstGeom>
          <a:noFill/>
        </p:spPr>
        <p:txBody>
          <a:bodyPr wrap="square" lIns="36576" tIns="18288" rIns="36576" bIns="18288" anchor="t"/>
          <a:lstStyle/>
          <a:p>
            <a:pPr algn="ctr" rtl="1">
              <a:lnSpc>
                <a:spcPct val="120000"/>
              </a:lnSpc>
              <a:spcAft>
                <a:spcPts val="900"/>
              </a:spcAft>
              <a:defRPr lang="fa-IR">
                <a:cs typeface="B Lotus"/>
              </a:defRPr>
            </a:pPr>
            <a:r>
              <a:rPr lang="fa-IR" sz="2100" b="0" dirty="0">
                <a:solidFill>
                  <a:srgbClr val="22303B"/>
                </a:solidFill>
                <a:latin typeface="Times New Roman"/>
                <a:ea typeface="Times New Roman"/>
                <a:cs typeface="B Lotus"/>
              </a:rPr>
              <a:t>بر اساس جدول </a:t>
            </a:r>
            <a:r>
              <a:rPr lang="fa-IR" sz="2100" b="0" dirty="0" err="1">
                <a:solidFill>
                  <a:srgbClr val="22303B"/>
                </a:solidFill>
                <a:latin typeface="Times New Roman"/>
                <a:ea typeface="Times New Roman"/>
                <a:cs typeface="B Lotus"/>
              </a:rPr>
              <a:t>مورگان</a:t>
            </a:r>
            <a:r>
              <a:rPr lang="fa-IR" sz="2100" b="0" dirty="0">
                <a:solidFill>
                  <a:srgbClr val="22303B"/>
                </a:solidFill>
                <a:latin typeface="Times New Roman"/>
                <a:ea typeface="Times New Roman"/>
                <a:cs typeface="B Lotus"/>
              </a:rPr>
              <a:t> و نظر به حجم جامعه آماری ۱۰۰ نفر، حجم نمونه ۸۰ نفر به روش نمونه گیری تصادفی ساده در نظر گرفته شد.</a:t>
            </a:r>
          </a:p>
        </p:txBody>
      </p:sp>
    </p:spTree>
  </p:cSld>
  <p:clrMapOvr>
    <a:masterClrMapping/>
  </p:clrMapOvr>
  <p:transition spd="med" advTm="18840">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smtClean="0">
                <a:latin typeface="Times New Roman"/>
                <a:cs typeface="B Titr"/>
              </a:rPr>
              <a:t>ابزار پژوهش</a:t>
            </a:r>
            <a:endParaRPr lang="fa-IR" dirty="0">
              <a:latin typeface="Times New Roman"/>
              <a:cs typeface="B Titr"/>
            </a:endParaRP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۱۰</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dirty="0">
                <a:latin typeface="Times New Roman"/>
                <a:cs typeface="B Lotus"/>
              </a:rPr>
              <a:t>روش </a:t>
            </a:r>
            <a:r>
              <a:rPr lang="fa-IR" dirty="0" err="1">
                <a:latin typeface="Times New Roman"/>
                <a:cs typeface="B Lotus"/>
              </a:rPr>
              <a:t>شناسی</a:t>
            </a:r>
            <a:endParaRPr lang="fa-IR" dirty="0">
              <a:latin typeface="Times New Roman"/>
              <a:cs typeface="B Lotus"/>
            </a:endParaRPr>
          </a:p>
        </p:txBody>
      </p:sp>
      <p:sp>
        <p:nvSpPr>
          <p:cNvPr id="9" name="Rounded Rectangle 8"/>
          <p:cNvSpPr/>
          <p:nvPr/>
        </p:nvSpPr>
        <p:spPr>
          <a:xfrm>
            <a:off x="402336" y="1143000"/>
            <a:ext cx="11094415" cy="2476925"/>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280160" y="1721021"/>
            <a:ext cx="9512502" cy="1898904"/>
          </a:xfrm>
          <a:prstGeom prst="rect">
            <a:avLst/>
          </a:prstGeom>
          <a:noFill/>
        </p:spPr>
        <p:txBody>
          <a:bodyPr wrap="square" lIns="36576" tIns="18288" rIns="36576" bIns="18288" anchor="t"/>
          <a:lstStyle/>
          <a:p>
            <a:pPr algn="r" rtl="1">
              <a:lnSpc>
                <a:spcPct val="120000"/>
              </a:lnSpc>
              <a:spcAft>
                <a:spcPts val="900"/>
              </a:spcAft>
              <a:defRPr lang="fa-IR">
                <a:cs typeface="B Lotus"/>
              </a:defRPr>
            </a:pPr>
            <a:r>
              <a:rPr lang="fa-IR" sz="2000" b="0" dirty="0" smtClean="0">
                <a:solidFill>
                  <a:srgbClr val="22303B"/>
                </a:solidFill>
                <a:latin typeface="Times New Roman"/>
                <a:ea typeface="Times New Roman"/>
                <a:cs typeface="B Lotus"/>
              </a:rPr>
              <a:t>دارای ۲۴ </a:t>
            </a:r>
            <a:r>
              <a:rPr lang="fa-IR" sz="2000" b="0" dirty="0" err="1" smtClean="0">
                <a:solidFill>
                  <a:srgbClr val="22303B"/>
                </a:solidFill>
                <a:latin typeface="Times New Roman"/>
                <a:ea typeface="Times New Roman"/>
                <a:cs typeface="B Lotus"/>
              </a:rPr>
              <a:t>آیتم</a:t>
            </a:r>
            <a:r>
              <a:rPr lang="fa-IR" sz="2000" b="0" dirty="0" smtClean="0">
                <a:solidFill>
                  <a:srgbClr val="22303B"/>
                </a:solidFill>
                <a:latin typeface="Times New Roman"/>
                <a:ea typeface="Times New Roman"/>
                <a:cs typeface="B Lotus"/>
              </a:rPr>
              <a:t> و بر اساس مقیاس ۵  گزینه </a:t>
            </a:r>
            <a:r>
              <a:rPr lang="fa-IR" sz="2000" b="0" dirty="0" err="1" smtClean="0">
                <a:solidFill>
                  <a:srgbClr val="22303B"/>
                </a:solidFill>
                <a:latin typeface="Times New Roman"/>
                <a:ea typeface="Times New Roman"/>
                <a:cs typeface="B Lotus"/>
              </a:rPr>
              <a:t>لیکرت</a:t>
            </a:r>
            <a:r>
              <a:rPr lang="fa-IR" sz="2000" b="0" dirty="0" smtClean="0">
                <a:solidFill>
                  <a:srgbClr val="22303B"/>
                </a:solidFill>
                <a:latin typeface="Times New Roman"/>
                <a:ea typeface="Times New Roman"/>
                <a:cs typeface="B Lotus"/>
              </a:rPr>
              <a:t> پر می شود ( کاملا نادرست = صفر ، نادرست = ۱ ، </a:t>
            </a:r>
            <a:r>
              <a:rPr lang="fa-IR" sz="2000" b="0" dirty="0" err="1" smtClean="0">
                <a:solidFill>
                  <a:srgbClr val="22303B"/>
                </a:solidFill>
                <a:latin typeface="Times New Roman"/>
                <a:ea typeface="Times New Roman"/>
                <a:cs typeface="B Lotus"/>
              </a:rPr>
              <a:t>تاحدودی</a:t>
            </a:r>
            <a:r>
              <a:rPr lang="fa-IR" sz="2000" b="0" dirty="0" smtClean="0">
                <a:solidFill>
                  <a:srgbClr val="22303B"/>
                </a:solidFill>
                <a:latin typeface="Times New Roman"/>
                <a:ea typeface="Times New Roman"/>
                <a:cs typeface="B Lotus"/>
              </a:rPr>
              <a:t> درست =۲ ، بسیار درست =۳ ، کاملا درست = ۴).</a:t>
            </a:r>
          </a:p>
          <a:p>
            <a:pPr algn="r" rtl="1">
              <a:lnSpc>
                <a:spcPct val="120000"/>
              </a:lnSpc>
              <a:spcAft>
                <a:spcPts val="900"/>
              </a:spcAft>
              <a:defRPr lang="fa-IR">
                <a:cs typeface="B Lotus"/>
              </a:defRPr>
            </a:pPr>
            <a:r>
              <a:rPr lang="fa-IR" sz="2000" dirty="0" smtClean="0">
                <a:solidFill>
                  <a:srgbClr val="22303B"/>
                </a:solidFill>
                <a:latin typeface="Times New Roman"/>
                <a:ea typeface="Times New Roman"/>
                <a:cs typeface="B Lotus"/>
              </a:rPr>
              <a:t> حداقل و حداکثر امتیاز کسب شده در این آزمون بین صفر. تا ۹۶ است.</a:t>
            </a:r>
          </a:p>
          <a:p>
            <a:pPr algn="r" rtl="1">
              <a:lnSpc>
                <a:spcPct val="120000"/>
              </a:lnSpc>
              <a:spcAft>
                <a:spcPts val="900"/>
              </a:spcAft>
              <a:defRPr lang="fa-IR">
                <a:cs typeface="B Lotus"/>
              </a:defRPr>
            </a:pPr>
            <a:r>
              <a:rPr lang="fa-IR" sz="2000" b="0" dirty="0" smtClean="0">
                <a:solidFill>
                  <a:srgbClr val="22303B"/>
                </a:solidFill>
                <a:latin typeface="Times New Roman"/>
                <a:ea typeface="Times New Roman"/>
                <a:cs typeface="B Lotus"/>
              </a:rPr>
              <a:t>نمرات بالا </a:t>
            </a:r>
            <a:r>
              <a:rPr lang="fa-IR" sz="2000" b="0" dirty="0" err="1" smtClean="0">
                <a:solidFill>
                  <a:srgbClr val="22303B"/>
                </a:solidFill>
                <a:latin typeface="Times New Roman"/>
                <a:ea typeface="Times New Roman"/>
                <a:cs typeface="B Lotus"/>
              </a:rPr>
              <a:t>نشان‌دهنده</a:t>
            </a:r>
            <a:r>
              <a:rPr lang="fa-IR" sz="2000" b="0" dirty="0" smtClean="0">
                <a:solidFill>
                  <a:srgbClr val="22303B"/>
                </a:solidFill>
                <a:latin typeface="Times New Roman"/>
                <a:ea typeface="Times New Roman"/>
                <a:cs typeface="B Lotus"/>
              </a:rPr>
              <a:t> هوش معنوی. بالا و یا وجود چنین </a:t>
            </a:r>
            <a:r>
              <a:rPr lang="fa-IR" sz="2000" b="0" dirty="0" err="1" smtClean="0">
                <a:solidFill>
                  <a:srgbClr val="22303B"/>
                </a:solidFill>
                <a:latin typeface="Times New Roman"/>
                <a:ea typeface="Times New Roman"/>
                <a:cs typeface="B Lotus"/>
              </a:rPr>
              <a:t>ظرفیتی</a:t>
            </a:r>
            <a:r>
              <a:rPr lang="fa-IR" sz="2000" b="0" dirty="0" smtClean="0">
                <a:solidFill>
                  <a:srgbClr val="22303B"/>
                </a:solidFill>
                <a:latin typeface="Times New Roman"/>
                <a:ea typeface="Times New Roman"/>
                <a:cs typeface="B Lotus"/>
              </a:rPr>
              <a:t> در شخص می باشد.</a:t>
            </a:r>
            <a:endParaRPr lang="fa-IR" sz="2000" b="0" dirty="0">
              <a:solidFill>
                <a:srgbClr val="22303B"/>
              </a:solidFill>
              <a:latin typeface="Times New Roman"/>
              <a:ea typeface="Times New Roman"/>
              <a:cs typeface="B Lotus"/>
            </a:endParaRPr>
          </a:p>
        </p:txBody>
      </p:sp>
      <p:sp>
        <p:nvSpPr>
          <p:cNvPr id="11" name="Rectangle 10"/>
          <p:cNvSpPr/>
          <p:nvPr/>
        </p:nvSpPr>
        <p:spPr>
          <a:xfrm>
            <a:off x="852513" y="1335938"/>
            <a:ext cx="128016" cy="457200"/>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607911" y="1290218"/>
            <a:ext cx="4587087" cy="548640"/>
          </a:xfrm>
          <a:prstGeom prst="rect">
            <a:avLst/>
          </a:prstGeom>
          <a:noFill/>
        </p:spPr>
        <p:txBody>
          <a:bodyPr wrap="square" lIns="36576" tIns="18288" rIns="36576" bIns="18288" anchor="t"/>
          <a:lstStyle/>
          <a:p>
            <a:pPr algn="r" rtl="1">
              <a:defRPr lang="fa-IR" sz="2000" b="1">
                <a:solidFill>
                  <a:srgbClr val="2C7A68"/>
                </a:solidFill>
                <a:latin typeface="Times New Roman"/>
                <a:ea typeface="Times New Roman"/>
                <a:cs typeface="B Titr"/>
              </a:defRPr>
            </a:pPr>
            <a:r>
              <a:rPr lang="fa-IR" dirty="0" smtClean="0">
                <a:latin typeface="Times New Roman"/>
                <a:cs typeface="B Titr"/>
              </a:rPr>
              <a:t>۱- پرسشنامه معنوی کینگ(۲۰۰۸):</a:t>
            </a:r>
            <a:endParaRPr lang="fa-IR" dirty="0">
              <a:latin typeface="Times New Roman"/>
              <a:cs typeface="B Titr"/>
            </a:endParaRPr>
          </a:p>
        </p:txBody>
      </p:sp>
      <p:sp>
        <p:nvSpPr>
          <p:cNvPr id="13" name="Rounded Rectangle 12"/>
          <p:cNvSpPr/>
          <p:nvPr/>
        </p:nvSpPr>
        <p:spPr>
          <a:xfrm>
            <a:off x="393191" y="3660159"/>
            <a:ext cx="11094415" cy="2205532"/>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280160" y="4259640"/>
            <a:ext cx="9512502" cy="1396577"/>
          </a:xfrm>
          <a:prstGeom prst="rect">
            <a:avLst/>
          </a:prstGeom>
          <a:noFill/>
        </p:spPr>
        <p:txBody>
          <a:bodyPr wrap="square" lIns="36576" tIns="18288" rIns="36576" bIns="18288" anchor="t"/>
          <a:lstStyle/>
          <a:p>
            <a:pPr algn="r" rtl="1">
              <a:lnSpc>
                <a:spcPct val="120000"/>
              </a:lnSpc>
              <a:spcAft>
                <a:spcPts val="900"/>
              </a:spcAft>
              <a:defRPr lang="fa-IR">
                <a:cs typeface="B Lotus"/>
              </a:defRPr>
            </a:pPr>
            <a:r>
              <a:rPr lang="fa-IR" sz="2000" b="0" dirty="0" smtClean="0">
                <a:solidFill>
                  <a:srgbClr val="22303B"/>
                </a:solidFill>
                <a:latin typeface="Times New Roman"/>
                <a:ea typeface="Times New Roman"/>
                <a:cs typeface="B Lotus"/>
              </a:rPr>
              <a:t>این پرسشنامه توسط </a:t>
            </a:r>
            <a:r>
              <a:rPr lang="fa-IR" sz="2000" b="0" dirty="0" err="1" smtClean="0">
                <a:solidFill>
                  <a:srgbClr val="22303B"/>
                </a:solidFill>
                <a:latin typeface="Times New Roman"/>
                <a:ea typeface="Times New Roman"/>
                <a:cs typeface="B Lotus"/>
              </a:rPr>
              <a:t>تمپلر</a:t>
            </a:r>
            <a:r>
              <a:rPr lang="fa-IR" sz="2000" dirty="0">
                <a:solidFill>
                  <a:srgbClr val="22303B"/>
                </a:solidFill>
                <a:latin typeface="Times New Roman"/>
                <a:ea typeface="Times New Roman"/>
                <a:cs typeface="B Lotus"/>
              </a:rPr>
              <a:t> (۱۹۷۰) ساخته شده دارای </a:t>
            </a:r>
            <a:r>
              <a:rPr lang="fa-IR" sz="2000" b="0" dirty="0" smtClean="0">
                <a:solidFill>
                  <a:srgbClr val="22303B"/>
                </a:solidFill>
                <a:latin typeface="Times New Roman"/>
                <a:ea typeface="Times New Roman"/>
                <a:cs typeface="B Lotus"/>
              </a:rPr>
              <a:t>۱۵ ماده است که نگرش آزمودنی ها را به مرگ می سنجد و به گزینه بلی نمره یک و به گزینه خیر </a:t>
            </a:r>
            <a:r>
              <a:rPr lang="fa-IR" sz="2000" b="0" dirty="0" err="1" smtClean="0">
                <a:solidFill>
                  <a:srgbClr val="22303B"/>
                </a:solidFill>
                <a:latin typeface="Times New Roman"/>
                <a:ea typeface="Times New Roman"/>
                <a:cs typeface="B Lotus"/>
              </a:rPr>
              <a:t>نمر</a:t>
            </a:r>
            <a:r>
              <a:rPr lang="fa-IR" sz="2000" b="0" dirty="0" smtClean="0">
                <a:solidFill>
                  <a:srgbClr val="22303B"/>
                </a:solidFill>
                <a:latin typeface="Times New Roman"/>
                <a:ea typeface="Times New Roman"/>
                <a:cs typeface="B Lotus"/>
              </a:rPr>
              <a:t> صفر. داده می شود. نمره این مقیاس می تواند بین صفر تا ۱۵  باشد. </a:t>
            </a:r>
          </a:p>
          <a:p>
            <a:pPr algn="r" rtl="1">
              <a:lnSpc>
                <a:spcPct val="120000"/>
              </a:lnSpc>
              <a:spcAft>
                <a:spcPts val="900"/>
              </a:spcAft>
              <a:defRPr lang="fa-IR">
                <a:cs typeface="B Lotus"/>
              </a:defRPr>
            </a:pPr>
            <a:r>
              <a:rPr lang="fa-IR" sz="2000" dirty="0" smtClean="0">
                <a:solidFill>
                  <a:srgbClr val="22303B"/>
                </a:solidFill>
                <a:latin typeface="Times New Roman"/>
                <a:ea typeface="Times New Roman"/>
                <a:cs typeface="B Lotus"/>
              </a:rPr>
              <a:t>که نمره بالا نشانه اضطراب زیاد فرد در مورد مرگ است.</a:t>
            </a:r>
            <a:endParaRPr lang="fa-IR" sz="2000" b="0" dirty="0">
              <a:solidFill>
                <a:srgbClr val="22303B"/>
              </a:solidFill>
              <a:latin typeface="Times New Roman"/>
              <a:ea typeface="Times New Roman"/>
              <a:cs typeface="B Lotus"/>
            </a:endParaRPr>
          </a:p>
        </p:txBody>
      </p:sp>
      <p:sp>
        <p:nvSpPr>
          <p:cNvPr id="15" name="Rectangle 14"/>
          <p:cNvSpPr/>
          <p:nvPr/>
        </p:nvSpPr>
        <p:spPr>
          <a:xfrm>
            <a:off x="852513" y="3820137"/>
            <a:ext cx="128016" cy="457200"/>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606311" y="3774417"/>
            <a:ext cx="4587087" cy="548640"/>
          </a:xfrm>
          <a:prstGeom prst="rect">
            <a:avLst/>
          </a:prstGeom>
          <a:noFill/>
        </p:spPr>
        <p:txBody>
          <a:bodyPr wrap="square" lIns="36576" tIns="18288" rIns="36576" bIns="18288" anchor="t"/>
          <a:lstStyle/>
          <a:p>
            <a:pPr algn="r" rtl="1">
              <a:defRPr lang="fa-IR" sz="2000" b="1">
                <a:solidFill>
                  <a:srgbClr val="2C7A68"/>
                </a:solidFill>
                <a:latin typeface="Times New Roman"/>
                <a:ea typeface="Times New Roman"/>
                <a:cs typeface="B Titr"/>
              </a:defRPr>
            </a:pPr>
            <a:r>
              <a:rPr lang="fa-IR" dirty="0" smtClean="0">
                <a:latin typeface="Times New Roman"/>
                <a:cs typeface="B Titr"/>
              </a:rPr>
              <a:t>۲- پرسشنامه اضطراب مرگ </a:t>
            </a:r>
            <a:r>
              <a:rPr lang="en-US" dirty="0">
                <a:latin typeface="Times New Roman"/>
                <a:cs typeface="B Titr"/>
              </a:rPr>
              <a:t> </a:t>
            </a:r>
            <a:r>
              <a:rPr lang="fa-IR" dirty="0" smtClean="0">
                <a:latin typeface="Times New Roman"/>
                <a:cs typeface="B Titr"/>
              </a:rPr>
              <a:t>:</a:t>
            </a:r>
            <a:endParaRPr lang="fa-IR" dirty="0">
              <a:latin typeface="Times New Roman"/>
              <a:cs typeface="B Titr"/>
            </a:endParaRPr>
          </a:p>
        </p:txBody>
      </p:sp>
    </p:spTree>
  </p:cSld>
  <p:clrMapOvr>
    <a:masterClrMapping/>
  </p:clrMapOvr>
  <p:transition spd="med" advTm="40600">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smtClean="0">
                <a:latin typeface="Times New Roman"/>
                <a:cs typeface="B Titr"/>
              </a:rPr>
              <a:t>ابزار پژوهش</a:t>
            </a:r>
            <a:endParaRPr lang="fa-IR" dirty="0">
              <a:latin typeface="Times New Roman"/>
              <a:cs typeface="B Titr"/>
            </a:endParaRP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۱۰</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dirty="0">
                <a:latin typeface="Times New Roman"/>
                <a:cs typeface="B Lotus"/>
              </a:rPr>
              <a:t>روش </a:t>
            </a:r>
            <a:r>
              <a:rPr lang="fa-IR" dirty="0" err="1">
                <a:latin typeface="Times New Roman"/>
                <a:cs typeface="B Lotus"/>
              </a:rPr>
              <a:t>شناسی</a:t>
            </a:r>
            <a:endParaRPr lang="fa-IR" dirty="0">
              <a:latin typeface="Times New Roman"/>
              <a:cs typeface="B Lotus"/>
            </a:endParaRPr>
          </a:p>
        </p:txBody>
      </p:sp>
      <p:sp>
        <p:nvSpPr>
          <p:cNvPr id="9" name="Rounded Rectangle 8"/>
          <p:cNvSpPr/>
          <p:nvPr/>
        </p:nvSpPr>
        <p:spPr>
          <a:xfrm>
            <a:off x="402336" y="1143000"/>
            <a:ext cx="11094415" cy="2476925"/>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280160" y="1721021"/>
            <a:ext cx="9512502" cy="1898904"/>
          </a:xfrm>
          <a:prstGeom prst="rect">
            <a:avLst/>
          </a:prstGeom>
          <a:noFill/>
        </p:spPr>
        <p:txBody>
          <a:bodyPr wrap="square" lIns="36576" tIns="18288" rIns="36576" bIns="18288" anchor="t"/>
          <a:lstStyle/>
          <a:p>
            <a:pPr algn="r" rtl="1">
              <a:lnSpc>
                <a:spcPct val="120000"/>
              </a:lnSpc>
              <a:spcAft>
                <a:spcPts val="900"/>
              </a:spcAft>
              <a:defRPr lang="fa-IR">
                <a:cs typeface="B Lotus"/>
              </a:defRPr>
            </a:pPr>
            <a:r>
              <a:rPr lang="fa-IR" sz="2000" b="0" dirty="0" smtClean="0">
                <a:solidFill>
                  <a:srgbClr val="22303B"/>
                </a:solidFill>
                <a:latin typeface="Times New Roman"/>
                <a:ea typeface="Times New Roman"/>
                <a:cs typeface="B Lotus"/>
              </a:rPr>
              <a:t>این پرسشنامه توسط </a:t>
            </a:r>
            <a:r>
              <a:rPr lang="fa-IR" sz="2000" b="0" dirty="0" err="1" smtClean="0">
                <a:solidFill>
                  <a:srgbClr val="22303B"/>
                </a:solidFill>
                <a:latin typeface="Times New Roman"/>
                <a:ea typeface="Times New Roman"/>
                <a:cs typeface="B Lotus"/>
              </a:rPr>
              <a:t>سالکووسکیس</a:t>
            </a:r>
            <a:r>
              <a:rPr lang="fa-IR" sz="2000" b="0" dirty="0" smtClean="0">
                <a:solidFill>
                  <a:srgbClr val="22303B"/>
                </a:solidFill>
                <a:latin typeface="Times New Roman"/>
                <a:ea typeface="Times New Roman"/>
                <a:cs typeface="B Lotus"/>
              </a:rPr>
              <a:t> تدوین شده (۲۰۰۲) شامل ۱۸ پرسش است و نمره گذاری </a:t>
            </a:r>
            <a:r>
              <a:rPr lang="fa-IR" sz="2000" b="0" dirty="0" err="1" smtClean="0">
                <a:solidFill>
                  <a:srgbClr val="22303B"/>
                </a:solidFill>
                <a:latin typeface="Times New Roman"/>
                <a:ea typeface="Times New Roman"/>
                <a:cs typeface="B Lotus"/>
              </a:rPr>
              <a:t>بصورت</a:t>
            </a:r>
            <a:r>
              <a:rPr lang="fa-IR" sz="2000" b="0" dirty="0" smtClean="0">
                <a:solidFill>
                  <a:srgbClr val="22303B"/>
                </a:solidFill>
                <a:latin typeface="Times New Roman"/>
                <a:ea typeface="Times New Roman"/>
                <a:cs typeface="B Lotus"/>
              </a:rPr>
              <a:t> ۴ درجه ای از صفر تا ۳ انجام می شود </a:t>
            </a:r>
          </a:p>
          <a:p>
            <a:pPr algn="r" rtl="1">
              <a:lnSpc>
                <a:spcPct val="120000"/>
              </a:lnSpc>
              <a:spcAft>
                <a:spcPts val="900"/>
              </a:spcAft>
              <a:defRPr lang="fa-IR">
                <a:cs typeface="B Lotus"/>
              </a:defRPr>
            </a:pPr>
            <a:r>
              <a:rPr lang="fa-IR" sz="2000" dirty="0" smtClean="0">
                <a:solidFill>
                  <a:srgbClr val="22303B"/>
                </a:solidFill>
                <a:latin typeface="Times New Roman"/>
                <a:ea typeface="Times New Roman"/>
                <a:cs typeface="B Lotus"/>
              </a:rPr>
              <a:t>نمرات بالا </a:t>
            </a:r>
            <a:r>
              <a:rPr lang="fa-IR" sz="2000" dirty="0" err="1" smtClean="0">
                <a:solidFill>
                  <a:srgbClr val="22303B"/>
                </a:solidFill>
                <a:latin typeface="Times New Roman"/>
                <a:ea typeface="Times New Roman"/>
                <a:cs typeface="B Lotus"/>
              </a:rPr>
              <a:t>نشانه‌ی</a:t>
            </a:r>
            <a:r>
              <a:rPr lang="fa-IR" sz="2000" dirty="0" smtClean="0">
                <a:solidFill>
                  <a:srgbClr val="22303B"/>
                </a:solidFill>
                <a:latin typeface="Times New Roman"/>
                <a:ea typeface="Times New Roman"/>
                <a:cs typeface="B Lotus"/>
              </a:rPr>
              <a:t>. اضطراب سلامتی زیاد فرد  از ابتلا به بیمار و ترس از بیمار بودن می باشد.</a:t>
            </a:r>
            <a:endParaRPr lang="fa-IR" sz="2000" b="0" dirty="0">
              <a:solidFill>
                <a:srgbClr val="22303B"/>
              </a:solidFill>
              <a:latin typeface="Times New Roman"/>
              <a:ea typeface="Times New Roman"/>
              <a:cs typeface="B Lotus"/>
            </a:endParaRPr>
          </a:p>
        </p:txBody>
      </p:sp>
      <p:sp>
        <p:nvSpPr>
          <p:cNvPr id="11" name="Rectangle 10"/>
          <p:cNvSpPr/>
          <p:nvPr/>
        </p:nvSpPr>
        <p:spPr>
          <a:xfrm>
            <a:off x="852513" y="1335938"/>
            <a:ext cx="128016" cy="457200"/>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607911" y="1290218"/>
            <a:ext cx="4587087" cy="548640"/>
          </a:xfrm>
          <a:prstGeom prst="rect">
            <a:avLst/>
          </a:prstGeom>
          <a:noFill/>
        </p:spPr>
        <p:txBody>
          <a:bodyPr wrap="square" lIns="36576" tIns="18288" rIns="36576" bIns="18288" anchor="t"/>
          <a:lstStyle/>
          <a:p>
            <a:pPr algn="r" rtl="1">
              <a:defRPr lang="fa-IR" sz="2000" b="1">
                <a:solidFill>
                  <a:srgbClr val="2C7A68"/>
                </a:solidFill>
                <a:latin typeface="Times New Roman"/>
                <a:ea typeface="Times New Roman"/>
                <a:cs typeface="B Titr"/>
              </a:defRPr>
            </a:pPr>
            <a:r>
              <a:rPr lang="fa-IR" dirty="0" smtClean="0">
                <a:latin typeface="Times New Roman"/>
                <a:cs typeface="B Titr"/>
              </a:rPr>
              <a:t>۲- پرسشنامه اضطراب سلامتی :</a:t>
            </a:r>
            <a:endParaRPr lang="fa-IR" dirty="0">
              <a:latin typeface="Times New Roman"/>
              <a:cs typeface="B Titr"/>
            </a:endParaRPr>
          </a:p>
        </p:txBody>
      </p:sp>
    </p:spTree>
    <p:extLst>
      <p:ext uri="{BB962C8B-B14F-4D97-AF65-F5344CB8AC3E}">
        <p14:creationId xmlns:p14="http://schemas.microsoft.com/office/powerpoint/2010/main" val="687048177"/>
      </p:ext>
    </p:extLst>
  </p:cSld>
  <p:clrMapOvr>
    <a:masterClrMapping/>
  </p:clrMapOvr>
  <p:transition spd="med" advTm="40600">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روش اجرای پژوهش</a:t>
            </a: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۱۰</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روش شناسی</a:t>
            </a:r>
          </a:p>
        </p:txBody>
      </p:sp>
      <p:sp>
        <p:nvSpPr>
          <p:cNvPr id="9" name="Rounded Rectangle 8"/>
          <p:cNvSpPr/>
          <p:nvPr/>
        </p:nvSpPr>
        <p:spPr>
          <a:xfrm>
            <a:off x="548640" y="1463040"/>
            <a:ext cx="11094415" cy="28346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97280" y="1828800"/>
            <a:ext cx="9997135" cy="2103120"/>
          </a:xfrm>
          <a:prstGeom prst="rect">
            <a:avLst/>
          </a:prstGeom>
          <a:noFill/>
        </p:spPr>
        <p:txBody>
          <a:bodyPr wrap="square" lIns="36576" tIns="18288" rIns="36576" bIns="18288" anchor="t"/>
          <a:lstStyle/>
          <a:p>
            <a:pPr indent="457200" algn="just" rtl="1">
              <a:lnSpc>
                <a:spcPct val="150000"/>
              </a:lnSpc>
              <a:spcAft>
                <a:spcPts val="900"/>
              </a:spcAft>
              <a:defRPr lang="fa-IR">
                <a:cs typeface="B Lotus"/>
              </a:defRPr>
            </a:pPr>
            <a:r>
              <a:rPr lang="fa-IR" sz="2000" b="0" dirty="0">
                <a:solidFill>
                  <a:srgbClr val="22303B"/>
                </a:solidFill>
                <a:latin typeface="Times New Roman"/>
                <a:ea typeface="Times New Roman"/>
                <a:cs typeface="B Lotus"/>
              </a:rPr>
              <a:t>روش اجرای پژوهش حاضر بدین صورت بود که پس از دریافت معرفی نامه از واحد </a:t>
            </a:r>
            <a:r>
              <a:rPr lang="fa-IR" sz="2000" b="0" dirty="0" err="1">
                <a:solidFill>
                  <a:srgbClr val="22303B"/>
                </a:solidFill>
                <a:latin typeface="Times New Roman"/>
                <a:ea typeface="Times New Roman"/>
                <a:cs typeface="B Lotus"/>
              </a:rPr>
              <a:t>پـژوهش</a:t>
            </a:r>
            <a:r>
              <a:rPr lang="fa-IR" sz="2000" b="0" dirty="0">
                <a:solidFill>
                  <a:srgbClr val="22303B"/>
                </a:solidFill>
                <a:latin typeface="Times New Roman"/>
                <a:ea typeface="Times New Roman"/>
                <a:cs typeface="B Lotus"/>
              </a:rPr>
              <a:t> </a:t>
            </a:r>
            <a:r>
              <a:rPr lang="fa-IR" sz="2000" b="0" dirty="0" err="1">
                <a:solidFill>
                  <a:srgbClr val="22303B"/>
                </a:solidFill>
                <a:latin typeface="Times New Roman"/>
                <a:ea typeface="Times New Roman"/>
                <a:cs typeface="B Lotus"/>
              </a:rPr>
              <a:t>دانـشگاه</a:t>
            </a:r>
            <a:r>
              <a:rPr lang="fa-IR" sz="2000" b="0" dirty="0">
                <a:solidFill>
                  <a:srgbClr val="22303B"/>
                </a:solidFill>
                <a:latin typeface="Times New Roman"/>
                <a:ea typeface="Times New Roman"/>
                <a:cs typeface="B Lotus"/>
              </a:rPr>
              <a:t> پیام نور واحد ساری، و دریافت اطلاعات از </a:t>
            </a:r>
            <a:r>
              <a:rPr lang="fa-IR" sz="2000" b="0" dirty="0" err="1">
                <a:solidFill>
                  <a:srgbClr val="22303B"/>
                </a:solidFill>
                <a:latin typeface="Times New Roman"/>
                <a:ea typeface="Times New Roman"/>
                <a:cs typeface="B Lotus"/>
              </a:rPr>
              <a:t>تعـداد</a:t>
            </a:r>
            <a:r>
              <a:rPr lang="fa-IR" sz="2000" b="0" dirty="0">
                <a:solidFill>
                  <a:srgbClr val="22303B"/>
                </a:solidFill>
                <a:latin typeface="Times New Roman"/>
                <a:ea typeface="Times New Roman"/>
                <a:cs typeface="B Lotus"/>
              </a:rPr>
              <a:t> سالمندان خانه سالمندان فرشتگان شهر تهران و شناسایی جامعه و نمونه آماری که جامعه آماری پژوهش شامل سالمندان بالای ۶۰ سال ساکن خانه سالمندان فرشتگان تهران بود. نمونه گیری به روش تصادفی ساده انجام شد و افرادی که شرایط ورود به مطالعه را داشتند (رضایت برای شرکت در پژوهش، سلامت نسبی روانی و توانایی پاسخگویی به پرسشنامه ها) ۸۰ نفر نظر به جدول </a:t>
            </a:r>
            <a:r>
              <a:rPr lang="fa-IR" sz="2000" b="0" dirty="0" err="1">
                <a:solidFill>
                  <a:srgbClr val="22303B"/>
                </a:solidFill>
                <a:latin typeface="Times New Roman"/>
                <a:ea typeface="Times New Roman"/>
                <a:cs typeface="B Lotus"/>
              </a:rPr>
              <a:t>کرجسی</a:t>
            </a:r>
            <a:r>
              <a:rPr lang="fa-IR" sz="2000" b="0" dirty="0">
                <a:solidFill>
                  <a:srgbClr val="22303B"/>
                </a:solidFill>
                <a:latin typeface="Times New Roman"/>
                <a:ea typeface="Times New Roman"/>
                <a:cs typeface="B Lotus"/>
              </a:rPr>
              <a:t> و </a:t>
            </a:r>
            <a:r>
              <a:rPr lang="fa-IR" sz="2000" b="0" dirty="0" err="1">
                <a:solidFill>
                  <a:srgbClr val="22303B"/>
                </a:solidFill>
                <a:latin typeface="Times New Roman"/>
                <a:ea typeface="Times New Roman"/>
                <a:cs typeface="B Lotus"/>
              </a:rPr>
              <a:t>مورگان</a:t>
            </a:r>
            <a:r>
              <a:rPr lang="fa-IR" sz="2000" b="0" dirty="0">
                <a:solidFill>
                  <a:srgbClr val="22303B"/>
                </a:solidFill>
                <a:latin typeface="Times New Roman"/>
                <a:ea typeface="Times New Roman"/>
                <a:cs typeface="B Lotus"/>
              </a:rPr>
              <a:t> به عنوان نمونه انتخاب شدند.</a:t>
            </a:r>
          </a:p>
        </p:txBody>
      </p:sp>
    </p:spTree>
    <p:extLst>
      <p:ext uri="{BB962C8B-B14F-4D97-AF65-F5344CB8AC3E}">
        <p14:creationId xmlns:p14="http://schemas.microsoft.com/office/powerpoint/2010/main" val="1929728333"/>
      </p:ext>
    </p:extLst>
  </p:cSld>
  <p:clrMapOvr>
    <a:masterClrMapping/>
  </p:clrMapOvr>
  <p:transition spd="med" advTm="40600">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روش تجزیه و تحلیل داده‌ها</a:t>
            </a:r>
          </a:p>
        </p:txBody>
      </p:sp>
      <p:sp>
        <p:nvSpPr>
          <p:cNvPr id="5" name="Rounded Rectangle 4"/>
          <p:cNvSpPr/>
          <p:nvPr/>
        </p:nvSpPr>
        <p:spPr>
          <a:xfrm>
            <a:off x="548640" y="502920"/>
            <a:ext cx="1220724" cy="365760"/>
          </a:xfrm>
          <a:prstGeom prst="roundRect">
            <a:avLst>
              <a:gd name="adj" fmla="val 50000"/>
            </a:avLst>
          </a:prstGeom>
          <a:solidFill>
            <a:srgbClr val="2C7A6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روش شناسی</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۱۱</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روش شناسی</a:t>
            </a:r>
          </a:p>
        </p:txBody>
      </p:sp>
      <p:sp>
        <p:nvSpPr>
          <p:cNvPr id="9" name="Rounded Rectangle 8"/>
          <p:cNvSpPr/>
          <p:nvPr/>
        </p:nvSpPr>
        <p:spPr>
          <a:xfrm>
            <a:off x="548640" y="1463040"/>
            <a:ext cx="11094415" cy="3317966"/>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97280" y="1828800"/>
            <a:ext cx="9997135" cy="2103120"/>
          </a:xfrm>
          <a:prstGeom prst="rect">
            <a:avLst/>
          </a:prstGeom>
          <a:noFill/>
        </p:spPr>
        <p:txBody>
          <a:bodyPr wrap="square" lIns="36576" tIns="18288" rIns="36576" bIns="18288" anchor="t"/>
          <a:lstStyle/>
          <a:p>
            <a:pPr indent="457200" algn="just" rtl="1">
              <a:lnSpc>
                <a:spcPct val="120000"/>
              </a:lnSpc>
              <a:spcAft>
                <a:spcPts val="900"/>
              </a:spcAft>
              <a:defRPr lang="fa-IR">
                <a:cs typeface="B Lotus"/>
              </a:defRPr>
            </a:pPr>
            <a:r>
              <a:rPr lang="fa-IR" sz="2000" b="0" dirty="0">
                <a:solidFill>
                  <a:srgbClr val="22303B"/>
                </a:solidFill>
                <a:latin typeface="Times New Roman"/>
                <a:ea typeface="Times New Roman"/>
                <a:cs typeface="B Lotus"/>
              </a:rPr>
              <a:t>پس از جمع آوری داده ها با استفاده از پرسشنامه ها، جهت تجزیه و تحلیل داده های اولیه از شاخص ها و روش های آمار توصیفی نظیر میانگین، انحراف معیار، فراوانی و درصد استفاده شد و برای آزمون های همبستگی بررسی رابطه بین متغیر ها از ضریب همبستگی </a:t>
            </a:r>
            <a:r>
              <a:rPr lang="fa-IR" sz="2000" b="0" dirty="0" err="1">
                <a:solidFill>
                  <a:srgbClr val="22303B"/>
                </a:solidFill>
                <a:latin typeface="Times New Roman"/>
                <a:ea typeface="Times New Roman"/>
                <a:cs typeface="B Lotus"/>
              </a:rPr>
              <a:t>پیرسون</a:t>
            </a:r>
            <a:r>
              <a:rPr lang="fa-IR" sz="2000" b="0" dirty="0">
                <a:solidFill>
                  <a:srgbClr val="22303B"/>
                </a:solidFill>
                <a:latin typeface="Times New Roman"/>
                <a:ea typeface="Times New Roman"/>
                <a:cs typeface="B Lotus"/>
              </a:rPr>
              <a:t> (با در نظر گرفتن نرمال بودن داده ها) و تحلیل </a:t>
            </a:r>
            <a:r>
              <a:rPr lang="fa-IR" sz="2000" b="0" dirty="0" err="1">
                <a:solidFill>
                  <a:srgbClr val="22303B"/>
                </a:solidFill>
                <a:latin typeface="Times New Roman"/>
                <a:ea typeface="Times New Roman"/>
                <a:cs typeface="B Lotus"/>
              </a:rPr>
              <a:t>رگرسیون</a:t>
            </a:r>
            <a:r>
              <a:rPr lang="fa-IR" sz="2000" b="0" dirty="0">
                <a:solidFill>
                  <a:srgbClr val="22303B"/>
                </a:solidFill>
                <a:latin typeface="Times New Roman"/>
                <a:ea typeface="Times New Roman"/>
                <a:cs typeface="B Lotus"/>
              </a:rPr>
              <a:t> خطی </a:t>
            </a:r>
            <a:r>
              <a:rPr lang="fa-IR" sz="2000" b="0" dirty="0" err="1">
                <a:solidFill>
                  <a:srgbClr val="22303B"/>
                </a:solidFill>
                <a:latin typeface="Times New Roman"/>
                <a:ea typeface="Times New Roman"/>
                <a:cs typeface="B Lotus"/>
              </a:rPr>
              <a:t>چندگانه</a:t>
            </a:r>
            <a:r>
              <a:rPr lang="fa-IR" sz="2000" b="0" dirty="0">
                <a:solidFill>
                  <a:srgbClr val="22303B"/>
                </a:solidFill>
                <a:latin typeface="Times New Roman"/>
                <a:ea typeface="Times New Roman"/>
                <a:cs typeface="B Lotus"/>
              </a:rPr>
              <a:t> برای بررسی نقش پیش بینی کننده هوش معنوی و اضطراب سلامتی </a:t>
            </a:r>
            <a:r>
              <a:rPr lang="fa-IR" sz="2000" b="0" dirty="0" smtClean="0">
                <a:solidFill>
                  <a:srgbClr val="22303B"/>
                </a:solidFill>
                <a:latin typeface="Times New Roman"/>
                <a:ea typeface="Times New Roman"/>
                <a:cs typeface="B Lotus"/>
              </a:rPr>
              <a:t>با </a:t>
            </a:r>
            <a:r>
              <a:rPr lang="fa-IR" sz="2000" b="1" dirty="0">
                <a:solidFill>
                  <a:srgbClr val="22303B"/>
                </a:solidFill>
                <a:latin typeface="Times New Roman"/>
                <a:ea typeface="Times New Roman"/>
                <a:cs typeface="B Lotus"/>
              </a:rPr>
              <a:t>اضطراب مرگ </a:t>
            </a:r>
            <a:r>
              <a:rPr lang="fa-IR" sz="2000" b="0" dirty="0">
                <a:solidFill>
                  <a:srgbClr val="22303B"/>
                </a:solidFill>
                <a:latin typeface="Times New Roman"/>
                <a:ea typeface="Times New Roman"/>
                <a:cs typeface="B Lotus"/>
              </a:rPr>
              <a:t>استفاده شد. </a:t>
            </a:r>
            <a:endParaRPr lang="fa-IR" sz="2000" b="0" dirty="0" smtClean="0">
              <a:solidFill>
                <a:srgbClr val="22303B"/>
              </a:solidFill>
              <a:latin typeface="Times New Roman"/>
              <a:ea typeface="Times New Roman"/>
              <a:cs typeface="B Lotus"/>
            </a:endParaRPr>
          </a:p>
          <a:p>
            <a:pPr indent="457200" algn="just" rtl="1">
              <a:lnSpc>
                <a:spcPct val="120000"/>
              </a:lnSpc>
              <a:spcAft>
                <a:spcPts val="900"/>
              </a:spcAft>
              <a:defRPr lang="fa-IR">
                <a:cs typeface="B Lotus"/>
              </a:defRPr>
            </a:pPr>
            <a:r>
              <a:rPr lang="fa-IR" sz="2000" b="0" dirty="0" smtClean="0">
                <a:solidFill>
                  <a:srgbClr val="22303B"/>
                </a:solidFill>
                <a:latin typeface="Times New Roman"/>
                <a:ea typeface="Times New Roman"/>
                <a:cs typeface="B Lotus"/>
              </a:rPr>
              <a:t>رضایت </a:t>
            </a:r>
            <a:r>
              <a:rPr lang="fa-IR" sz="2000" b="0" dirty="0">
                <a:solidFill>
                  <a:srgbClr val="22303B"/>
                </a:solidFill>
                <a:latin typeface="Times New Roman"/>
                <a:ea typeface="Times New Roman"/>
                <a:cs typeface="B Lotus"/>
              </a:rPr>
              <a:t>آگاهانه </a:t>
            </a:r>
            <a:r>
              <a:rPr lang="fa-IR" sz="2000" b="0" dirty="0" err="1">
                <a:solidFill>
                  <a:srgbClr val="22303B"/>
                </a:solidFill>
                <a:latin typeface="Times New Roman"/>
                <a:ea typeface="Times New Roman"/>
                <a:cs typeface="B Lotus"/>
              </a:rPr>
              <a:t>شرکت‌کنندگان</a:t>
            </a:r>
            <a:r>
              <a:rPr lang="fa-IR" sz="2000" b="0" dirty="0">
                <a:solidFill>
                  <a:srgbClr val="22303B"/>
                </a:solidFill>
                <a:latin typeface="Times New Roman"/>
                <a:ea typeface="Times New Roman"/>
                <a:cs typeface="B Lotus"/>
              </a:rPr>
              <a:t>، </a:t>
            </a:r>
            <a:r>
              <a:rPr lang="fa-IR" sz="2000" b="0" dirty="0" err="1">
                <a:solidFill>
                  <a:srgbClr val="22303B"/>
                </a:solidFill>
                <a:latin typeface="Times New Roman"/>
                <a:ea typeface="Times New Roman"/>
                <a:cs typeface="B Lotus"/>
              </a:rPr>
              <a:t>محرمانگی</a:t>
            </a:r>
            <a:r>
              <a:rPr lang="fa-IR" sz="2000" b="0" dirty="0">
                <a:solidFill>
                  <a:srgbClr val="22303B"/>
                </a:solidFill>
                <a:latin typeface="Times New Roman"/>
                <a:ea typeface="Times New Roman"/>
                <a:cs typeface="B Lotus"/>
              </a:rPr>
              <a:t> اطلاعات و امکان انصراف از پژوهش رعایت شد. داده های گردآوری شده با استفاده از نرم افزار ‎</a:t>
            </a:r>
            <a:r>
              <a:rPr lang="fa-IR" sz="2000" b="0" dirty="0" err="1">
                <a:solidFill>
                  <a:srgbClr val="22303B"/>
                </a:solidFill>
                <a:latin typeface="Times New Roman"/>
                <a:ea typeface="Times New Roman"/>
                <a:cs typeface="B Lotus"/>
              </a:rPr>
              <a:t>spss</a:t>
            </a:r>
            <a:r>
              <a:rPr lang="fa-IR" sz="2000" b="0" dirty="0">
                <a:solidFill>
                  <a:srgbClr val="22303B"/>
                </a:solidFill>
                <a:latin typeface="Times New Roman"/>
                <a:ea typeface="Times New Roman"/>
                <a:cs typeface="B Lotus"/>
              </a:rPr>
              <a:t>‎ نسخه ‎26‎ تجزیه و تحلیل شد.</a:t>
            </a:r>
          </a:p>
        </p:txBody>
      </p:sp>
    </p:spTree>
  </p:cSld>
  <p:clrMapOvr>
    <a:masterClrMapping/>
  </p:clrMapOvr>
  <p:transition spd="med" advTm="44120">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48640" y="1737360"/>
            <a:ext cx="4754880" cy="3291840"/>
          </a:xfrm>
          <a:prstGeom prst="rect">
            <a:avLst/>
          </a:prstGeom>
          <a:noFill/>
        </p:spPr>
        <p:txBody>
          <a:bodyPr wrap="square" lIns="36576" tIns="18288" rIns="36576" bIns="18288" anchor="ctr"/>
          <a:lstStyle/>
          <a:p>
            <a:pPr algn="l" rtl="1">
              <a:defRPr lang="fa-IR" sz="19000" b="1">
                <a:solidFill>
                  <a:srgbClr val="274A6B"/>
                </a:solidFill>
                <a:latin typeface="Times New Roman"/>
                <a:ea typeface="Times New Roman"/>
                <a:cs typeface="B Titr"/>
              </a:defRPr>
            </a:pPr>
            <a:r>
              <a:rPr lang="fa-IR">
                <a:latin typeface="Times New Roman"/>
                <a:cs typeface="B Titr"/>
              </a:rPr>
              <a:t>۴</a:t>
            </a:r>
          </a:p>
        </p:txBody>
      </p:sp>
      <p:sp>
        <p:nvSpPr>
          <p:cNvPr id="4" name="Rectangle 3"/>
          <p:cNvSpPr/>
          <p:nvPr/>
        </p:nvSpPr>
        <p:spPr>
          <a:xfrm>
            <a:off x="7711135" y="2487168"/>
            <a:ext cx="3383280" cy="45720"/>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2697480"/>
            <a:ext cx="11094415" cy="1143000"/>
          </a:xfrm>
          <a:prstGeom prst="rect">
            <a:avLst/>
          </a:prstGeom>
          <a:noFill/>
        </p:spPr>
        <p:txBody>
          <a:bodyPr wrap="square" lIns="36576" tIns="18288" rIns="36576" bIns="18288" anchor="ctr"/>
          <a:lstStyle/>
          <a:p>
            <a:pPr algn="r" rtl="1">
              <a:defRPr lang="fa-IR" sz="4600" b="1">
                <a:solidFill>
                  <a:srgbClr val="FFFFFF"/>
                </a:solidFill>
                <a:latin typeface="Times New Roman"/>
                <a:ea typeface="Times New Roman"/>
                <a:cs typeface="B Titr"/>
              </a:defRPr>
            </a:pPr>
            <a:r>
              <a:rPr lang="fa-IR">
                <a:latin typeface="Times New Roman"/>
                <a:cs typeface="B Titr"/>
              </a:rPr>
              <a:t>نتایج و بحث</a:t>
            </a:r>
          </a:p>
        </p:txBody>
      </p:sp>
      <p:sp>
        <p:nvSpPr>
          <p:cNvPr id="6" name="Rectangle 5"/>
          <p:cNvSpPr/>
          <p:nvPr/>
        </p:nvSpPr>
        <p:spPr>
          <a:xfrm>
            <a:off x="9533900"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533900"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مقدمه و کلیات</a:t>
            </a:r>
          </a:p>
        </p:txBody>
      </p:sp>
      <p:sp>
        <p:nvSpPr>
          <p:cNvPr id="8" name="Rectangle 7"/>
          <p:cNvSpPr/>
          <p:nvPr/>
        </p:nvSpPr>
        <p:spPr>
          <a:xfrm>
            <a:off x="7315017"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017"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مبانی و پیشینه</a:t>
            </a:r>
          </a:p>
        </p:txBody>
      </p:sp>
      <p:sp>
        <p:nvSpPr>
          <p:cNvPr id="10" name="Rectangle 9"/>
          <p:cNvSpPr/>
          <p:nvPr/>
        </p:nvSpPr>
        <p:spPr>
          <a:xfrm>
            <a:off x="5096134"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096134"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روش شناسی</a:t>
            </a:r>
          </a:p>
        </p:txBody>
      </p:sp>
      <p:sp>
        <p:nvSpPr>
          <p:cNvPr id="12" name="Rectangle 11"/>
          <p:cNvSpPr/>
          <p:nvPr/>
        </p:nvSpPr>
        <p:spPr>
          <a:xfrm>
            <a:off x="2877251" y="5504688"/>
            <a:ext cx="1999427" cy="32004"/>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77251" y="5632704"/>
            <a:ext cx="1999427" cy="457200"/>
          </a:xfrm>
          <a:prstGeom prst="rect">
            <a:avLst/>
          </a:prstGeom>
          <a:noFill/>
        </p:spPr>
        <p:txBody>
          <a:bodyPr wrap="square" lIns="36576" tIns="18288" rIns="36576" bIns="18288" anchor="t"/>
          <a:lstStyle/>
          <a:p>
            <a:pPr algn="ctr" rtl="1">
              <a:defRPr lang="fa-IR" sz="1250" b="1">
                <a:solidFill>
                  <a:srgbClr val="FFFFFF"/>
                </a:solidFill>
                <a:latin typeface="Times New Roman"/>
                <a:ea typeface="Times New Roman"/>
                <a:cs typeface="B Titr"/>
              </a:defRPr>
            </a:pPr>
            <a:r>
              <a:rPr lang="fa-IR">
                <a:latin typeface="Times New Roman"/>
                <a:cs typeface="B Lotus"/>
              </a:rPr>
              <a:t>نتایج و بحث</a:t>
            </a:r>
          </a:p>
        </p:txBody>
      </p:sp>
      <p:sp>
        <p:nvSpPr>
          <p:cNvPr id="14" name="Rectangle 13"/>
          <p:cNvSpPr/>
          <p:nvPr/>
        </p:nvSpPr>
        <p:spPr>
          <a:xfrm>
            <a:off x="658368"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58368"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نتیجه گیری و پیشنهادات</a:t>
            </a:r>
          </a:p>
        </p:txBody>
      </p:sp>
    </p:spTree>
  </p:cSld>
  <p:clrMapOvr>
    <a:masterClrMapping/>
  </p:clrMapOvr>
  <p:transition spd="slow" advTm="650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یافته‌های توصیفی</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۱۲</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Rounded Rectangle 8"/>
          <p:cNvSpPr/>
          <p:nvPr/>
        </p:nvSpPr>
        <p:spPr>
          <a:xfrm>
            <a:off x="8115605" y="1508760"/>
            <a:ext cx="3527450" cy="3749039"/>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115605" y="1737360"/>
            <a:ext cx="3527450" cy="457200"/>
          </a:xfrm>
          <a:prstGeom prst="rect">
            <a:avLst/>
          </a:prstGeom>
          <a:noFill/>
        </p:spPr>
        <p:txBody>
          <a:bodyPr wrap="square" lIns="36576" tIns="18288" rIns="36576" bIns="18288" anchor="t"/>
          <a:lstStyle/>
          <a:p>
            <a:pPr algn="ctr" rtl="1">
              <a:defRPr lang="fa-IR" sz="1800" b="1">
                <a:solidFill>
                  <a:srgbClr val="B4822F"/>
                </a:solidFill>
                <a:latin typeface="Times New Roman"/>
                <a:ea typeface="Times New Roman"/>
                <a:cs typeface="B Titr"/>
              </a:defRPr>
            </a:pPr>
            <a:r>
              <a:rPr lang="fa-IR">
                <a:latin typeface="Times New Roman"/>
                <a:cs typeface="B Lotus"/>
              </a:rPr>
              <a:t>جنسیت</a:t>
            </a:r>
          </a:p>
        </p:txBody>
      </p:sp>
      <p:graphicFrame>
        <p:nvGraphicFramePr>
          <p:cNvPr id="11" name="Table 10"/>
          <p:cNvGraphicFramePr>
            <a:graphicFrameLocks noGrp="1"/>
          </p:cNvGraphicFramePr>
          <p:nvPr/>
        </p:nvGraphicFramePr>
        <p:xfrm>
          <a:off x="8280197" y="2331720"/>
          <a:ext cx="3198264" cy="1426464"/>
        </p:xfrm>
        <a:graphic>
          <a:graphicData uri="http://schemas.openxmlformats.org/drawingml/2006/table">
            <a:tbl>
              <a:tblPr firstRow="1">
                <a:tableStyleId>{5C22544A-7EE6-4342-B048-85BDC9FD1C3A}</a:tableStyleId>
              </a:tblPr>
              <a:tblGrid>
                <a:gridCol w="1066088"/>
                <a:gridCol w="1066088"/>
                <a:gridCol w="1066088"/>
              </a:tblGrid>
              <a:tr h="384048">
                <a:tc>
                  <a:txBody>
                    <a:bodyPr/>
                    <a:lstStyle/>
                    <a:p>
                      <a:pPr algn="ctr" rtl="1">
                        <a:defRPr lang="fa-IR">
                          <a:cs typeface="B Lotus"/>
                        </a:defRPr>
                      </a:pPr>
                      <a:r>
                        <a:rPr lang="fa-IR" sz="1300" b="1" dirty="0">
                          <a:solidFill>
                            <a:srgbClr val="102C47"/>
                          </a:solidFill>
                          <a:latin typeface="Times New Roman"/>
                          <a:cs typeface="B Lotus"/>
                        </a:rPr>
                        <a:t>درصد</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فراوانی</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جنسیت</a:t>
                      </a:r>
                    </a:p>
                  </a:txBody>
                  <a:tcPr marL="45720" marR="45720" marT="18288" marB="18288" anchor="ctr">
                    <a:solidFill>
                      <a:srgbClr val="ECF1F5"/>
                    </a:solidFill>
                  </a:tcPr>
                </a:tc>
              </a:tr>
              <a:tr h="347472">
                <a:tc>
                  <a:txBody>
                    <a:bodyPr/>
                    <a:lstStyle/>
                    <a:p>
                      <a:pPr algn="ctr" rtl="1">
                        <a:defRPr lang="fa-IR">
                          <a:cs typeface="B Lotus"/>
                        </a:defRPr>
                      </a:pPr>
                      <a:r>
                        <a:rPr lang="fa-IR" sz="1300" b="0">
                          <a:solidFill>
                            <a:srgbClr val="22303B"/>
                          </a:solidFill>
                          <a:latin typeface="Times New Roman"/>
                          <a:cs typeface="B Lotus"/>
                        </a:rPr>
                        <a:t>۵۸.۸٪</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۴۷</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زن</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۴۱.۲٪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۳۳</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مرد</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۱۰۰٪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۸۰</a:t>
                      </a:r>
                    </a:p>
                  </a:txBody>
                  <a:tcPr marL="45720" marR="45720" marT="18288" marB="18288" anchor="ctr">
                    <a:solidFill>
                      <a:srgbClr val="FFFFFF"/>
                    </a:solidFill>
                  </a:tcPr>
                </a:tc>
                <a:tc>
                  <a:txBody>
                    <a:bodyPr/>
                    <a:lstStyle/>
                    <a:p>
                      <a:pPr algn="ctr" rtl="1">
                        <a:defRPr lang="fa-IR">
                          <a:cs typeface="B Lotus"/>
                        </a:defRPr>
                      </a:pPr>
                      <a:r>
                        <a:rPr lang="fa-IR" sz="1300" b="0" dirty="0">
                          <a:solidFill>
                            <a:srgbClr val="22303B"/>
                          </a:solidFill>
                          <a:latin typeface="Times New Roman"/>
                          <a:cs typeface="B Lotus"/>
                        </a:rPr>
                        <a:t>کل</a:t>
                      </a:r>
                    </a:p>
                  </a:txBody>
                  <a:tcPr marL="45720" marR="45720" marT="18288" marB="18288" anchor="ctr">
                    <a:solidFill>
                      <a:srgbClr val="FFFFFF"/>
                    </a:solidFill>
                  </a:tcPr>
                </a:tc>
              </a:tr>
            </a:tbl>
          </a:graphicData>
        </a:graphic>
      </p:graphicFrame>
      <p:sp>
        <p:nvSpPr>
          <p:cNvPr id="12" name="Rounded Rectangle 11"/>
          <p:cNvSpPr/>
          <p:nvPr/>
        </p:nvSpPr>
        <p:spPr>
          <a:xfrm>
            <a:off x="4332123" y="1508760"/>
            <a:ext cx="3527450" cy="3749039"/>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332123" y="1737360"/>
            <a:ext cx="3527450" cy="457200"/>
          </a:xfrm>
          <a:prstGeom prst="rect">
            <a:avLst/>
          </a:prstGeom>
          <a:noFill/>
        </p:spPr>
        <p:txBody>
          <a:bodyPr wrap="square" lIns="36576" tIns="18288" rIns="36576" bIns="18288" anchor="t"/>
          <a:lstStyle/>
          <a:p>
            <a:pPr algn="ctr" rtl="1">
              <a:defRPr lang="fa-IR" sz="1800" b="1">
                <a:solidFill>
                  <a:srgbClr val="B4822F"/>
                </a:solidFill>
                <a:latin typeface="Times New Roman"/>
                <a:ea typeface="Times New Roman"/>
                <a:cs typeface="B Titr"/>
              </a:defRPr>
            </a:pPr>
            <a:r>
              <a:rPr lang="fa-IR">
                <a:latin typeface="Times New Roman"/>
                <a:cs typeface="B Lotus"/>
              </a:rPr>
              <a:t>وضعیت تأهل</a:t>
            </a:r>
          </a:p>
        </p:txBody>
      </p:sp>
      <p:graphicFrame>
        <p:nvGraphicFramePr>
          <p:cNvPr id="14" name="Table 13"/>
          <p:cNvGraphicFramePr>
            <a:graphicFrameLocks noGrp="1"/>
          </p:cNvGraphicFramePr>
          <p:nvPr/>
        </p:nvGraphicFramePr>
        <p:xfrm>
          <a:off x="4496715" y="2331720"/>
          <a:ext cx="3198264" cy="1773936"/>
        </p:xfrm>
        <a:graphic>
          <a:graphicData uri="http://schemas.openxmlformats.org/drawingml/2006/table">
            <a:tbl>
              <a:tblPr firstRow="1">
                <a:tableStyleId>{5C22544A-7EE6-4342-B048-85BDC9FD1C3A}</a:tableStyleId>
              </a:tblPr>
              <a:tblGrid>
                <a:gridCol w="1066088"/>
                <a:gridCol w="1066088"/>
                <a:gridCol w="1066088"/>
              </a:tblGrid>
              <a:tr h="384048">
                <a:tc>
                  <a:txBody>
                    <a:bodyPr/>
                    <a:lstStyle/>
                    <a:p>
                      <a:pPr algn="ctr" rtl="1">
                        <a:defRPr lang="fa-IR">
                          <a:cs typeface="B Lotus"/>
                        </a:defRPr>
                      </a:pPr>
                      <a:r>
                        <a:rPr lang="fa-IR" sz="1300" b="1">
                          <a:solidFill>
                            <a:srgbClr val="102C47"/>
                          </a:solidFill>
                          <a:latin typeface="Times New Roman"/>
                          <a:cs typeface="B Lotus"/>
                        </a:rPr>
                        <a:t>درصد</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فراوانی</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وضعیت تأهل</a:t>
                      </a:r>
                    </a:p>
                  </a:txBody>
                  <a:tcPr marL="45720" marR="45720" marT="18288" marB="18288" anchor="ctr">
                    <a:solidFill>
                      <a:srgbClr val="ECF1F5"/>
                    </a:solidFill>
                  </a:tcPr>
                </a:tc>
              </a:tr>
              <a:tr h="347472">
                <a:tc>
                  <a:txBody>
                    <a:bodyPr/>
                    <a:lstStyle/>
                    <a:p>
                      <a:pPr algn="ctr" rtl="1">
                        <a:defRPr lang="fa-IR">
                          <a:cs typeface="B Lotus"/>
                        </a:defRPr>
                      </a:pPr>
                      <a:r>
                        <a:rPr lang="fa-IR" sz="1300" b="0">
                          <a:solidFill>
                            <a:srgbClr val="22303B"/>
                          </a:solidFill>
                          <a:latin typeface="Times New Roman"/>
                          <a:cs typeface="B Lotus"/>
                        </a:rPr>
                        <a:t>۱۰.۰٪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۸</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مجرد</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۵۷.۵٪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۴۶</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متأهل</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۳۲.۵٪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۲۶</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جدا شده</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۱۰۰٪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۸۰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کل</a:t>
                      </a:r>
                    </a:p>
                  </a:txBody>
                  <a:tcPr marL="45720" marR="45720" marT="18288" marB="18288" anchor="ctr">
                    <a:solidFill>
                      <a:srgbClr val="FFFFFF"/>
                    </a:solidFill>
                  </a:tcPr>
                </a:tc>
              </a:tr>
            </a:tbl>
          </a:graphicData>
        </a:graphic>
      </p:graphicFrame>
      <p:sp>
        <p:nvSpPr>
          <p:cNvPr id="15" name="Rounded Rectangle 14"/>
          <p:cNvSpPr/>
          <p:nvPr/>
        </p:nvSpPr>
        <p:spPr>
          <a:xfrm>
            <a:off x="548641" y="1508760"/>
            <a:ext cx="3527450" cy="3749039"/>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548641" y="1737360"/>
            <a:ext cx="3527450" cy="457200"/>
          </a:xfrm>
          <a:prstGeom prst="rect">
            <a:avLst/>
          </a:prstGeom>
          <a:noFill/>
        </p:spPr>
        <p:txBody>
          <a:bodyPr wrap="square" lIns="36576" tIns="18288" rIns="36576" bIns="18288" anchor="t"/>
          <a:lstStyle/>
          <a:p>
            <a:pPr algn="ctr" rtl="1">
              <a:defRPr lang="fa-IR" sz="1800" b="1">
                <a:solidFill>
                  <a:srgbClr val="B4822F"/>
                </a:solidFill>
                <a:latin typeface="Times New Roman"/>
                <a:ea typeface="Times New Roman"/>
                <a:cs typeface="B Titr"/>
              </a:defRPr>
            </a:pPr>
            <a:r>
              <a:rPr lang="fa-IR">
                <a:latin typeface="Times New Roman"/>
                <a:cs typeface="B Lotus"/>
              </a:rPr>
              <a:t>تحصیلات</a:t>
            </a:r>
          </a:p>
        </p:txBody>
      </p:sp>
      <p:graphicFrame>
        <p:nvGraphicFramePr>
          <p:cNvPr id="17" name="Table 16"/>
          <p:cNvGraphicFramePr>
            <a:graphicFrameLocks noGrp="1"/>
          </p:cNvGraphicFramePr>
          <p:nvPr/>
        </p:nvGraphicFramePr>
        <p:xfrm>
          <a:off x="713233" y="2331720"/>
          <a:ext cx="3198264" cy="2121408"/>
        </p:xfrm>
        <a:graphic>
          <a:graphicData uri="http://schemas.openxmlformats.org/drawingml/2006/table">
            <a:tbl>
              <a:tblPr firstRow="1">
                <a:tableStyleId>{5C22544A-7EE6-4342-B048-85BDC9FD1C3A}</a:tableStyleId>
              </a:tblPr>
              <a:tblGrid>
                <a:gridCol w="1066088"/>
                <a:gridCol w="1066088"/>
                <a:gridCol w="1066088"/>
              </a:tblGrid>
              <a:tr h="384048">
                <a:tc>
                  <a:txBody>
                    <a:bodyPr/>
                    <a:lstStyle/>
                    <a:p>
                      <a:pPr algn="ctr" rtl="1">
                        <a:defRPr lang="fa-IR">
                          <a:cs typeface="B Lotus"/>
                        </a:defRPr>
                      </a:pPr>
                      <a:r>
                        <a:rPr lang="fa-IR" sz="1300" b="1">
                          <a:solidFill>
                            <a:srgbClr val="102C47"/>
                          </a:solidFill>
                          <a:latin typeface="Times New Roman"/>
                          <a:cs typeface="B Lotus"/>
                        </a:rPr>
                        <a:t>درصد</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فراوانی</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تحصیلات</a:t>
                      </a:r>
                    </a:p>
                  </a:txBody>
                  <a:tcPr marL="45720" marR="45720" marT="18288" marB="18288" anchor="ctr">
                    <a:solidFill>
                      <a:srgbClr val="ECF1F5"/>
                    </a:solidFill>
                  </a:tcPr>
                </a:tc>
              </a:tr>
              <a:tr h="347472">
                <a:tc>
                  <a:txBody>
                    <a:bodyPr/>
                    <a:lstStyle/>
                    <a:p>
                      <a:pPr algn="ctr" rtl="1">
                        <a:defRPr lang="fa-IR">
                          <a:cs typeface="B Lotus"/>
                        </a:defRPr>
                      </a:pPr>
                      <a:r>
                        <a:rPr lang="fa-IR" sz="1300" b="0">
                          <a:solidFill>
                            <a:srgbClr val="22303B"/>
                          </a:solidFill>
                          <a:latin typeface="Times New Roman"/>
                          <a:cs typeface="B Lotus"/>
                        </a:rPr>
                        <a:t>۲۲.۵٪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۱۸</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زیر دیپلم</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۲۶.۲٪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دیپلم</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۳۰.۰٪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۲۴</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کاردانی</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۲۱.۳٪</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۱۷</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کارشناسی و بالاتر</a:t>
                      </a:r>
                    </a:p>
                  </a:txBody>
                  <a:tcPr marL="45720" marR="45720" marT="18288" marB="18288" anchor="ctr">
                    <a:solidFill>
                      <a:srgbClr val="FFFFFF"/>
                    </a:solidFill>
                  </a:tcPr>
                </a:tc>
              </a:tr>
              <a:tr h="347472">
                <a:tc>
                  <a:txBody>
                    <a:bodyPr/>
                    <a:lstStyle/>
                    <a:p>
                      <a:pPr algn="ctr" rtl="1">
                        <a:defRPr lang="fa-IR">
                          <a:cs typeface="B Lotus"/>
                        </a:defRPr>
                      </a:pPr>
                      <a:r>
                        <a:rPr lang="fa-IR" sz="1300" b="0">
                          <a:solidFill>
                            <a:srgbClr val="22303B"/>
                          </a:solidFill>
                          <a:latin typeface="Times New Roman"/>
                          <a:cs typeface="B Lotus"/>
                        </a:rPr>
                        <a:t>۱۰۰٪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۸۰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کل</a:t>
                      </a:r>
                    </a:p>
                  </a:txBody>
                  <a:tcPr marL="45720" marR="45720" marT="18288" marB="18288" anchor="ctr">
                    <a:solidFill>
                      <a:srgbClr val="FFFFFF"/>
                    </a:solidFill>
                  </a:tcPr>
                </a:tc>
              </a:tr>
            </a:tbl>
          </a:graphicData>
        </a:graphic>
      </p:graphicFrame>
    </p:spTree>
  </p:cSld>
  <p:clrMapOvr>
    <a:masterClrMapping/>
  </p:clrMapOvr>
  <p:transition spd="med" advTm="32110">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dirty="0" err="1" smtClean="0">
                <a:latin typeface="Times New Roman"/>
                <a:cs typeface="B Titr"/>
              </a:rPr>
              <a:t>مفروضه</a:t>
            </a:r>
            <a:r>
              <a:rPr lang="fa-IR" dirty="0" smtClean="0">
                <a:latin typeface="Times New Roman"/>
                <a:cs typeface="B Titr"/>
              </a:rPr>
              <a:t> های زیربنایی آزمون های </a:t>
            </a:r>
            <a:r>
              <a:rPr lang="fa-IR" dirty="0" err="1" smtClean="0">
                <a:latin typeface="Times New Roman"/>
                <a:cs typeface="B Titr"/>
              </a:rPr>
              <a:t>پارامتریک</a:t>
            </a:r>
            <a:r>
              <a:rPr lang="fa-IR" dirty="0" smtClean="0">
                <a:latin typeface="Times New Roman"/>
                <a:cs typeface="B Titr"/>
              </a:rPr>
              <a:t> </a:t>
            </a:r>
            <a:r>
              <a:rPr lang="fa-IR" dirty="0">
                <a:latin typeface="Times New Roman"/>
                <a:cs typeface="B Titr"/>
              </a:rPr>
              <a:t>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11" name="Rounded Rectangle 10"/>
          <p:cNvSpPr/>
          <p:nvPr/>
        </p:nvSpPr>
        <p:spPr>
          <a:xfrm>
            <a:off x="548640" y="1216152"/>
            <a:ext cx="11094415" cy="5047488"/>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066647" y="1389888"/>
            <a:ext cx="10180015" cy="4645152"/>
          </a:xfrm>
          <a:prstGeom prst="rect">
            <a:avLst/>
          </a:prstGeom>
          <a:noFill/>
        </p:spPr>
        <p:txBody>
          <a:bodyPr wrap="square" lIns="36576" tIns="18288" rIns="36576" bIns="18288" anchor="t"/>
          <a:lstStyle/>
          <a:p>
            <a:pPr indent="457200" algn="just" rtl="1">
              <a:lnSpc>
                <a:spcPct val="150000"/>
              </a:lnSpc>
              <a:spcAft>
                <a:spcPts val="0"/>
              </a:spcAft>
              <a:defRPr lang="fa-IR">
                <a:cs typeface="B Lotus"/>
              </a:defRPr>
            </a:pPr>
            <a:r>
              <a:rPr lang="fa-IR" sz="2000" b="0" dirty="0" smtClean="0">
                <a:solidFill>
                  <a:srgbClr val="22303B"/>
                </a:solidFill>
                <a:latin typeface="Times New Roman"/>
                <a:ea typeface="Times New Roman"/>
                <a:cs typeface="B Lotus"/>
              </a:rPr>
              <a:t>پیش از اجرای تحلیل های </a:t>
            </a:r>
            <a:r>
              <a:rPr lang="fa-IR" sz="2000" b="0" dirty="0" err="1" smtClean="0">
                <a:solidFill>
                  <a:srgbClr val="22303B"/>
                </a:solidFill>
                <a:latin typeface="Times New Roman"/>
                <a:ea typeface="Times New Roman"/>
                <a:cs typeface="B Lotus"/>
              </a:rPr>
              <a:t>استتنباطی</a:t>
            </a:r>
            <a:r>
              <a:rPr lang="fa-IR" sz="2000" b="0" dirty="0" smtClean="0">
                <a:solidFill>
                  <a:srgbClr val="22303B"/>
                </a:solidFill>
                <a:latin typeface="Times New Roman"/>
                <a:ea typeface="Times New Roman"/>
                <a:cs typeface="B Lotus"/>
              </a:rPr>
              <a:t> </a:t>
            </a:r>
            <a:r>
              <a:rPr lang="fa-IR" sz="2000" b="0" dirty="0" err="1" smtClean="0">
                <a:solidFill>
                  <a:srgbClr val="22303B"/>
                </a:solidFill>
                <a:latin typeface="Times New Roman"/>
                <a:ea typeface="Times New Roman"/>
                <a:cs typeface="B Lotus"/>
              </a:rPr>
              <a:t>مفروضه</a:t>
            </a:r>
            <a:r>
              <a:rPr lang="fa-IR" sz="2000" b="0" dirty="0" smtClean="0">
                <a:solidFill>
                  <a:srgbClr val="22303B"/>
                </a:solidFill>
                <a:latin typeface="Times New Roman"/>
                <a:ea typeface="Times New Roman"/>
                <a:cs typeface="B Lotus"/>
              </a:rPr>
              <a:t> های زیربنایی </a:t>
            </a:r>
            <a:r>
              <a:rPr lang="fa-IR" sz="2000" b="0" dirty="0" err="1" smtClean="0">
                <a:solidFill>
                  <a:srgbClr val="22303B"/>
                </a:solidFill>
                <a:latin typeface="Times New Roman"/>
                <a:ea typeface="Times New Roman"/>
                <a:cs typeface="B Lotus"/>
              </a:rPr>
              <a:t>پارامتریک</a:t>
            </a:r>
            <a:r>
              <a:rPr lang="fa-IR" sz="2000" b="0" dirty="0" smtClean="0">
                <a:solidFill>
                  <a:srgbClr val="22303B"/>
                </a:solidFill>
                <a:latin typeface="Times New Roman"/>
                <a:ea typeface="Times New Roman"/>
                <a:cs typeface="B Lotus"/>
              </a:rPr>
              <a:t> بررسی شد تا از تناسب روشهای آماری با داده ها اطمینان حاصل شود </a:t>
            </a:r>
          </a:p>
          <a:p>
            <a:pPr indent="457200" algn="just" rtl="1">
              <a:lnSpc>
                <a:spcPct val="150000"/>
              </a:lnSpc>
              <a:spcAft>
                <a:spcPts val="0"/>
              </a:spcAft>
              <a:defRPr lang="fa-IR">
                <a:cs typeface="B Lotus"/>
              </a:defRPr>
            </a:pPr>
            <a:r>
              <a:rPr lang="fa-IR" sz="2000" dirty="0" smtClean="0">
                <a:solidFill>
                  <a:srgbClr val="22303B"/>
                </a:solidFill>
                <a:latin typeface="Times New Roman"/>
                <a:ea typeface="Times New Roman"/>
                <a:cs typeface="B Lotus"/>
              </a:rPr>
              <a:t>۱- نرمال بودن توزیع نمرات متغیرهای پژوهش با استفاده آزمون </a:t>
            </a:r>
            <a:r>
              <a:rPr lang="fa-IR" sz="2000" dirty="0" err="1" smtClean="0">
                <a:solidFill>
                  <a:srgbClr val="22303B"/>
                </a:solidFill>
                <a:latin typeface="Times New Roman"/>
                <a:ea typeface="Times New Roman"/>
                <a:cs typeface="B Lotus"/>
              </a:rPr>
              <a:t>کولموگروف-اسمیرنف</a:t>
            </a:r>
            <a:r>
              <a:rPr lang="fa-IR" sz="2000" dirty="0" smtClean="0">
                <a:solidFill>
                  <a:srgbClr val="22303B"/>
                </a:solidFill>
                <a:latin typeface="Times New Roman"/>
                <a:ea typeface="Times New Roman"/>
                <a:cs typeface="B Lotus"/>
              </a:rPr>
              <a:t> ، نتایج این آزمون برای هر سه متغیر اضطراب سلامت و اضطراب مرگ در سطح معناداری ۰/۰۵ معنادار نبود و با توزیع نرمال تفاوت معناداری ندارد و فرض نرمال بودن برقرار  است.. بر همین مبنا استفاده از ضریب همبستگی </a:t>
            </a:r>
            <a:r>
              <a:rPr lang="fa-IR" sz="2000" dirty="0" err="1" smtClean="0">
                <a:solidFill>
                  <a:srgbClr val="22303B"/>
                </a:solidFill>
                <a:latin typeface="Times New Roman"/>
                <a:ea typeface="Times New Roman"/>
                <a:cs typeface="B Lotus"/>
              </a:rPr>
              <a:t>پیرسون</a:t>
            </a:r>
            <a:r>
              <a:rPr lang="fa-IR" sz="2000" dirty="0" smtClean="0">
                <a:solidFill>
                  <a:srgbClr val="22303B"/>
                </a:solidFill>
                <a:latin typeface="Times New Roman"/>
                <a:ea typeface="Times New Roman"/>
                <a:cs typeface="B Lotus"/>
              </a:rPr>
              <a:t> و تحلیل </a:t>
            </a:r>
            <a:r>
              <a:rPr lang="fa-IR" sz="2000" dirty="0" err="1" smtClean="0">
                <a:solidFill>
                  <a:srgbClr val="22303B"/>
                </a:solidFill>
                <a:latin typeface="Times New Roman"/>
                <a:ea typeface="Times New Roman"/>
                <a:cs typeface="B Lotus"/>
              </a:rPr>
              <a:t>رگرسیون</a:t>
            </a:r>
            <a:r>
              <a:rPr lang="fa-IR" sz="2000" dirty="0" smtClean="0">
                <a:solidFill>
                  <a:srgbClr val="22303B"/>
                </a:solidFill>
                <a:latin typeface="Times New Roman"/>
                <a:ea typeface="Times New Roman"/>
                <a:cs typeface="B Lotus"/>
              </a:rPr>
              <a:t> خطی مجاز تشخیص داده شد.</a:t>
            </a:r>
          </a:p>
          <a:p>
            <a:pPr indent="457200" algn="just" rtl="1">
              <a:lnSpc>
                <a:spcPct val="150000"/>
              </a:lnSpc>
              <a:spcAft>
                <a:spcPts val="0"/>
              </a:spcAft>
              <a:defRPr lang="fa-IR">
                <a:cs typeface="B Lotus"/>
              </a:defRPr>
            </a:pPr>
            <a:r>
              <a:rPr lang="fa-IR" sz="2000" b="0" dirty="0" smtClean="0">
                <a:solidFill>
                  <a:srgbClr val="22303B"/>
                </a:solidFill>
                <a:latin typeface="Times New Roman"/>
                <a:ea typeface="Times New Roman"/>
                <a:cs typeface="B Lotus"/>
              </a:rPr>
              <a:t>۲- استقلال خطاها یعنی عدم همبستگی باقیمانده ها با </a:t>
            </a:r>
            <a:r>
              <a:rPr lang="fa-IR" sz="2000" b="0" dirty="0" err="1" smtClean="0">
                <a:solidFill>
                  <a:srgbClr val="22303B"/>
                </a:solidFill>
                <a:latin typeface="Times New Roman"/>
                <a:ea typeface="Times New Roman"/>
                <a:cs typeface="B Lotus"/>
              </a:rPr>
              <a:t>آماره</a:t>
            </a:r>
            <a:r>
              <a:rPr lang="fa-IR" sz="2000" b="0" dirty="0" smtClean="0">
                <a:solidFill>
                  <a:srgbClr val="22303B"/>
                </a:solidFill>
                <a:latin typeface="Times New Roman"/>
                <a:ea typeface="Times New Roman"/>
                <a:cs typeface="B Lotus"/>
              </a:rPr>
              <a:t> دوربین-</a:t>
            </a:r>
            <a:r>
              <a:rPr lang="fa-IR" sz="2000" b="0" dirty="0" err="1" smtClean="0">
                <a:solidFill>
                  <a:srgbClr val="22303B"/>
                </a:solidFill>
                <a:latin typeface="Times New Roman"/>
                <a:ea typeface="Times New Roman"/>
                <a:cs typeface="B Lotus"/>
              </a:rPr>
              <a:t>واتسون</a:t>
            </a:r>
            <a:r>
              <a:rPr lang="fa-IR" sz="2000" b="0" dirty="0" smtClean="0">
                <a:solidFill>
                  <a:srgbClr val="22303B"/>
                </a:solidFill>
                <a:latin typeface="Times New Roman"/>
                <a:ea typeface="Times New Roman"/>
                <a:cs typeface="B Lotus"/>
              </a:rPr>
              <a:t> بررسی شد و مقدار آن برابر ۲/۰۸ بدست آمد . از آنجا که این مقدار در بازه مطلوب ۱/۵ تا ۲ قرار دارد لذا فرض استقلال خطاها تایید می شود.</a:t>
            </a:r>
          </a:p>
          <a:p>
            <a:pPr indent="457200" algn="just" rtl="1">
              <a:lnSpc>
                <a:spcPct val="150000"/>
              </a:lnSpc>
              <a:spcAft>
                <a:spcPts val="0"/>
              </a:spcAft>
              <a:defRPr lang="fa-IR">
                <a:cs typeface="B Lotus"/>
              </a:defRPr>
            </a:pPr>
            <a:r>
              <a:rPr lang="fa-IR" sz="2000" dirty="0" smtClean="0">
                <a:solidFill>
                  <a:srgbClr val="22303B"/>
                </a:solidFill>
                <a:latin typeface="Times New Roman"/>
                <a:ea typeface="Times New Roman"/>
                <a:cs typeface="B Lotus"/>
              </a:rPr>
              <a:t>۳- به منظور بررسی هم خطی </a:t>
            </a:r>
            <a:r>
              <a:rPr lang="fa-IR" sz="2000" dirty="0" err="1" smtClean="0">
                <a:solidFill>
                  <a:srgbClr val="22303B"/>
                </a:solidFill>
                <a:latin typeface="Times New Roman"/>
                <a:ea typeface="Times New Roman"/>
                <a:cs typeface="B Lotus"/>
              </a:rPr>
              <a:t>چندگانه</a:t>
            </a:r>
            <a:r>
              <a:rPr lang="fa-IR" sz="2000" dirty="0" smtClean="0">
                <a:solidFill>
                  <a:srgbClr val="22303B"/>
                </a:solidFill>
                <a:latin typeface="Times New Roman"/>
                <a:ea typeface="Times New Roman"/>
                <a:cs typeface="B Lotus"/>
              </a:rPr>
              <a:t> میان متغیرهای پیش بین شاخص عامل تورم </a:t>
            </a:r>
            <a:r>
              <a:rPr lang="fa-IR" sz="2000" dirty="0" err="1" smtClean="0">
                <a:solidFill>
                  <a:srgbClr val="22303B"/>
                </a:solidFill>
                <a:latin typeface="Times New Roman"/>
                <a:ea typeface="Times New Roman"/>
                <a:cs typeface="B Lotus"/>
              </a:rPr>
              <a:t>واریانس</a:t>
            </a:r>
            <a:r>
              <a:rPr lang="en-US" sz="2000" dirty="0" smtClean="0">
                <a:solidFill>
                  <a:srgbClr val="22303B"/>
                </a:solidFill>
                <a:latin typeface="Times New Roman"/>
                <a:ea typeface="Times New Roman"/>
                <a:cs typeface="B Lotus"/>
              </a:rPr>
              <a:t>(VIF) </a:t>
            </a:r>
            <a:r>
              <a:rPr lang="fa-IR" sz="2000" dirty="0" smtClean="0">
                <a:solidFill>
                  <a:srgbClr val="22303B"/>
                </a:solidFill>
                <a:latin typeface="Times New Roman"/>
                <a:ea typeface="Times New Roman"/>
                <a:cs typeface="B Lotus"/>
              </a:rPr>
              <a:t> و مقدار تحمل </a:t>
            </a:r>
            <a:r>
              <a:rPr lang="en-US" sz="2000" dirty="0" smtClean="0">
                <a:solidFill>
                  <a:srgbClr val="22303B"/>
                </a:solidFill>
                <a:latin typeface="Times New Roman"/>
                <a:ea typeface="Times New Roman"/>
                <a:cs typeface="B Lotus"/>
              </a:rPr>
              <a:t>(Tolerance)</a:t>
            </a:r>
            <a:r>
              <a:rPr lang="fa-IR" sz="2000" dirty="0" smtClean="0">
                <a:solidFill>
                  <a:srgbClr val="22303B"/>
                </a:solidFill>
                <a:latin typeface="Times New Roman"/>
                <a:ea typeface="Times New Roman"/>
                <a:cs typeface="B Lotus"/>
              </a:rPr>
              <a:t>محاسبه شد</a:t>
            </a:r>
            <a:r>
              <a:rPr lang="en-US" sz="2000" dirty="0" smtClean="0">
                <a:solidFill>
                  <a:srgbClr val="22303B"/>
                </a:solidFill>
                <a:latin typeface="Times New Roman"/>
                <a:ea typeface="Times New Roman"/>
                <a:cs typeface="B Lotus"/>
              </a:rPr>
              <a:t>. </a:t>
            </a:r>
            <a:r>
              <a:rPr lang="fa-IR" sz="2000" dirty="0" smtClean="0">
                <a:solidFill>
                  <a:srgbClr val="22303B"/>
                </a:solidFill>
                <a:latin typeface="Times New Roman"/>
                <a:ea typeface="Times New Roman"/>
                <a:cs typeface="B Lotus"/>
              </a:rPr>
              <a:t>مقادیر </a:t>
            </a:r>
            <a:r>
              <a:rPr lang="en-US" sz="2000" dirty="0" err="1" smtClean="0">
                <a:solidFill>
                  <a:srgbClr val="22303B"/>
                </a:solidFill>
                <a:latin typeface="Times New Roman"/>
                <a:ea typeface="Times New Roman"/>
                <a:cs typeface="B Lotus"/>
              </a:rPr>
              <a:t>vif</a:t>
            </a:r>
            <a:r>
              <a:rPr lang="en-US" sz="2000" dirty="0" smtClean="0">
                <a:solidFill>
                  <a:srgbClr val="22303B"/>
                </a:solidFill>
                <a:latin typeface="Times New Roman"/>
                <a:ea typeface="Times New Roman"/>
                <a:cs typeface="B Lotus"/>
              </a:rPr>
              <a:t> </a:t>
            </a:r>
            <a:r>
              <a:rPr lang="fa-IR" sz="2000" dirty="0" smtClean="0">
                <a:solidFill>
                  <a:srgbClr val="22303B"/>
                </a:solidFill>
                <a:latin typeface="Times New Roman"/>
                <a:ea typeface="Times New Roman"/>
                <a:cs typeface="B Lotus"/>
              </a:rPr>
              <a:t> کمتر از ۱۰ و مقادیر </a:t>
            </a:r>
            <a:r>
              <a:rPr lang="en-US" sz="2000" dirty="0" smtClean="0">
                <a:solidFill>
                  <a:srgbClr val="22303B"/>
                </a:solidFill>
                <a:latin typeface="Times New Roman"/>
                <a:ea typeface="Times New Roman"/>
                <a:cs typeface="B Lotus"/>
              </a:rPr>
              <a:t>tolerance </a:t>
            </a:r>
            <a:r>
              <a:rPr lang="fa-IR" sz="2000" dirty="0" smtClean="0">
                <a:solidFill>
                  <a:srgbClr val="22303B"/>
                </a:solidFill>
                <a:latin typeface="Times New Roman"/>
                <a:ea typeface="Times New Roman"/>
                <a:cs typeface="B Lotus"/>
              </a:rPr>
              <a:t> کمتر از ۰/۱ بود </a:t>
            </a:r>
            <a:endParaRPr lang="fa-IR" sz="2000" b="0" dirty="0">
              <a:solidFill>
                <a:srgbClr val="22303B"/>
              </a:solidFill>
              <a:latin typeface="Times New Roman"/>
              <a:ea typeface="Times New Roman"/>
              <a:cs typeface="B Lotus"/>
            </a:endParaRPr>
          </a:p>
        </p:txBody>
      </p:sp>
    </p:spTree>
    <p:extLst>
      <p:ext uri="{BB962C8B-B14F-4D97-AF65-F5344CB8AC3E}">
        <p14:creationId xmlns:p14="http://schemas.microsoft.com/office/powerpoint/2010/main" val="3705413697"/>
      </p:ext>
    </p:extLst>
  </p:cSld>
  <p:clrMapOvr>
    <a:masterClrMapping/>
  </p:clrMapOvr>
  <p:transition spd="med" advTm="57320">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آزمون فرضیه 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۱۶</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Rounded Rectangle 8"/>
          <p:cNvSpPr/>
          <p:nvPr/>
        </p:nvSpPr>
        <p:spPr>
          <a:xfrm>
            <a:off x="548640" y="1325880"/>
            <a:ext cx="11094415" cy="603281"/>
          </a:xfrm>
          <a:prstGeom prst="roundRect">
            <a:avLst>
              <a:gd name="adj" fmla="val 4500"/>
            </a:avLst>
          </a:prstGeom>
          <a:solidFill>
            <a:srgbClr val="FAF8F4"/>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05840" y="1472184"/>
            <a:ext cx="10180015" cy="456977"/>
          </a:xfrm>
          <a:prstGeom prst="rect">
            <a:avLst/>
          </a:prstGeom>
          <a:noFill/>
        </p:spPr>
        <p:txBody>
          <a:bodyPr wrap="square" lIns="36576" tIns="18288" rIns="36576" bIns="18288" anchor="t"/>
          <a:lstStyle/>
          <a:p>
            <a:pPr algn="r" rtl="1">
              <a:lnSpc>
                <a:spcPct val="110000"/>
              </a:lnSpc>
              <a:spcAft>
                <a:spcPts val="0"/>
              </a:spcAft>
              <a:defRPr lang="fa-IR">
                <a:cs typeface="B Lotus"/>
              </a:defRPr>
            </a:pPr>
            <a:r>
              <a:rPr lang="fa-IR" sz="1700" b="1" dirty="0">
                <a:solidFill>
                  <a:srgbClr val="102C47"/>
                </a:solidFill>
                <a:latin typeface="Times New Roman"/>
                <a:ea typeface="Times New Roman"/>
                <a:cs typeface="B Titr"/>
              </a:rPr>
              <a:t>بررسی فرضیه فرعی اول پژوهش: بین هوش معنوی و اضطراب مرگ در سالمندان رابطه وجود دارد.</a:t>
            </a:r>
          </a:p>
        </p:txBody>
      </p:sp>
      <p:sp>
        <p:nvSpPr>
          <p:cNvPr id="11" name="TextBox 10"/>
          <p:cNvSpPr txBox="1"/>
          <p:nvPr/>
        </p:nvSpPr>
        <p:spPr>
          <a:xfrm>
            <a:off x="548640" y="2035548"/>
            <a:ext cx="11094415" cy="310896"/>
          </a:xfrm>
          <a:prstGeom prst="rect">
            <a:avLst/>
          </a:prstGeom>
          <a:noFill/>
        </p:spPr>
        <p:txBody>
          <a:bodyPr wrap="square" lIns="36576" tIns="18288" rIns="36576" bIns="18288" anchor="t"/>
          <a:lstStyle/>
          <a:p>
            <a:pPr algn="ctr" rtl="1">
              <a:defRPr lang="fa-IR" sz="1600" b="1">
                <a:solidFill>
                  <a:srgbClr val="B4822F"/>
                </a:solidFill>
                <a:cs typeface="B Lotus"/>
              </a:defRPr>
            </a:pPr>
            <a:r>
              <a:rPr lang="fa-IR" dirty="0">
                <a:latin typeface="Times New Roman"/>
                <a:cs typeface="B Lotus"/>
              </a:rPr>
              <a:t>ضرایب همبستگی </a:t>
            </a:r>
            <a:r>
              <a:rPr lang="fa-IR" dirty="0" err="1">
                <a:latin typeface="Times New Roman"/>
                <a:cs typeface="B Lotus"/>
              </a:rPr>
              <a:t>پیرسون</a:t>
            </a:r>
            <a:r>
              <a:rPr lang="fa-IR" dirty="0">
                <a:latin typeface="Times New Roman"/>
                <a:cs typeface="B Lotus"/>
              </a:rPr>
              <a:t> بین هوش معنوی و اضطراب مرگ سالمندان</a:t>
            </a:r>
          </a:p>
        </p:txBody>
      </p:sp>
      <p:graphicFrame>
        <p:nvGraphicFramePr>
          <p:cNvPr id="12" name="Table 11"/>
          <p:cNvGraphicFramePr>
            <a:graphicFrameLocks noGrp="1"/>
          </p:cNvGraphicFramePr>
          <p:nvPr>
            <p:extLst>
              <p:ext uri="{D42A27DB-BD31-4B8C-83A1-F6EECF244321}">
                <p14:modId xmlns:p14="http://schemas.microsoft.com/office/powerpoint/2010/main" val="541880373"/>
              </p:ext>
            </p:extLst>
          </p:nvPr>
        </p:nvGraphicFramePr>
        <p:xfrm>
          <a:off x="822960" y="2346444"/>
          <a:ext cx="10545769" cy="2194560"/>
        </p:xfrm>
        <a:graphic>
          <a:graphicData uri="http://schemas.openxmlformats.org/drawingml/2006/table">
            <a:tbl>
              <a:tblPr rtl="1" firstRow="1">
                <a:tableStyleId>{5C22544A-7EE6-4342-B048-85BDC9FD1C3A}</a:tableStyleId>
              </a:tblPr>
              <a:tblGrid>
                <a:gridCol w="2401513"/>
                <a:gridCol w="1357376"/>
                <a:gridCol w="1357376"/>
                <a:gridCol w="1357376"/>
                <a:gridCol w="1357376"/>
                <a:gridCol w="1357376"/>
                <a:gridCol w="1357376"/>
              </a:tblGrid>
              <a:tr h="347472">
                <a:tc>
                  <a:txBody>
                    <a:bodyPr/>
                    <a:lstStyle/>
                    <a:p>
                      <a:pPr algn="ctr" rtl="1">
                        <a:defRPr lang="fa-IR">
                          <a:cs typeface="B Lotus"/>
                        </a:defRPr>
                      </a:pPr>
                      <a:r>
                        <a:rPr lang="fa-IR" sz="1200" b="1" dirty="0">
                          <a:solidFill>
                            <a:srgbClr val="102C47"/>
                          </a:solidFill>
                          <a:latin typeface="Times New Roman"/>
                          <a:cs typeface="B Lotus"/>
                        </a:rPr>
                        <a:t>متغیر</a:t>
                      </a:r>
                    </a:p>
                  </a:txBody>
                  <a:tcPr marL="45720" marR="45720" marT="18288" marB="18288" anchor="ctr">
                    <a:solidFill>
                      <a:srgbClr val="ECF1F5"/>
                    </a:solidFill>
                  </a:tcPr>
                </a:tc>
                <a:tc>
                  <a:txBody>
                    <a:bodyPr/>
                    <a:lstStyle/>
                    <a:p>
                      <a:pPr algn="ctr" rtl="1">
                        <a:defRPr lang="fa-IR">
                          <a:cs typeface="B Lotus"/>
                        </a:defRPr>
                      </a:pPr>
                      <a:r>
                        <a:rPr lang="fa-IR" sz="1200" b="1">
                          <a:solidFill>
                            <a:srgbClr val="102C47"/>
                          </a:solidFill>
                          <a:latin typeface="Times New Roman"/>
                          <a:cs typeface="B Lotus"/>
                        </a:rPr>
                        <a:t>۱</a:t>
                      </a:r>
                    </a:p>
                  </a:txBody>
                  <a:tcPr marL="45720" marR="45720" marT="18288" marB="18288" anchor="ctr">
                    <a:solidFill>
                      <a:srgbClr val="ECF1F5"/>
                    </a:solidFill>
                  </a:tcPr>
                </a:tc>
                <a:tc>
                  <a:txBody>
                    <a:bodyPr/>
                    <a:lstStyle/>
                    <a:p>
                      <a:pPr algn="ctr" rtl="1">
                        <a:defRPr lang="fa-IR">
                          <a:cs typeface="B Lotus"/>
                        </a:defRPr>
                      </a:pPr>
                      <a:r>
                        <a:rPr lang="fa-IR" sz="1200" b="1" dirty="0">
                          <a:solidFill>
                            <a:srgbClr val="102C47"/>
                          </a:solidFill>
                          <a:latin typeface="Times New Roman"/>
                          <a:cs typeface="B Lotus"/>
                        </a:rPr>
                        <a:t>۲</a:t>
                      </a:r>
                    </a:p>
                  </a:txBody>
                  <a:tcPr marL="45720" marR="45720" marT="18288" marB="18288" anchor="ctr">
                    <a:solidFill>
                      <a:srgbClr val="ECF1F5"/>
                    </a:solidFill>
                  </a:tcPr>
                </a:tc>
                <a:tc>
                  <a:txBody>
                    <a:bodyPr/>
                    <a:lstStyle/>
                    <a:p>
                      <a:pPr algn="ctr" rtl="1">
                        <a:defRPr lang="fa-IR">
                          <a:cs typeface="B Lotus"/>
                        </a:defRPr>
                      </a:pPr>
                      <a:r>
                        <a:rPr lang="fa-IR" sz="1200" b="1">
                          <a:solidFill>
                            <a:srgbClr val="102C47"/>
                          </a:solidFill>
                          <a:latin typeface="Times New Roman"/>
                          <a:cs typeface="B Lotus"/>
                        </a:rPr>
                        <a:t>۳</a:t>
                      </a:r>
                    </a:p>
                  </a:txBody>
                  <a:tcPr marL="45720" marR="45720" marT="18288" marB="18288" anchor="ctr">
                    <a:solidFill>
                      <a:srgbClr val="ECF1F5"/>
                    </a:solidFill>
                  </a:tcPr>
                </a:tc>
                <a:tc>
                  <a:txBody>
                    <a:bodyPr/>
                    <a:lstStyle/>
                    <a:p>
                      <a:pPr algn="ctr" rtl="1">
                        <a:defRPr lang="fa-IR">
                          <a:cs typeface="B Lotus"/>
                        </a:defRPr>
                      </a:pPr>
                      <a:r>
                        <a:rPr lang="fa-IR" sz="1200" b="1">
                          <a:solidFill>
                            <a:srgbClr val="102C47"/>
                          </a:solidFill>
                          <a:latin typeface="Times New Roman"/>
                          <a:cs typeface="B Lotus"/>
                        </a:rPr>
                        <a:t>۴</a:t>
                      </a:r>
                    </a:p>
                  </a:txBody>
                  <a:tcPr marL="45720" marR="45720" marT="18288" marB="18288" anchor="ctr">
                    <a:solidFill>
                      <a:srgbClr val="ECF1F5"/>
                    </a:solidFill>
                  </a:tcPr>
                </a:tc>
                <a:tc>
                  <a:txBody>
                    <a:bodyPr/>
                    <a:lstStyle/>
                    <a:p>
                      <a:pPr algn="ctr" rtl="1">
                        <a:defRPr lang="fa-IR">
                          <a:cs typeface="B Lotus"/>
                        </a:defRPr>
                      </a:pPr>
                      <a:r>
                        <a:rPr lang="fa-IR" sz="1200" b="1">
                          <a:solidFill>
                            <a:srgbClr val="102C47"/>
                          </a:solidFill>
                          <a:latin typeface="Times New Roman"/>
                          <a:cs typeface="B Lotus"/>
                        </a:rPr>
                        <a:t>۵</a:t>
                      </a:r>
                    </a:p>
                  </a:txBody>
                  <a:tcPr marL="45720" marR="45720" marT="18288" marB="18288" anchor="ctr">
                    <a:solidFill>
                      <a:srgbClr val="ECF1F5"/>
                    </a:solidFill>
                  </a:tcPr>
                </a:tc>
                <a:tc>
                  <a:txBody>
                    <a:bodyPr/>
                    <a:lstStyle/>
                    <a:p>
                      <a:pPr algn="ctr" rtl="1">
                        <a:defRPr lang="fa-IR">
                          <a:cs typeface="B Lotus"/>
                        </a:defRPr>
                      </a:pPr>
                      <a:r>
                        <a:rPr lang="fa-IR" sz="1200" b="1">
                          <a:solidFill>
                            <a:srgbClr val="102C47"/>
                          </a:solidFill>
                          <a:latin typeface="Times New Roman"/>
                          <a:cs typeface="B Lotus"/>
                        </a:rPr>
                        <a:t>۶</a:t>
                      </a:r>
                    </a:p>
                  </a:txBody>
                  <a:tcPr marL="45720" marR="45720" marT="18288" marB="18288" anchor="ctr">
                    <a:solidFill>
                      <a:srgbClr val="ECF1F5"/>
                    </a:solidFill>
                  </a:tcPr>
                </a:tc>
              </a:tr>
              <a:tr h="301752">
                <a:tc>
                  <a:txBody>
                    <a:bodyPr/>
                    <a:lstStyle/>
                    <a:p>
                      <a:pPr algn="r" rtl="1">
                        <a:defRPr lang="fa-IR">
                          <a:cs typeface="B Lotus"/>
                        </a:defRPr>
                      </a:pPr>
                      <a:r>
                        <a:rPr lang="fa-IR" sz="1200" b="0">
                          <a:solidFill>
                            <a:srgbClr val="22303B"/>
                          </a:solidFill>
                          <a:latin typeface="Times New Roman"/>
                          <a:cs typeface="B Lotus"/>
                        </a:rPr>
                        <a:t>۱. تفکر وجودی انتقادی</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r" rtl="1">
                        <a:defRPr lang="fa-IR">
                          <a:cs typeface="B Lotus"/>
                        </a:defRPr>
                      </a:pPr>
                      <a:r>
                        <a:rPr lang="fa-IR" sz="1200" b="0" dirty="0">
                          <a:solidFill>
                            <a:srgbClr val="22303B"/>
                          </a:solidFill>
                          <a:latin typeface="Times New Roman"/>
                          <a:cs typeface="B Lotus"/>
                        </a:rPr>
                        <a:t>۲. ایجاد معنای شخصی</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۰.۵۸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r" rtl="1">
                        <a:defRPr lang="fa-IR">
                          <a:cs typeface="B Lotus"/>
                        </a:defRPr>
                      </a:pPr>
                      <a:r>
                        <a:rPr lang="fa-IR" sz="1200" b="0">
                          <a:solidFill>
                            <a:srgbClr val="22303B"/>
                          </a:solidFill>
                          <a:latin typeface="Times New Roman"/>
                          <a:cs typeface="B Lotus"/>
                        </a:rPr>
                        <a:t>۳. آگاهی متعالی</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۰.۴۵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۰.۵۶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r" rtl="1">
                        <a:defRPr lang="fa-IR">
                          <a:cs typeface="B Lotus"/>
                        </a:defRPr>
                      </a:pPr>
                      <a:r>
                        <a:rPr lang="fa-IR" sz="1200" b="0">
                          <a:solidFill>
                            <a:srgbClr val="22303B"/>
                          </a:solidFill>
                          <a:latin typeface="Times New Roman"/>
                          <a:cs typeface="B Lotus"/>
                        </a:rPr>
                        <a:t>۴. گسترش حالت هوشیاری</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۰.۳۶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۰.۴۶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۰.۳۴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r" rtl="1">
                        <a:defRPr lang="fa-IR">
                          <a:cs typeface="B Lotus"/>
                        </a:defRPr>
                      </a:pPr>
                      <a:r>
                        <a:rPr lang="fa-IR" sz="1200" b="0">
                          <a:solidFill>
                            <a:srgbClr val="22303B"/>
                          </a:solidFill>
                          <a:latin typeface="Times New Roman"/>
                          <a:cs typeface="B Lotus"/>
                        </a:rPr>
                        <a:t>۵. هوش معنوی</a:t>
                      </a:r>
                    </a:p>
                  </a:txBody>
                  <a:tcPr marL="45720" marR="45720" marT="18288" marB="18288" anchor="ctr">
                    <a:solidFill>
                      <a:srgbClr val="FFFFFF"/>
                    </a:solidFill>
                  </a:tcPr>
                </a:tc>
                <a:tc>
                  <a:txBody>
                    <a:bodyPr/>
                    <a:lstStyle/>
                    <a:p>
                      <a:pPr algn="ctr" rtl="1">
                        <a:defRPr lang="fa-IR">
                          <a:cs typeface="B Lotus"/>
                        </a:defRPr>
                      </a:pPr>
                      <a:r>
                        <a:rPr lang="fa-IR" sz="1200" b="0" dirty="0">
                          <a:solidFill>
                            <a:srgbClr val="22303B"/>
                          </a:solidFill>
                          <a:latin typeface="Times New Roman"/>
                          <a:cs typeface="B Lotus"/>
                        </a:rPr>
                        <a:t>۰.۷۷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۰.۸۶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۰.۸۰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۰.۸۳ **</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۰.۵۰-**</a:t>
                      </a:r>
                    </a:p>
                  </a:txBody>
                  <a:tcPr marL="45720" marR="45720" marT="18288" marB="18288" anchor="ctr">
                    <a:solidFill>
                      <a:srgbClr val="FFFFFF"/>
                    </a:solidFill>
                  </a:tcPr>
                </a:tc>
              </a:tr>
              <a:tr h="301752">
                <a:tc>
                  <a:txBody>
                    <a:bodyPr/>
                    <a:lstStyle/>
                    <a:p>
                      <a:pPr algn="r" rtl="1">
                        <a:defRPr lang="fa-IR">
                          <a:cs typeface="B Lotus"/>
                        </a:defRPr>
                      </a:pPr>
                      <a:r>
                        <a:rPr lang="fa-IR" sz="1200" b="0" dirty="0">
                          <a:solidFill>
                            <a:srgbClr val="22303B"/>
                          </a:solidFill>
                          <a:latin typeface="Times New Roman"/>
                          <a:cs typeface="B Lotus"/>
                        </a:rPr>
                        <a:t>۶. اضطراب مرگ</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۰.۳۴-**</a:t>
                      </a:r>
                    </a:p>
                  </a:txBody>
                  <a:tcPr marL="45720" marR="45720" marT="18288" marB="18288" anchor="ctr">
                    <a:solidFill>
                      <a:srgbClr val="FFFFFF"/>
                    </a:solidFill>
                  </a:tcPr>
                </a:tc>
                <a:tc>
                  <a:txBody>
                    <a:bodyPr/>
                    <a:lstStyle/>
                    <a:p>
                      <a:pPr algn="ctr" rtl="1">
                        <a:defRPr lang="fa-IR">
                          <a:cs typeface="B Lotus"/>
                        </a:defRPr>
                      </a:pPr>
                      <a:r>
                        <a:rPr lang="fa-IR" sz="1200" b="0" dirty="0">
                          <a:solidFill>
                            <a:srgbClr val="22303B"/>
                          </a:solidFill>
                          <a:latin typeface="Times New Roman"/>
                          <a:cs typeface="B Lotus"/>
                        </a:rPr>
                        <a:t>۰.۴۵-**</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۰.۳۱-**</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۰.۲۹-**</a:t>
                      </a:r>
                    </a:p>
                  </a:txBody>
                  <a:tcPr marL="45720" marR="45720" marT="18288" marB="18288" anchor="ctr">
                    <a:solidFill>
                      <a:srgbClr val="FFFFFF"/>
                    </a:solidFill>
                  </a:tcPr>
                </a:tc>
                <a:tc>
                  <a:txBody>
                    <a:bodyPr/>
                    <a:lstStyle/>
                    <a:p>
                      <a:pPr algn="ctr" rtl="1">
                        <a:defRPr lang="fa-IR">
                          <a:cs typeface="B Lotus"/>
                        </a:defRPr>
                      </a:pPr>
                      <a:r>
                        <a:rPr lang="fa-IR" sz="1200" b="0">
                          <a:solidFill>
                            <a:srgbClr val="22303B"/>
                          </a:solidFill>
                          <a:latin typeface="Times New Roman"/>
                          <a:cs typeface="B Lotus"/>
                        </a:rPr>
                        <a:t>۰.۵۰-**</a:t>
                      </a:r>
                    </a:p>
                  </a:txBody>
                  <a:tcPr marL="45720" marR="45720" marT="18288" marB="18288" anchor="ctr">
                    <a:solidFill>
                      <a:srgbClr val="FFFFFF"/>
                    </a:solidFill>
                  </a:tcPr>
                </a:tc>
                <a:tc>
                  <a:txBody>
                    <a:bodyPr/>
                    <a:lstStyle/>
                    <a:p>
                      <a:pPr algn="ctr" rtl="1">
                        <a:defRPr lang="fa-IR">
                          <a:cs typeface="B Lotus"/>
                        </a:defRPr>
                      </a:pPr>
                      <a:r>
                        <a:rPr lang="fa-IR" sz="1200" b="0" dirty="0">
                          <a:solidFill>
                            <a:srgbClr val="22303B"/>
                          </a:solidFill>
                          <a:latin typeface="Times New Roman"/>
                          <a:cs typeface="B Lotus"/>
                        </a:rPr>
                        <a:t>۱</a:t>
                      </a:r>
                    </a:p>
                  </a:txBody>
                  <a:tcPr marL="45720" marR="45720" marT="18288" marB="18288" anchor="ctr">
                    <a:solidFill>
                      <a:srgbClr val="FFFFFF"/>
                    </a:solidFill>
                  </a:tcPr>
                </a:tc>
              </a:tr>
            </a:tbl>
          </a:graphicData>
        </a:graphic>
      </p:graphicFrame>
      <p:sp>
        <p:nvSpPr>
          <p:cNvPr id="13" name="Rounded Rectangle 12"/>
          <p:cNvSpPr/>
          <p:nvPr/>
        </p:nvSpPr>
        <p:spPr>
          <a:xfrm>
            <a:off x="548640" y="4594040"/>
            <a:ext cx="11094415" cy="16696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80224" y="5032470"/>
            <a:ext cx="10816527" cy="1212881"/>
          </a:xfrm>
          <a:prstGeom prst="rect">
            <a:avLst/>
          </a:prstGeom>
          <a:noFill/>
        </p:spPr>
        <p:txBody>
          <a:bodyPr wrap="square" lIns="36576" tIns="18288" rIns="36576" bIns="18288" anchor="t"/>
          <a:lstStyle/>
          <a:p>
            <a:pPr indent="457200" algn="just" rtl="1">
              <a:lnSpc>
                <a:spcPct val="115000"/>
              </a:lnSpc>
              <a:spcAft>
                <a:spcPts val="0"/>
              </a:spcAft>
              <a:defRPr lang="fa-IR">
                <a:cs typeface="B Lotus"/>
              </a:defRPr>
            </a:pPr>
            <a:r>
              <a:rPr lang="fa-IR" sz="1600" dirty="0">
                <a:cs typeface="B Lotus"/>
              </a:rPr>
              <a:t>در راستای  تحلیل </a:t>
            </a:r>
            <a:r>
              <a:rPr lang="fa-IR" sz="1600" dirty="0" err="1">
                <a:cs typeface="B Lotus"/>
              </a:rPr>
              <a:t>داده‌های</a:t>
            </a:r>
            <a:r>
              <a:rPr lang="fa-IR" sz="1600" dirty="0">
                <a:cs typeface="B Lotus"/>
              </a:rPr>
              <a:t> مربوط به این فرضیه از آزمون </a:t>
            </a:r>
            <a:r>
              <a:rPr lang="fa-IR" sz="1600" dirty="0" err="1">
                <a:cs typeface="B Lotus"/>
              </a:rPr>
              <a:t>همبستگى</a:t>
            </a:r>
            <a:r>
              <a:rPr lang="fa-IR" sz="1600" dirty="0">
                <a:cs typeface="B Lotus"/>
              </a:rPr>
              <a:t> </a:t>
            </a:r>
            <a:r>
              <a:rPr lang="fa-IR" sz="1600" dirty="0" err="1">
                <a:cs typeface="B Lotus"/>
              </a:rPr>
              <a:t>پیرسون</a:t>
            </a:r>
            <a:r>
              <a:rPr lang="fa-IR" sz="1600" dirty="0">
                <a:cs typeface="B Lotus"/>
              </a:rPr>
              <a:t> استفاده شد.</a:t>
            </a:r>
          </a:p>
          <a:p>
            <a:pPr indent="457200" algn="just" rtl="1">
              <a:lnSpc>
                <a:spcPct val="115000"/>
              </a:lnSpc>
              <a:spcAft>
                <a:spcPts val="0"/>
              </a:spcAft>
              <a:defRPr lang="fa-IR">
                <a:cs typeface="B Lotus"/>
              </a:defRPr>
            </a:pPr>
            <a:r>
              <a:rPr lang="fa-IR" sz="1600" dirty="0">
                <a:cs typeface="B Lotus"/>
              </a:rPr>
              <a:t>بر اساس جدول بین اضطراب مرگ و هر چهار مؤلفه هوش معنوی رابطه منفی و معنادار وجود دارد: تفکر </a:t>
            </a:r>
            <a:r>
              <a:rPr lang="fa-IR" sz="1600" dirty="0" err="1">
                <a:cs typeface="B Lotus"/>
              </a:rPr>
              <a:t>وجودی</a:t>
            </a:r>
            <a:r>
              <a:rPr lang="fa-IR" sz="1600" dirty="0">
                <a:cs typeface="B Lotus"/>
              </a:rPr>
              <a:t> انتقادی </a:t>
            </a:r>
            <a:r>
              <a:rPr lang="en-US" sz="1600" dirty="0">
                <a:cs typeface="B Lotus"/>
              </a:rPr>
              <a:t>(r=-</a:t>
            </a:r>
            <a:r>
              <a:rPr lang="en-US" sz="1600" dirty="0">
                <a:cs typeface="B Lotus"/>
              </a:rPr>
              <a:t>0.34)، </a:t>
            </a:r>
            <a:r>
              <a:rPr lang="fa-IR" sz="1600" dirty="0">
                <a:cs typeface="B Lotus"/>
              </a:rPr>
              <a:t>ایجاد معنای شخصی </a:t>
            </a:r>
            <a:r>
              <a:rPr lang="en-US" sz="1600" dirty="0">
                <a:cs typeface="B Lotus"/>
              </a:rPr>
              <a:t>(r=-</a:t>
            </a:r>
            <a:r>
              <a:rPr lang="en-US" sz="1600" dirty="0">
                <a:cs typeface="B Lotus"/>
              </a:rPr>
              <a:t>0.45)، </a:t>
            </a:r>
            <a:r>
              <a:rPr lang="fa-IR" sz="1600" dirty="0">
                <a:cs typeface="B Lotus"/>
              </a:rPr>
              <a:t>آگاهی متعالی </a:t>
            </a:r>
            <a:r>
              <a:rPr lang="en-US" sz="1600" dirty="0">
                <a:cs typeface="B Lotus"/>
              </a:rPr>
              <a:t>(r=-</a:t>
            </a:r>
            <a:r>
              <a:rPr lang="en-US" sz="1600" dirty="0">
                <a:cs typeface="B Lotus"/>
              </a:rPr>
              <a:t>0.31) </a:t>
            </a:r>
            <a:r>
              <a:rPr lang="fa-IR" sz="1600" dirty="0">
                <a:cs typeface="B Lotus"/>
              </a:rPr>
              <a:t>و گسترش حالت هوشیاری </a:t>
            </a:r>
            <a:r>
              <a:rPr lang="en-US" sz="1600" dirty="0">
                <a:cs typeface="B Lotus"/>
              </a:rPr>
              <a:t>(r=-</a:t>
            </a:r>
            <a:r>
              <a:rPr lang="en-US" sz="1600" dirty="0">
                <a:cs typeface="B Lotus"/>
              </a:rPr>
              <a:t>0.29). </a:t>
            </a:r>
            <a:r>
              <a:rPr lang="fa-IR" sz="1600" dirty="0">
                <a:cs typeface="B Lotus"/>
              </a:rPr>
              <a:t>نمره کل هوش معنوی نیز با اضطراب مرگ رابطه منفی معنادار دارد </a:t>
            </a:r>
            <a:r>
              <a:rPr lang="en-US" sz="1600" dirty="0">
                <a:cs typeface="B Lotus"/>
              </a:rPr>
              <a:t>(r=-</a:t>
            </a:r>
            <a:r>
              <a:rPr lang="en-US" sz="1600" dirty="0">
                <a:cs typeface="B Lotus"/>
              </a:rPr>
              <a:t>0.50). </a:t>
            </a:r>
            <a:r>
              <a:rPr lang="fa-IR" sz="1600" dirty="0">
                <a:cs typeface="B Lotus"/>
              </a:rPr>
              <a:t>به زبان ساده، هرچه فرد از نظر معنوی توانمندتر باشد و معنای بیشتری در زندگی بیابد، ترس از مرگ او کمتر است. بنابراین فرضیه فرعی اول تأیید </a:t>
            </a:r>
            <a:r>
              <a:rPr lang="fa-IR" sz="1600" dirty="0" err="1">
                <a:cs typeface="B Lotus"/>
              </a:rPr>
              <a:t>می‌شود</a:t>
            </a:r>
            <a:endParaRPr lang="fa-IR" sz="1600" dirty="0">
              <a:cs typeface="B Lotus"/>
            </a:endParaRPr>
          </a:p>
        </p:txBody>
      </p:sp>
      <p:sp>
        <p:nvSpPr>
          <p:cNvPr id="15" name="TextBox 14"/>
          <p:cNvSpPr txBox="1"/>
          <p:nvPr/>
        </p:nvSpPr>
        <p:spPr>
          <a:xfrm>
            <a:off x="680223" y="4575703"/>
            <a:ext cx="10816527" cy="430249"/>
          </a:xfrm>
          <a:prstGeom prst="rect">
            <a:avLst/>
          </a:prstGeom>
          <a:noFill/>
        </p:spPr>
        <p:txBody>
          <a:bodyPr wrap="square" lIns="36576" tIns="18288" rIns="36576" bIns="18288" anchor="t"/>
          <a:lstStyle/>
          <a:p>
            <a:pPr indent="457200" algn="ctr" rtl="1">
              <a:lnSpc>
                <a:spcPct val="115000"/>
              </a:lnSpc>
              <a:spcAft>
                <a:spcPts val="0"/>
              </a:spcAft>
              <a:defRPr lang="fa-IR">
                <a:cs typeface="B Lotus"/>
              </a:defRPr>
            </a:pPr>
            <a:r>
              <a:rPr lang="fa-IR" dirty="0" smtClean="0">
                <a:solidFill>
                  <a:srgbClr val="22303B"/>
                </a:solidFill>
                <a:latin typeface="Times New Roman"/>
                <a:ea typeface="Times New Roman"/>
                <a:cs typeface="B Lotus"/>
              </a:rPr>
              <a:t>راهنما : ** معناداری در سطح ۰/۰۱ (دو دامنه)</a:t>
            </a:r>
            <a:r>
              <a:rPr lang="fa-IR" dirty="0" smtClean="0">
                <a:solidFill>
                  <a:srgbClr val="22303B"/>
                </a:solidFill>
                <a:latin typeface="Times New Roman"/>
                <a:ea typeface="Times New Roman"/>
                <a:cs typeface="B Lotus"/>
              </a:rPr>
              <a:t>، * </a:t>
            </a:r>
            <a:r>
              <a:rPr lang="fa-IR" dirty="0">
                <a:solidFill>
                  <a:srgbClr val="22303B"/>
                </a:solidFill>
                <a:latin typeface="Times New Roman"/>
                <a:ea typeface="Times New Roman"/>
                <a:cs typeface="B Lotus"/>
              </a:rPr>
              <a:t>معناداری در سطح </a:t>
            </a:r>
            <a:r>
              <a:rPr lang="fa-IR" dirty="0" smtClean="0">
                <a:solidFill>
                  <a:srgbClr val="22303B"/>
                </a:solidFill>
                <a:latin typeface="Times New Roman"/>
                <a:ea typeface="Times New Roman"/>
                <a:cs typeface="B Lotus"/>
              </a:rPr>
              <a:t>۰/۰۵</a:t>
            </a:r>
            <a:r>
              <a:rPr lang="en-US" dirty="0" smtClean="0">
                <a:solidFill>
                  <a:srgbClr val="22303B"/>
                </a:solidFill>
                <a:latin typeface="Times New Roman"/>
                <a:ea typeface="Times New Roman"/>
                <a:cs typeface="B Lotus"/>
              </a:rPr>
              <a:t> </a:t>
            </a:r>
            <a:r>
              <a:rPr lang="fa-IR" dirty="0">
                <a:solidFill>
                  <a:srgbClr val="22303B"/>
                </a:solidFill>
                <a:latin typeface="Times New Roman"/>
                <a:ea typeface="Times New Roman"/>
                <a:cs typeface="B Lotus"/>
              </a:rPr>
              <a:t>(دو دامنه</a:t>
            </a:r>
            <a:r>
              <a:rPr lang="fa-IR" dirty="0" smtClean="0">
                <a:solidFill>
                  <a:srgbClr val="22303B"/>
                </a:solidFill>
                <a:latin typeface="Times New Roman"/>
                <a:ea typeface="Times New Roman"/>
                <a:cs typeface="B Lotus"/>
              </a:rPr>
              <a:t>) </a:t>
            </a:r>
            <a:endParaRPr lang="fa-IR" dirty="0">
              <a:cs typeface="B Lotus"/>
            </a:endParaRPr>
          </a:p>
        </p:txBody>
      </p:sp>
    </p:spTree>
  </p:cSld>
  <p:clrMapOvr>
    <a:masterClrMapping/>
  </p:clrMapOvr>
  <p:transition spd="med" advTm="67110">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آزمون فرضیه 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۱۷</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Rounded Rectangle 8"/>
          <p:cNvSpPr/>
          <p:nvPr/>
        </p:nvSpPr>
        <p:spPr>
          <a:xfrm>
            <a:off x="548640" y="1325880"/>
            <a:ext cx="11094415" cy="804672"/>
          </a:xfrm>
          <a:prstGeom prst="roundRect">
            <a:avLst>
              <a:gd name="adj" fmla="val 4500"/>
            </a:avLst>
          </a:prstGeom>
          <a:solidFill>
            <a:srgbClr val="FAF8F4"/>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05840" y="1472184"/>
            <a:ext cx="10180015" cy="548640"/>
          </a:xfrm>
          <a:prstGeom prst="rect">
            <a:avLst/>
          </a:prstGeom>
          <a:noFill/>
        </p:spPr>
        <p:txBody>
          <a:bodyPr wrap="square" lIns="36576" tIns="18288" rIns="36576" bIns="18288" anchor="t"/>
          <a:lstStyle/>
          <a:p>
            <a:pPr algn="r" rtl="1">
              <a:lnSpc>
                <a:spcPct val="110000"/>
              </a:lnSpc>
              <a:spcAft>
                <a:spcPts val="0"/>
              </a:spcAft>
              <a:defRPr lang="fa-IR">
                <a:cs typeface="B Lotus"/>
              </a:defRPr>
            </a:pPr>
            <a:r>
              <a:rPr lang="fa-IR" sz="1700" b="1">
                <a:solidFill>
                  <a:srgbClr val="102C47"/>
                </a:solidFill>
                <a:latin typeface="Times New Roman"/>
                <a:ea typeface="Times New Roman"/>
                <a:cs typeface="B Titr"/>
              </a:rPr>
              <a:t>بررسی فرضیه فرعی دوم پژوهش: بین اضطراب سلامتی و اضطراب مرگ در سالمندان رابطه وجود دارد.</a:t>
            </a:r>
          </a:p>
        </p:txBody>
      </p:sp>
      <p:sp>
        <p:nvSpPr>
          <p:cNvPr id="11" name="TextBox 10"/>
          <p:cNvSpPr txBox="1"/>
          <p:nvPr/>
        </p:nvSpPr>
        <p:spPr>
          <a:xfrm>
            <a:off x="548640" y="2258568"/>
            <a:ext cx="11094415" cy="310896"/>
          </a:xfrm>
          <a:prstGeom prst="rect">
            <a:avLst/>
          </a:prstGeom>
          <a:noFill/>
        </p:spPr>
        <p:txBody>
          <a:bodyPr wrap="square" lIns="36576" tIns="18288" rIns="36576" bIns="18288" anchor="t"/>
          <a:lstStyle/>
          <a:p>
            <a:pPr algn="ctr" rtl="1">
              <a:defRPr lang="fa-IR" sz="1600" b="1">
                <a:solidFill>
                  <a:srgbClr val="B4822F"/>
                </a:solidFill>
                <a:cs typeface="B Lotus"/>
              </a:defRPr>
            </a:pPr>
            <a:r>
              <a:rPr lang="fa-IR" dirty="0">
                <a:latin typeface="Times New Roman"/>
                <a:cs typeface="B Lotus"/>
              </a:rPr>
              <a:t>ضرایب همبستگی </a:t>
            </a:r>
            <a:r>
              <a:rPr lang="fa-IR" dirty="0" err="1">
                <a:latin typeface="Times New Roman"/>
                <a:cs typeface="B Lotus"/>
              </a:rPr>
              <a:t>پیرسون</a:t>
            </a:r>
            <a:r>
              <a:rPr lang="fa-IR" dirty="0">
                <a:latin typeface="Times New Roman"/>
                <a:cs typeface="B Lotus"/>
              </a:rPr>
              <a:t> بین اضطراب سلامتی و اضطراب مرگ سالمندان</a:t>
            </a:r>
          </a:p>
        </p:txBody>
      </p:sp>
      <p:graphicFrame>
        <p:nvGraphicFramePr>
          <p:cNvPr id="12" name="Table 11"/>
          <p:cNvGraphicFramePr>
            <a:graphicFrameLocks noGrp="1"/>
          </p:cNvGraphicFramePr>
          <p:nvPr>
            <p:extLst>
              <p:ext uri="{D42A27DB-BD31-4B8C-83A1-F6EECF244321}">
                <p14:modId xmlns:p14="http://schemas.microsoft.com/office/powerpoint/2010/main" val="1107349160"/>
              </p:ext>
            </p:extLst>
          </p:nvPr>
        </p:nvGraphicFramePr>
        <p:xfrm>
          <a:off x="2194560" y="2569464"/>
          <a:ext cx="7802574" cy="1682496"/>
        </p:xfrm>
        <a:graphic>
          <a:graphicData uri="http://schemas.openxmlformats.org/drawingml/2006/table">
            <a:tbl>
              <a:tblPr rtl="1" firstRow="1">
                <a:tableStyleId>{5C22544A-7EE6-4342-B048-85BDC9FD1C3A}</a:tableStyleId>
              </a:tblPr>
              <a:tblGrid>
                <a:gridCol w="2600858"/>
                <a:gridCol w="1300429"/>
                <a:gridCol w="1300429"/>
                <a:gridCol w="1300429"/>
                <a:gridCol w="1300429"/>
              </a:tblGrid>
              <a:tr h="365760">
                <a:tc>
                  <a:txBody>
                    <a:bodyPr/>
                    <a:lstStyle/>
                    <a:p>
                      <a:pPr algn="ctr" rtl="1">
                        <a:defRPr lang="fa-IR">
                          <a:cs typeface="B Lotus"/>
                        </a:defRPr>
                      </a:pPr>
                      <a:r>
                        <a:rPr lang="fa-IR" sz="1300" b="1" dirty="0">
                          <a:solidFill>
                            <a:srgbClr val="102C47"/>
                          </a:solidFill>
                          <a:latin typeface="Times New Roman"/>
                          <a:cs typeface="B Lotus"/>
                        </a:rPr>
                        <a:t>متغیر</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۱</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۲</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۳</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۴</a:t>
                      </a:r>
                    </a:p>
                  </a:txBody>
                  <a:tcPr marL="45720" marR="45720" marT="18288" marB="18288" anchor="ctr">
                    <a:solidFill>
                      <a:srgbClr val="ECF1F5"/>
                    </a:solidFill>
                  </a:tcPr>
                </a:tc>
              </a:tr>
              <a:tr h="329184">
                <a:tc>
                  <a:txBody>
                    <a:bodyPr/>
                    <a:lstStyle/>
                    <a:p>
                      <a:pPr algn="ctr" rtl="1">
                        <a:defRPr lang="fa-IR">
                          <a:cs typeface="B Lotus"/>
                        </a:defRPr>
                      </a:pPr>
                      <a:r>
                        <a:rPr lang="fa-IR" sz="1300" b="0" dirty="0">
                          <a:solidFill>
                            <a:srgbClr val="22303B"/>
                          </a:solidFill>
                          <a:latin typeface="Times New Roman"/>
                          <a:cs typeface="B Lotus"/>
                        </a:rPr>
                        <a:t>احتمال ابتلا به بیماری</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29184">
                <a:tc>
                  <a:txBody>
                    <a:bodyPr/>
                    <a:lstStyle/>
                    <a:p>
                      <a:pPr algn="ctr" rtl="1">
                        <a:defRPr lang="fa-IR">
                          <a:cs typeface="B Lotus"/>
                        </a:defRPr>
                      </a:pPr>
                      <a:r>
                        <a:rPr lang="fa-IR" sz="1300" b="0">
                          <a:solidFill>
                            <a:srgbClr val="22303B"/>
                          </a:solidFill>
                          <a:latin typeface="Times New Roman"/>
                          <a:cs typeface="B Lotus"/>
                        </a:rPr>
                        <a:t>پیامدهای منفی بیماری</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۰.۶۲**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29184">
                <a:tc>
                  <a:txBody>
                    <a:bodyPr/>
                    <a:lstStyle/>
                    <a:p>
                      <a:pPr algn="ctr" rtl="1">
                        <a:defRPr lang="fa-IR">
                          <a:cs typeface="B Lotus"/>
                        </a:defRPr>
                      </a:pPr>
                      <a:r>
                        <a:rPr lang="fa-IR" sz="1300" b="0">
                          <a:solidFill>
                            <a:srgbClr val="22303B"/>
                          </a:solidFill>
                          <a:latin typeface="Times New Roman"/>
                          <a:cs typeface="B Lotus"/>
                        </a:rPr>
                        <a:t>اضطراب سلامتی</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۰.۸۸**</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۰.۹۱**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۰.۳۳**</a:t>
                      </a:r>
                    </a:p>
                  </a:txBody>
                  <a:tcPr marL="45720" marR="45720" marT="18288" marB="18288" anchor="ctr">
                    <a:solidFill>
                      <a:srgbClr val="FFFFFF"/>
                    </a:solidFill>
                  </a:tcPr>
                </a:tc>
              </a:tr>
              <a:tr h="329184">
                <a:tc>
                  <a:txBody>
                    <a:bodyPr/>
                    <a:lstStyle/>
                    <a:p>
                      <a:pPr algn="ctr" rtl="1">
                        <a:defRPr lang="fa-IR">
                          <a:cs typeface="B Lotus"/>
                        </a:defRPr>
                      </a:pPr>
                      <a:r>
                        <a:rPr lang="fa-IR" sz="1300" b="0">
                          <a:solidFill>
                            <a:srgbClr val="22303B"/>
                          </a:solidFill>
                          <a:latin typeface="Times New Roman"/>
                          <a:cs typeface="B Lotus"/>
                        </a:rPr>
                        <a:t>اضطراب مرگ</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۰.۴۹**</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۰.۵۵**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۰.۳۳**</a:t>
                      </a:r>
                    </a:p>
                  </a:txBody>
                  <a:tcPr marL="45720" marR="45720" marT="18288" marB="18288" anchor="ctr">
                    <a:solidFill>
                      <a:srgbClr val="FFFFFF"/>
                    </a:solidFill>
                  </a:tcPr>
                </a:tc>
                <a:tc>
                  <a:txBody>
                    <a:bodyPr/>
                    <a:lstStyle/>
                    <a:p>
                      <a:pPr algn="ctr" rtl="1">
                        <a:defRPr lang="fa-IR">
                          <a:cs typeface="B Lotus"/>
                        </a:defRPr>
                      </a:pPr>
                      <a:r>
                        <a:rPr lang="fa-IR" sz="1300" b="0" dirty="0">
                          <a:solidFill>
                            <a:srgbClr val="22303B"/>
                          </a:solidFill>
                          <a:latin typeface="Times New Roman"/>
                          <a:cs typeface="B Lotus"/>
                        </a:rPr>
                        <a:t>۱</a:t>
                      </a:r>
                    </a:p>
                  </a:txBody>
                  <a:tcPr marL="45720" marR="45720" marT="18288" marB="18288" anchor="ctr">
                    <a:solidFill>
                      <a:srgbClr val="FFFFFF"/>
                    </a:solidFill>
                  </a:tcPr>
                </a:tc>
              </a:tr>
            </a:tbl>
          </a:graphicData>
        </a:graphic>
      </p:graphicFrame>
      <p:sp>
        <p:nvSpPr>
          <p:cNvPr id="13" name="Rounded Rectangle 12"/>
          <p:cNvSpPr/>
          <p:nvPr/>
        </p:nvSpPr>
        <p:spPr>
          <a:xfrm>
            <a:off x="548640" y="4343400"/>
            <a:ext cx="11094415" cy="192024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05840" y="4572000"/>
            <a:ext cx="10180015" cy="1463040"/>
          </a:xfrm>
          <a:prstGeom prst="rect">
            <a:avLst/>
          </a:prstGeom>
          <a:noFill/>
        </p:spPr>
        <p:txBody>
          <a:bodyPr wrap="square" lIns="36576" tIns="18288" rIns="36576" bIns="18288" anchor="t"/>
          <a:lstStyle/>
          <a:p>
            <a:pPr indent="457200" algn="just" rtl="1">
              <a:lnSpc>
                <a:spcPct val="120000"/>
              </a:lnSpc>
              <a:spcAft>
                <a:spcPts val="0"/>
              </a:spcAft>
              <a:defRPr lang="fa-IR">
                <a:cs typeface="B Lotus"/>
              </a:defRPr>
            </a:pPr>
            <a:r>
              <a:rPr lang="fa-IR" dirty="0"/>
              <a:t>جدول نشان </a:t>
            </a:r>
            <a:r>
              <a:rPr lang="fa-IR" dirty="0" err="1"/>
              <a:t>می‌دهد</a:t>
            </a:r>
            <a:r>
              <a:rPr lang="fa-IR" dirty="0"/>
              <a:t> اضطراب مرگ با احتمال ابتلا به </a:t>
            </a:r>
            <a:r>
              <a:rPr lang="fa-IR" dirty="0">
                <a:cs typeface="B Lotus"/>
              </a:rPr>
              <a:t>بیماری </a:t>
            </a:r>
            <a:r>
              <a:rPr lang="en-US" dirty="0">
                <a:cs typeface="B Lotus"/>
              </a:rPr>
              <a:t>(r=0.49**)، </a:t>
            </a:r>
            <a:r>
              <a:rPr lang="fa-IR" dirty="0">
                <a:cs typeface="B Lotus"/>
              </a:rPr>
              <a:t>پیامدهای منفی بیماری </a:t>
            </a:r>
            <a:r>
              <a:rPr lang="en-US" dirty="0">
                <a:cs typeface="B Lotus"/>
              </a:rPr>
              <a:t>(r=0.55**) </a:t>
            </a:r>
            <a:r>
              <a:rPr lang="fa-IR" dirty="0">
                <a:cs typeface="B Lotus"/>
              </a:rPr>
              <a:t>و نمره کل اضطراب سلامتی </a:t>
            </a:r>
            <a:r>
              <a:rPr lang="en-US" dirty="0">
                <a:cs typeface="B Lotus"/>
              </a:rPr>
              <a:t>(r=0.33**) </a:t>
            </a:r>
            <a:r>
              <a:rPr lang="fa-IR" dirty="0">
                <a:cs typeface="B Lotus"/>
              </a:rPr>
              <a:t>رابطه مثبت و معنادار دارد. یعنی هرچه فرد نگرانی بیشتری درباره سلامت خود داشته باشد، اضطراب مرگ او نیز بیشتر </a:t>
            </a:r>
            <a:r>
              <a:rPr lang="fa-IR" dirty="0" err="1">
                <a:cs typeface="B Lotus"/>
              </a:rPr>
              <a:t>می‌شود</a:t>
            </a:r>
            <a:r>
              <a:rPr lang="fa-IR" dirty="0">
                <a:cs typeface="B Lotus"/>
              </a:rPr>
              <a:t>. همبستگی بالای دو بعد اضطراب سلامتی با نمره کل (۰.۸۸ و ۰.۹۱) </a:t>
            </a:r>
            <a:r>
              <a:rPr lang="fa-IR" dirty="0" err="1">
                <a:cs typeface="B Lotus"/>
              </a:rPr>
              <a:t>نشان‌دهنده</a:t>
            </a:r>
            <a:r>
              <a:rPr lang="fa-IR" dirty="0">
                <a:cs typeface="B Lotus"/>
              </a:rPr>
              <a:t> همسانی درونی مقیاس است. فرضیه فرعی دوم تأیید </a:t>
            </a:r>
            <a:r>
              <a:rPr lang="fa-IR" dirty="0" err="1">
                <a:cs typeface="B Lotus"/>
              </a:rPr>
              <a:t>می‌شود</a:t>
            </a:r>
            <a:r>
              <a:rPr lang="fa-IR" dirty="0">
                <a:cs typeface="B Lotus"/>
              </a:rPr>
              <a:t>.</a:t>
            </a:r>
            <a:br>
              <a:rPr lang="fa-IR" dirty="0">
                <a:cs typeface="B Lotus"/>
              </a:rPr>
            </a:br>
            <a:endParaRPr lang="fa-IR" dirty="0">
              <a:cs typeface="B Lotus"/>
            </a:endParaRPr>
          </a:p>
        </p:txBody>
      </p:sp>
    </p:spTree>
  </p:cSld>
  <p:clrMapOvr>
    <a:masterClrMapping/>
  </p:clrMapOvr>
  <p:transition spd="med" advTm="50390">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آزمون فرضیه 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۱۳</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Rounded Rectangle 8"/>
          <p:cNvSpPr/>
          <p:nvPr/>
        </p:nvSpPr>
        <p:spPr>
          <a:xfrm>
            <a:off x="548640" y="1325880"/>
            <a:ext cx="11094415" cy="822960"/>
          </a:xfrm>
          <a:prstGeom prst="roundRect">
            <a:avLst>
              <a:gd name="adj" fmla="val 4500"/>
            </a:avLst>
          </a:prstGeom>
          <a:solidFill>
            <a:srgbClr val="FAF8F4"/>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05840" y="1472184"/>
            <a:ext cx="10180015" cy="566928"/>
          </a:xfrm>
          <a:prstGeom prst="rect">
            <a:avLst/>
          </a:prstGeom>
          <a:noFill/>
        </p:spPr>
        <p:txBody>
          <a:bodyPr wrap="square" lIns="36576" tIns="18288" rIns="36576" bIns="18288" anchor="t"/>
          <a:lstStyle/>
          <a:p>
            <a:pPr algn="r" rtl="1">
              <a:lnSpc>
                <a:spcPct val="110000"/>
              </a:lnSpc>
              <a:spcAft>
                <a:spcPts val="0"/>
              </a:spcAft>
              <a:defRPr lang="fa-IR">
                <a:cs typeface="B Lotus"/>
              </a:defRPr>
            </a:pPr>
            <a:r>
              <a:rPr lang="fa-IR" sz="1700" b="1">
                <a:solidFill>
                  <a:srgbClr val="102C47"/>
                </a:solidFill>
                <a:latin typeface="Times New Roman"/>
                <a:ea typeface="Times New Roman"/>
                <a:cs typeface="B Titr"/>
              </a:rPr>
              <a:t>بررسی فرضیه اصلی پژوهش: بین هوش معنوی و اضطراب سلامتی با اضطراب مرگ در سالمندان رابطه وجود دارد.</a:t>
            </a:r>
          </a:p>
        </p:txBody>
      </p:sp>
      <p:sp>
        <p:nvSpPr>
          <p:cNvPr id="11" name="Rounded Rectangle 10"/>
          <p:cNvSpPr/>
          <p:nvPr/>
        </p:nvSpPr>
        <p:spPr>
          <a:xfrm>
            <a:off x="548640" y="2276856"/>
            <a:ext cx="11094415" cy="132588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85800" y="2441448"/>
            <a:ext cx="10646359" cy="1005840"/>
          </a:xfrm>
          <a:prstGeom prst="rect">
            <a:avLst/>
          </a:prstGeom>
          <a:noFill/>
        </p:spPr>
        <p:txBody>
          <a:bodyPr wrap="square" lIns="36576" tIns="18288" rIns="36576" bIns="18288" anchor="t"/>
          <a:lstStyle/>
          <a:p>
            <a:pPr algn="r" rtl="1">
              <a:lnSpc>
                <a:spcPct val="112000"/>
              </a:lnSpc>
              <a:spcAft>
                <a:spcPts val="500"/>
              </a:spcAft>
              <a:defRPr lang="fa-IR">
                <a:cs typeface="B Lotus"/>
              </a:defRPr>
            </a:pPr>
            <a:r>
              <a:rPr lang="fa-IR" b="0" dirty="0">
                <a:solidFill>
                  <a:srgbClr val="22303B"/>
                </a:solidFill>
                <a:latin typeface="Times New Roman"/>
                <a:ea typeface="Times New Roman"/>
                <a:cs typeface="B Lotus"/>
              </a:rPr>
              <a:t>برای آزمون فرضیه اصلی از </a:t>
            </a:r>
            <a:r>
              <a:rPr lang="fa-IR" b="0" dirty="0" err="1">
                <a:solidFill>
                  <a:srgbClr val="22303B"/>
                </a:solidFill>
                <a:latin typeface="Times New Roman"/>
                <a:ea typeface="Times New Roman"/>
                <a:cs typeface="B Lotus"/>
              </a:rPr>
              <a:t>رگرسیون</a:t>
            </a:r>
            <a:r>
              <a:rPr lang="fa-IR" b="0" dirty="0">
                <a:solidFill>
                  <a:srgbClr val="22303B"/>
                </a:solidFill>
                <a:latin typeface="Times New Roman"/>
                <a:ea typeface="Times New Roman"/>
                <a:cs typeface="B Lotus"/>
              </a:rPr>
              <a:t> </a:t>
            </a:r>
            <a:r>
              <a:rPr lang="fa-IR" b="0" dirty="0" err="1">
                <a:solidFill>
                  <a:srgbClr val="22303B"/>
                </a:solidFill>
                <a:latin typeface="Times New Roman"/>
                <a:ea typeface="Times New Roman"/>
                <a:cs typeface="B Lotus"/>
              </a:rPr>
              <a:t>چندگانه</a:t>
            </a:r>
            <a:r>
              <a:rPr lang="fa-IR" b="0" dirty="0">
                <a:solidFill>
                  <a:srgbClr val="22303B"/>
                </a:solidFill>
                <a:latin typeface="Times New Roman"/>
                <a:ea typeface="Times New Roman"/>
                <a:cs typeface="B Lotus"/>
              </a:rPr>
              <a:t> </a:t>
            </a:r>
            <a:r>
              <a:rPr lang="fa-IR" b="0" dirty="0" err="1">
                <a:solidFill>
                  <a:srgbClr val="22303B"/>
                </a:solidFill>
                <a:latin typeface="Times New Roman"/>
                <a:ea typeface="Times New Roman"/>
                <a:cs typeface="B Lotus"/>
              </a:rPr>
              <a:t>گام‌به‌گام</a:t>
            </a:r>
            <a:r>
              <a:rPr lang="fa-IR" b="0" dirty="0">
                <a:solidFill>
                  <a:srgbClr val="22303B"/>
                </a:solidFill>
                <a:latin typeface="Times New Roman"/>
                <a:ea typeface="Times New Roman"/>
                <a:cs typeface="B Lotus"/>
              </a:rPr>
              <a:t> استفاده شد.</a:t>
            </a:r>
          </a:p>
          <a:p>
            <a:pPr algn="r" rtl="1">
              <a:lnSpc>
                <a:spcPct val="112000"/>
              </a:lnSpc>
              <a:spcAft>
                <a:spcPts val="500"/>
              </a:spcAft>
              <a:defRPr lang="fa-IR">
                <a:cs typeface="B Lotus"/>
              </a:defRPr>
            </a:pPr>
            <a:r>
              <a:rPr lang="fa-IR" b="0" dirty="0">
                <a:solidFill>
                  <a:srgbClr val="22303B"/>
                </a:solidFill>
                <a:latin typeface="Times New Roman"/>
                <a:ea typeface="Times New Roman"/>
                <a:cs typeface="B Lotus"/>
              </a:rPr>
              <a:t>شایان ذکر است با وجود معنادار نشدن آزمون </a:t>
            </a:r>
            <a:r>
              <a:rPr lang="fa-IR" b="0" dirty="0" err="1">
                <a:solidFill>
                  <a:srgbClr val="22303B"/>
                </a:solidFill>
                <a:latin typeface="Times New Roman"/>
                <a:ea typeface="Times New Roman"/>
                <a:cs typeface="B Lotus"/>
              </a:rPr>
              <a:t>کولموگروف</a:t>
            </a:r>
            <a:r>
              <a:rPr lang="fa-IR" b="0" dirty="0">
                <a:solidFill>
                  <a:srgbClr val="22303B"/>
                </a:solidFill>
                <a:latin typeface="Times New Roman"/>
                <a:ea typeface="Times New Roman"/>
                <a:cs typeface="B Lotus"/>
              </a:rPr>
              <a:t>–</a:t>
            </a:r>
            <a:r>
              <a:rPr lang="fa-IR" b="0" dirty="0" err="1">
                <a:solidFill>
                  <a:srgbClr val="22303B"/>
                </a:solidFill>
                <a:latin typeface="Times New Roman"/>
                <a:ea typeface="Times New Roman"/>
                <a:cs typeface="B Lotus"/>
              </a:rPr>
              <a:t>اسمیرنف</a:t>
            </a:r>
            <a:r>
              <a:rPr lang="fa-IR" b="0" dirty="0">
                <a:solidFill>
                  <a:srgbClr val="22303B"/>
                </a:solidFill>
                <a:latin typeface="Times New Roman"/>
                <a:ea typeface="Times New Roman"/>
                <a:cs typeface="B Lotus"/>
              </a:rPr>
              <a:t> برای اضطراب مرگ، </a:t>
            </a:r>
            <a:r>
              <a:rPr lang="fa-IR" b="0" dirty="0" err="1">
                <a:solidFill>
                  <a:srgbClr val="22303B"/>
                </a:solidFill>
                <a:latin typeface="Times New Roman"/>
                <a:ea typeface="Times New Roman"/>
                <a:cs typeface="B Lotus"/>
              </a:rPr>
              <a:t>شاخص‌های</a:t>
            </a:r>
            <a:r>
              <a:rPr lang="fa-IR" b="0" dirty="0">
                <a:solidFill>
                  <a:srgbClr val="22303B"/>
                </a:solidFill>
                <a:latin typeface="Times New Roman"/>
                <a:ea typeface="Times New Roman"/>
                <a:cs typeface="B Lotus"/>
              </a:rPr>
              <a:t> کجی (۰.۸۶) و کشیدگی (۱.۱۴) در بازه قابل قبول قرار دارند و با توجه به حجم نمونه ۸۰ نفر و استواری </a:t>
            </a:r>
            <a:r>
              <a:rPr lang="fa-IR" b="0" dirty="0" err="1">
                <a:solidFill>
                  <a:srgbClr val="22303B"/>
                </a:solidFill>
                <a:latin typeface="Times New Roman"/>
                <a:ea typeface="Times New Roman"/>
                <a:cs typeface="B Lotus"/>
              </a:rPr>
              <a:t>رگرسیون</a:t>
            </a:r>
            <a:r>
              <a:rPr lang="fa-IR" b="0" dirty="0">
                <a:solidFill>
                  <a:srgbClr val="22303B"/>
                </a:solidFill>
                <a:latin typeface="Times New Roman"/>
                <a:ea typeface="Times New Roman"/>
                <a:cs typeface="B Lotus"/>
              </a:rPr>
              <a:t> در برابر انحراف خفیف، نتایج قابل </a:t>
            </a:r>
            <a:r>
              <a:rPr lang="fa-IR" b="0" dirty="0" err="1">
                <a:solidFill>
                  <a:srgbClr val="22303B"/>
                </a:solidFill>
                <a:latin typeface="Times New Roman"/>
                <a:ea typeface="Times New Roman"/>
                <a:cs typeface="B Lotus"/>
              </a:rPr>
              <a:t>اتکاست</a:t>
            </a:r>
            <a:r>
              <a:rPr lang="fa-IR" b="0" dirty="0">
                <a:solidFill>
                  <a:srgbClr val="22303B"/>
                </a:solidFill>
                <a:latin typeface="Times New Roman"/>
                <a:ea typeface="Times New Roman"/>
                <a:cs typeface="B Lotus"/>
              </a:rPr>
              <a:t>.</a:t>
            </a:r>
          </a:p>
        </p:txBody>
      </p:sp>
      <p:sp>
        <p:nvSpPr>
          <p:cNvPr id="13" name="TextBox 12"/>
          <p:cNvSpPr txBox="1"/>
          <p:nvPr/>
        </p:nvSpPr>
        <p:spPr>
          <a:xfrm>
            <a:off x="548640" y="3712464"/>
            <a:ext cx="11094415" cy="310896"/>
          </a:xfrm>
          <a:prstGeom prst="rect">
            <a:avLst/>
          </a:prstGeom>
          <a:noFill/>
        </p:spPr>
        <p:txBody>
          <a:bodyPr wrap="square" lIns="36576" tIns="18288" rIns="36576" bIns="18288" anchor="t"/>
          <a:lstStyle/>
          <a:p>
            <a:pPr algn="ctr" rtl="1">
              <a:defRPr lang="fa-IR" sz="1600" b="1">
                <a:solidFill>
                  <a:srgbClr val="B4822F"/>
                </a:solidFill>
                <a:cs typeface="B Lotus"/>
              </a:defRPr>
            </a:pPr>
            <a:r>
              <a:rPr lang="fa-IR">
                <a:latin typeface="Times New Roman"/>
                <a:cs typeface="B Lotus"/>
              </a:rPr>
              <a:t>خلاصه مدل رگرسیون و مشخصه‌های رگرسیون اضطراب مرگ بر متغیرهای پیش بین</a:t>
            </a:r>
          </a:p>
        </p:txBody>
      </p:sp>
      <p:graphicFrame>
        <p:nvGraphicFramePr>
          <p:cNvPr id="14" name="Table 13"/>
          <p:cNvGraphicFramePr>
            <a:graphicFrameLocks noGrp="1"/>
          </p:cNvGraphicFramePr>
          <p:nvPr/>
        </p:nvGraphicFramePr>
        <p:xfrm>
          <a:off x="685800" y="4023360"/>
          <a:ext cx="10820090" cy="2039112"/>
        </p:xfrm>
        <a:graphic>
          <a:graphicData uri="http://schemas.openxmlformats.org/drawingml/2006/table">
            <a:tbl>
              <a:tblPr firstRow="1">
                <a:tableStyleId>{5C22544A-7EE6-4342-B048-85BDC9FD1C3A}</a:tableStyleId>
              </a:tblPr>
              <a:tblGrid>
                <a:gridCol w="1242498"/>
                <a:gridCol w="1242498"/>
                <a:gridCol w="1242498"/>
                <a:gridCol w="1190728"/>
                <a:gridCol w="1397811"/>
                <a:gridCol w="1087186"/>
                <a:gridCol w="1397811"/>
                <a:gridCol w="1294269"/>
                <a:gridCol w="724791"/>
              </a:tblGrid>
              <a:tr h="502920">
                <a:tc>
                  <a:txBody>
                    <a:bodyPr/>
                    <a:lstStyle/>
                    <a:p>
                      <a:pPr algn="ctr" rtl="1">
                        <a:defRPr lang="fa-IR">
                          <a:cs typeface="B Lotus"/>
                        </a:defRPr>
                      </a:pPr>
                      <a:r>
                        <a:rPr lang="fa-IR" sz="1050" b="1">
                          <a:solidFill>
                            <a:srgbClr val="102C47"/>
                          </a:solidFill>
                          <a:latin typeface="Times New Roman"/>
                          <a:cs typeface="B Lotus"/>
                        </a:rPr>
                        <a:t>ضریب تعیین ‎(R²)‎</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ضریب همبستگی ‎(R)‎</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معناداری ‎(p)‎</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آماره ‎F‎</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میانگین مربعات ‎(MS)‎</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درجه آزادی ‎(df)‎</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مجموع مربعات ‎(SS)‎</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مدل</a:t>
                      </a:r>
                    </a:p>
                  </a:txBody>
                  <a:tcPr marL="45720" marR="45720" marT="18288" marB="18288" anchor="ctr">
                    <a:solidFill>
                      <a:srgbClr val="ECF1F5"/>
                    </a:solidFill>
                  </a:tcPr>
                </a:tc>
                <a:tc>
                  <a:txBody>
                    <a:bodyPr/>
                    <a:lstStyle/>
                    <a:p>
                      <a:pPr algn="ctr" rtl="1">
                        <a:defRPr lang="fa-IR">
                          <a:cs typeface="B Lotus"/>
                        </a:defRPr>
                      </a:pPr>
                      <a:r>
                        <a:rPr lang="fa-IR" sz="1050" b="1">
                          <a:solidFill>
                            <a:srgbClr val="102C47"/>
                          </a:solidFill>
                          <a:latin typeface="Times New Roman"/>
                          <a:cs typeface="B Lotus"/>
                        </a:rPr>
                        <a:t>گام</a:t>
                      </a:r>
                    </a:p>
                  </a:txBody>
                  <a:tcPr marL="45720" marR="45720" marT="18288" marB="18288" anchor="ctr">
                    <a:solidFill>
                      <a:srgbClr val="ECF1F5"/>
                    </a:solidFill>
                  </a:tcPr>
                </a:tc>
              </a:tr>
              <a:tr h="301752">
                <a:tc>
                  <a:txBody>
                    <a:bodyPr/>
                    <a:lstStyle/>
                    <a:p>
                      <a:pPr algn="ctr" rtl="1">
                        <a:defRPr lang="fa-IR">
                          <a:cs typeface="B Lotus"/>
                        </a:defRPr>
                      </a:pPr>
                      <a:r>
                        <a:rPr lang="fa-IR" sz="1100" b="0">
                          <a:solidFill>
                            <a:srgbClr val="22303B"/>
                          </a:solidFill>
                          <a:latin typeface="Times New Roman"/>
                          <a:cs typeface="B Lotus"/>
                        </a:rPr>
                        <a:t>۰.۲۵</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۰.۵۰</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۰.۰۰۱</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۲۵.۸۰</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۱۳۰.۲۲</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۱</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۱۳۰.۲۲</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رگرسیون</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۱</a:t>
                      </a:r>
                    </a:p>
                  </a:txBody>
                  <a:tcPr marL="45720" marR="45720" marT="18288" marB="18288" anchor="ctr">
                    <a:solidFill>
                      <a:srgbClr val="FFFFFF"/>
                    </a:solidFill>
                  </a:tcPr>
                </a:tc>
              </a:tr>
              <a:tr h="301752">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۵.۰۵</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۷۸</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۳۹۳.۷۳</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باقیمانده</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ctr" rtl="1">
                        <a:defRPr lang="fa-IR">
                          <a:cs typeface="B Lotus"/>
                        </a:defRPr>
                      </a:pPr>
                      <a:r>
                        <a:rPr lang="fa-IR" sz="1100" b="0">
                          <a:solidFill>
                            <a:srgbClr val="22303B"/>
                          </a:solidFill>
                          <a:latin typeface="Times New Roman"/>
                          <a:cs typeface="B Lotus"/>
                        </a:rPr>
                        <a:t>۰.۳۵</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۰.۵۹</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۰.۰۰۱</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۲۱.۰۶</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۹۲.۶۴</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۲</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۱۸۵.۲۸</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رگرسیون</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۲</a:t>
                      </a:r>
                    </a:p>
                  </a:txBody>
                  <a:tcPr marL="45720" marR="45720" marT="18288" marB="18288" anchor="ctr">
                    <a:solidFill>
                      <a:srgbClr val="FFFFFF"/>
                    </a:solidFill>
                  </a:tcPr>
                </a:tc>
              </a:tr>
              <a:tr h="301752">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۴.۴۰</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۷۷</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۳۳۸.۶۷</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باقیمانده</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r h="301752">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۷۹</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۵۲۳.۹۵</a:t>
                      </a:r>
                    </a:p>
                  </a:txBody>
                  <a:tcPr marL="45720" marR="45720" marT="18288" marB="18288" anchor="ctr">
                    <a:solidFill>
                      <a:srgbClr val="FFFFFF"/>
                    </a:solidFill>
                  </a:tcPr>
                </a:tc>
                <a:tc>
                  <a:txBody>
                    <a:bodyPr/>
                    <a:lstStyle/>
                    <a:p>
                      <a:pPr algn="ctr" rtl="1">
                        <a:defRPr lang="fa-IR">
                          <a:cs typeface="B Lotus"/>
                        </a:defRPr>
                      </a:pPr>
                      <a:r>
                        <a:rPr lang="fa-IR" sz="1100" b="0">
                          <a:solidFill>
                            <a:srgbClr val="22303B"/>
                          </a:solidFill>
                          <a:latin typeface="Times New Roman"/>
                          <a:cs typeface="B Lotus"/>
                        </a:rPr>
                        <a:t>کل</a:t>
                      </a:r>
                    </a:p>
                  </a:txBody>
                  <a:tcPr marL="45720" marR="45720" marT="18288" marB="18288" anchor="ctr">
                    <a:solidFill>
                      <a:srgbClr val="FFFFFF"/>
                    </a:solidFill>
                  </a:tcPr>
                </a:tc>
                <a:tc>
                  <a:txBody>
                    <a:bodyPr/>
                    <a:lstStyle/>
                    <a:p>
                      <a:pPr algn="ctr" rtl="1">
                        <a:defRPr lang="fa-IR">
                          <a:cs typeface="B Lotus"/>
                        </a:defRPr>
                      </a:pPr>
                      <a:endParaRPr/>
                    </a:p>
                  </a:txBody>
                  <a:tcPr marL="45720" marR="45720" marT="18288" marB="18288" anchor="ctr">
                    <a:solidFill>
                      <a:srgbClr val="FFFFFF"/>
                    </a:solidFill>
                  </a:tcPr>
                </a:tc>
              </a:tr>
            </a:tbl>
          </a:graphicData>
        </a:graphic>
      </p:graphicFrame>
    </p:spTree>
  </p:cSld>
  <p:clrMapOvr>
    <a:masterClrMapping/>
  </p:clrMapOvr>
  <p:transition spd="med" advTm="58380">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آزمون فرضیه 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۱۴</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Rounded Rectangle 8"/>
          <p:cNvSpPr/>
          <p:nvPr/>
        </p:nvSpPr>
        <p:spPr>
          <a:xfrm>
            <a:off x="548640" y="1325880"/>
            <a:ext cx="11094415" cy="914400"/>
          </a:xfrm>
          <a:prstGeom prst="roundRect">
            <a:avLst>
              <a:gd name="adj" fmla="val 4500"/>
            </a:avLst>
          </a:prstGeom>
          <a:solidFill>
            <a:srgbClr val="FAF8F4"/>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05840" y="1472184"/>
            <a:ext cx="10180015" cy="640080"/>
          </a:xfrm>
          <a:prstGeom prst="rect">
            <a:avLst/>
          </a:prstGeom>
          <a:noFill/>
        </p:spPr>
        <p:txBody>
          <a:bodyPr wrap="square" lIns="36576" tIns="18288" rIns="36576" bIns="18288" anchor="t"/>
          <a:lstStyle/>
          <a:p>
            <a:pPr algn="r" rtl="1">
              <a:lnSpc>
                <a:spcPct val="110000"/>
              </a:lnSpc>
              <a:spcAft>
                <a:spcPts val="200"/>
              </a:spcAft>
              <a:defRPr lang="fa-IR">
                <a:cs typeface="B Lotus"/>
              </a:defRPr>
            </a:pPr>
            <a:r>
              <a:rPr lang="fa-IR" sz="1600" b="1">
                <a:solidFill>
                  <a:srgbClr val="102C47"/>
                </a:solidFill>
                <a:latin typeface="Times New Roman"/>
                <a:ea typeface="Times New Roman"/>
                <a:cs typeface="B Lotus"/>
              </a:rPr>
              <a:t>گام ۱: متغیر پیش‌بین هوش معنوی. گام ۲: هوش معنوی و اضطراب سلامتی.</a:t>
            </a:r>
          </a:p>
          <a:p>
            <a:pPr algn="r" rtl="1">
              <a:lnSpc>
                <a:spcPct val="110000"/>
              </a:lnSpc>
              <a:spcAft>
                <a:spcPts val="200"/>
              </a:spcAft>
              <a:defRPr lang="fa-IR">
                <a:cs typeface="B Lotus"/>
              </a:defRPr>
            </a:pPr>
            <a:r>
              <a:rPr lang="fa-IR" sz="1600" b="1">
                <a:solidFill>
                  <a:srgbClr val="102C47"/>
                </a:solidFill>
                <a:latin typeface="Times New Roman"/>
                <a:ea typeface="Times New Roman"/>
                <a:cs typeface="B Lotus"/>
              </a:rPr>
              <a:t>گام ۲. متغیرهای پیش‌بین: هوش معنوی، اضطراب سلامتی</a:t>
            </a:r>
          </a:p>
        </p:txBody>
      </p:sp>
      <p:sp>
        <p:nvSpPr>
          <p:cNvPr id="11" name="TextBox 10"/>
          <p:cNvSpPr txBox="1"/>
          <p:nvPr/>
        </p:nvSpPr>
        <p:spPr>
          <a:xfrm>
            <a:off x="548640" y="2441448"/>
            <a:ext cx="11094415" cy="365760"/>
          </a:xfrm>
          <a:prstGeom prst="rect">
            <a:avLst/>
          </a:prstGeom>
          <a:noFill/>
        </p:spPr>
        <p:txBody>
          <a:bodyPr wrap="square" lIns="36576" tIns="18288" rIns="36576" bIns="18288" anchor="t"/>
          <a:lstStyle/>
          <a:p>
            <a:pPr algn="ctr" rtl="1">
              <a:defRPr lang="fa-IR" sz="1700" b="1">
                <a:solidFill>
                  <a:srgbClr val="B4822F"/>
                </a:solidFill>
                <a:cs typeface="B Lotus"/>
              </a:defRPr>
            </a:pPr>
            <a:r>
              <a:rPr lang="fa-IR">
                <a:latin typeface="Times New Roman"/>
                <a:cs typeface="B Lotus"/>
              </a:rPr>
              <a:t>خلاصه مدل رگرسیون گام‌به‌گام</a:t>
            </a:r>
          </a:p>
        </p:txBody>
      </p:sp>
      <p:graphicFrame>
        <p:nvGraphicFramePr>
          <p:cNvPr id="12" name="Table 11"/>
          <p:cNvGraphicFramePr>
            <a:graphicFrameLocks noGrp="1"/>
          </p:cNvGraphicFramePr>
          <p:nvPr>
            <p:extLst>
              <p:ext uri="{D42A27DB-BD31-4B8C-83A1-F6EECF244321}">
                <p14:modId xmlns:p14="http://schemas.microsoft.com/office/powerpoint/2010/main" val="715710311"/>
              </p:ext>
            </p:extLst>
          </p:nvPr>
        </p:nvGraphicFramePr>
        <p:xfrm>
          <a:off x="914400" y="2880360"/>
          <a:ext cx="10362893" cy="1271016"/>
        </p:xfrm>
        <a:graphic>
          <a:graphicData uri="http://schemas.openxmlformats.org/drawingml/2006/table">
            <a:tbl>
              <a:tblPr firstRow="1">
                <a:tableStyleId>{5C22544A-7EE6-4342-B048-85BDC9FD1C3A}</a:tableStyleId>
              </a:tblPr>
              <a:tblGrid>
                <a:gridCol w="1807481"/>
                <a:gridCol w="2168978"/>
                <a:gridCol w="2168978"/>
                <a:gridCol w="1566484"/>
                <a:gridCol w="1807481"/>
                <a:gridCol w="843491"/>
              </a:tblGrid>
              <a:tr h="502920">
                <a:tc>
                  <a:txBody>
                    <a:bodyPr/>
                    <a:lstStyle/>
                    <a:p>
                      <a:pPr algn="ctr" rtl="1">
                        <a:defRPr lang="fa-IR">
                          <a:cs typeface="B Lotus"/>
                        </a:defRPr>
                      </a:pPr>
                      <a:r>
                        <a:rPr lang="fa-IR" sz="1300" b="1" dirty="0">
                          <a:solidFill>
                            <a:srgbClr val="102C47"/>
                          </a:solidFill>
                          <a:latin typeface="Times New Roman"/>
                          <a:cs typeface="B Lotus"/>
                        </a:rPr>
                        <a:t>دوربین–</a:t>
                      </a:r>
                      <a:r>
                        <a:rPr lang="fa-IR" sz="1300" b="1" dirty="0" err="1">
                          <a:solidFill>
                            <a:srgbClr val="102C47"/>
                          </a:solidFill>
                          <a:latin typeface="Times New Roman"/>
                          <a:cs typeface="B Lotus"/>
                        </a:rPr>
                        <a:t>واتسون</a:t>
                      </a:r>
                      <a:endParaRPr lang="fa-IR" sz="1300" b="1" dirty="0">
                        <a:solidFill>
                          <a:srgbClr val="102C47"/>
                        </a:solidFill>
                        <a:latin typeface="Times New Roman"/>
                        <a:cs typeface="B Lotus"/>
                      </a:endParaRP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خطای استاندارد برآورد</a:t>
                      </a:r>
                    </a:p>
                  </a:txBody>
                  <a:tcPr marL="45720" marR="45720" marT="18288" marB="18288" anchor="ctr">
                    <a:solidFill>
                      <a:srgbClr val="ECF1F5"/>
                    </a:solidFill>
                  </a:tcPr>
                </a:tc>
                <a:tc>
                  <a:txBody>
                    <a:bodyPr/>
                    <a:lstStyle/>
                    <a:p>
                      <a:pPr algn="ctr" rtl="1">
                        <a:defRPr lang="fa-IR">
                          <a:cs typeface="B Lotus"/>
                        </a:defRPr>
                      </a:pPr>
                      <a:r>
                        <a:rPr lang="fa-IR" sz="1300" b="1" dirty="0">
                          <a:solidFill>
                            <a:srgbClr val="102C47"/>
                          </a:solidFill>
                          <a:latin typeface="Times New Roman"/>
                          <a:cs typeface="B Lotus"/>
                        </a:rPr>
                        <a:t>ضریب تعیین </a:t>
                      </a:r>
                      <a:r>
                        <a:rPr lang="fa-IR" sz="1300" b="1" dirty="0" err="1">
                          <a:solidFill>
                            <a:srgbClr val="102C47"/>
                          </a:solidFill>
                          <a:latin typeface="Times New Roman"/>
                          <a:cs typeface="B Lotus"/>
                        </a:rPr>
                        <a:t>تعدیل‌شده</a:t>
                      </a:r>
                      <a:r>
                        <a:rPr lang="fa-IR" sz="1300" b="1" dirty="0">
                          <a:solidFill>
                            <a:srgbClr val="102C47"/>
                          </a:solidFill>
                          <a:latin typeface="Times New Roman"/>
                          <a:cs typeface="B Lotus"/>
                        </a:rPr>
                        <a:t> </a:t>
                      </a:r>
                      <a:r>
                        <a:rPr lang="fa-IR" sz="1300" b="1" dirty="0" smtClean="0">
                          <a:solidFill>
                            <a:srgbClr val="102C47"/>
                          </a:solidFill>
                          <a:latin typeface="Times New Roman"/>
                          <a:cs typeface="B Lotus"/>
                        </a:rPr>
                        <a:t>‎ </a:t>
                      </a:r>
                      <a:r>
                        <a:rPr lang="en-US" sz="1300" b="1" dirty="0" smtClean="0">
                          <a:solidFill>
                            <a:srgbClr val="102C47"/>
                          </a:solidFill>
                          <a:latin typeface="Times New Roman"/>
                          <a:cs typeface="B Lotus"/>
                        </a:rPr>
                        <a:t>)</a:t>
                      </a:r>
                      <a:r>
                        <a:rPr lang="fa-IR" sz="1300" b="1" dirty="0" smtClean="0">
                          <a:solidFill>
                            <a:srgbClr val="102C47"/>
                          </a:solidFill>
                          <a:latin typeface="Times New Roman"/>
                          <a:cs typeface="B Lotus"/>
                        </a:rPr>
                        <a:t> ²</a:t>
                      </a:r>
                      <a:r>
                        <a:rPr lang="en-US" sz="1300" b="1" dirty="0" smtClean="0">
                          <a:solidFill>
                            <a:srgbClr val="102C47"/>
                          </a:solidFill>
                          <a:latin typeface="Times New Roman"/>
                          <a:cs typeface="B Lotus"/>
                        </a:rPr>
                        <a:t>R</a:t>
                      </a:r>
                      <a:r>
                        <a:rPr lang="fa-IR" sz="1300" b="1" dirty="0" smtClean="0">
                          <a:solidFill>
                            <a:srgbClr val="102C47"/>
                          </a:solidFill>
                          <a:latin typeface="Times New Roman"/>
                          <a:cs typeface="B Lotus"/>
                        </a:rPr>
                        <a:t> </a:t>
                      </a:r>
                      <a:r>
                        <a:rPr lang="en-US" sz="1300" b="1" dirty="0" smtClean="0">
                          <a:solidFill>
                            <a:srgbClr val="102C47"/>
                          </a:solidFill>
                          <a:latin typeface="Times New Roman"/>
                          <a:cs typeface="B Lotus"/>
                        </a:rPr>
                        <a:t>(</a:t>
                      </a:r>
                      <a:r>
                        <a:rPr lang="fa-IR" sz="1300" b="1" dirty="0" smtClean="0">
                          <a:solidFill>
                            <a:srgbClr val="102C47"/>
                          </a:solidFill>
                          <a:latin typeface="Times New Roman"/>
                          <a:cs typeface="B Lotus"/>
                        </a:rPr>
                        <a:t>‎</a:t>
                      </a:r>
                      <a:endParaRPr lang="fa-IR" sz="1300" b="1" dirty="0">
                        <a:solidFill>
                          <a:srgbClr val="102C47"/>
                        </a:solidFill>
                        <a:latin typeface="Times New Roman"/>
                        <a:cs typeface="B Lotus"/>
                      </a:endParaRPr>
                    </a:p>
                  </a:txBody>
                  <a:tcPr marL="45720" marR="45720" marT="18288" marB="18288" anchor="ctr">
                    <a:solidFill>
                      <a:srgbClr val="ECF1F5"/>
                    </a:solidFill>
                  </a:tcPr>
                </a:tc>
                <a:tc>
                  <a:txBody>
                    <a:bodyPr/>
                    <a:lstStyle/>
                    <a:p>
                      <a:pPr algn="ctr" rtl="1">
                        <a:defRPr lang="fa-IR">
                          <a:cs typeface="B Lotus"/>
                        </a:defRPr>
                      </a:pPr>
                      <a:r>
                        <a:rPr lang="fa-IR" sz="1300" b="1" dirty="0">
                          <a:solidFill>
                            <a:srgbClr val="102C47"/>
                          </a:solidFill>
                          <a:latin typeface="Times New Roman"/>
                          <a:cs typeface="B Lotus"/>
                        </a:rPr>
                        <a:t>ضریب تعیین </a:t>
                      </a:r>
                      <a:r>
                        <a:rPr lang="en-US" sz="1300" b="1" dirty="0" smtClean="0">
                          <a:solidFill>
                            <a:srgbClr val="102C47"/>
                          </a:solidFill>
                          <a:latin typeface="Times New Roman"/>
                          <a:cs typeface="B Lotus"/>
                        </a:rPr>
                        <a:t>)</a:t>
                      </a:r>
                      <a:r>
                        <a:rPr lang="fa-IR" sz="1300" b="1" dirty="0" smtClean="0">
                          <a:solidFill>
                            <a:srgbClr val="102C47"/>
                          </a:solidFill>
                          <a:latin typeface="Times New Roman"/>
                          <a:cs typeface="B Lotus"/>
                        </a:rPr>
                        <a:t> ²</a:t>
                      </a:r>
                      <a:r>
                        <a:rPr lang="en-US" sz="1300" b="1" dirty="0" smtClean="0">
                          <a:solidFill>
                            <a:srgbClr val="102C47"/>
                          </a:solidFill>
                          <a:latin typeface="Times New Roman"/>
                          <a:cs typeface="B Lotus"/>
                        </a:rPr>
                        <a:t>R</a:t>
                      </a:r>
                      <a:r>
                        <a:rPr lang="fa-IR" sz="1300" b="1" dirty="0" smtClean="0">
                          <a:solidFill>
                            <a:srgbClr val="102C47"/>
                          </a:solidFill>
                          <a:latin typeface="Times New Roman"/>
                          <a:cs typeface="B Lotus"/>
                        </a:rPr>
                        <a:t> </a:t>
                      </a:r>
                      <a:r>
                        <a:rPr lang="en-US" sz="1300" b="1" dirty="0" smtClean="0">
                          <a:solidFill>
                            <a:srgbClr val="102C47"/>
                          </a:solidFill>
                          <a:latin typeface="Times New Roman"/>
                          <a:cs typeface="B Lotus"/>
                        </a:rPr>
                        <a:t>(</a:t>
                      </a:r>
                      <a:r>
                        <a:rPr lang="fa-IR" sz="1300" b="1" dirty="0" smtClean="0">
                          <a:solidFill>
                            <a:srgbClr val="102C47"/>
                          </a:solidFill>
                          <a:latin typeface="Times New Roman"/>
                          <a:cs typeface="B Lotus"/>
                        </a:rPr>
                        <a:t>‎</a:t>
                      </a:r>
                      <a:endParaRPr lang="fa-IR" sz="1300" b="1" dirty="0">
                        <a:solidFill>
                          <a:srgbClr val="102C47"/>
                        </a:solidFill>
                        <a:latin typeface="Times New Roman"/>
                        <a:cs typeface="B Lotus"/>
                      </a:endParaRP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ضریب همبستگی</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گام</a:t>
                      </a:r>
                    </a:p>
                  </a:txBody>
                  <a:tcPr marL="45720" marR="45720" marT="18288" marB="18288" anchor="ctr">
                    <a:solidFill>
                      <a:srgbClr val="ECF1F5"/>
                    </a:solidFill>
                  </a:tcPr>
                </a:tc>
              </a:tr>
              <a:tr h="384048">
                <a:tc>
                  <a:txBody>
                    <a:bodyPr/>
                    <a:lstStyle/>
                    <a:p>
                      <a:pPr algn="ctr" rtl="1">
                        <a:defRPr lang="en-US">
                          <a:cs typeface="B Lotus"/>
                        </a:defRPr>
                      </a:pPr>
                      <a:r>
                        <a:rPr lang="en-US" sz="1300" b="0">
                          <a:solidFill>
                            <a:srgbClr val="22303B"/>
                          </a:solidFill>
                          <a:latin typeface="Times New Roman"/>
                          <a:cs typeface="B Lotus"/>
                        </a:rPr>
                        <a:t>—</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۲.۲۵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۰.۲۴</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۰.۲۵</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۰.۵۰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a:t>
                      </a:r>
                    </a:p>
                  </a:txBody>
                  <a:tcPr marL="45720" marR="45720" marT="18288" marB="18288" anchor="ctr">
                    <a:solidFill>
                      <a:srgbClr val="FFFFFF"/>
                    </a:solidFill>
                  </a:tcPr>
                </a:tc>
              </a:tr>
              <a:tr h="384048">
                <a:tc>
                  <a:txBody>
                    <a:bodyPr/>
                    <a:lstStyle/>
                    <a:p>
                      <a:pPr algn="ctr" rtl="1">
                        <a:defRPr lang="fa-IR">
                          <a:cs typeface="B Lotus"/>
                        </a:defRPr>
                      </a:pPr>
                      <a:r>
                        <a:rPr lang="fa-IR" sz="1300" b="0">
                          <a:solidFill>
                            <a:srgbClr val="22303B"/>
                          </a:solidFill>
                          <a:latin typeface="Times New Roman"/>
                          <a:cs typeface="B Lotus"/>
                        </a:rPr>
                        <a:t>۱.۹۳</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۲.۱۰</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۰.۳۴</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۰.۳۵</a:t>
                      </a:r>
                    </a:p>
                  </a:txBody>
                  <a:tcPr marL="45720" marR="45720" marT="18288" marB="18288" anchor="ctr">
                    <a:solidFill>
                      <a:srgbClr val="FFFFFF"/>
                    </a:solidFill>
                  </a:tcPr>
                </a:tc>
                <a:tc>
                  <a:txBody>
                    <a:bodyPr/>
                    <a:lstStyle/>
                    <a:p>
                      <a:pPr algn="ctr" rtl="1">
                        <a:defRPr lang="fa-IR">
                          <a:cs typeface="B Lotus"/>
                        </a:defRPr>
                      </a:pPr>
                      <a:r>
                        <a:rPr lang="fa-IR" sz="1300" b="0" dirty="0">
                          <a:solidFill>
                            <a:srgbClr val="22303B"/>
                          </a:solidFill>
                          <a:latin typeface="Times New Roman"/>
                          <a:cs typeface="B Lotus"/>
                        </a:rPr>
                        <a:t>۰.۵۹</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۲</a:t>
                      </a:r>
                    </a:p>
                  </a:txBody>
                  <a:tcPr marL="45720" marR="45720" marT="18288" marB="18288" anchor="ctr">
                    <a:solidFill>
                      <a:srgbClr val="FFFFFF"/>
                    </a:solidFill>
                  </a:tcPr>
                </a:tc>
              </a:tr>
            </a:tbl>
          </a:graphicData>
        </a:graphic>
      </p:graphicFrame>
      <p:sp>
        <p:nvSpPr>
          <p:cNvPr id="13" name="Rounded Rectangle 12"/>
          <p:cNvSpPr/>
          <p:nvPr/>
        </p:nvSpPr>
        <p:spPr>
          <a:xfrm>
            <a:off x="548640" y="4407408"/>
            <a:ext cx="11094415" cy="1856232"/>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005840" y="4636008"/>
            <a:ext cx="10180015" cy="1399032"/>
          </a:xfrm>
          <a:prstGeom prst="rect">
            <a:avLst/>
          </a:prstGeom>
          <a:noFill/>
        </p:spPr>
        <p:txBody>
          <a:bodyPr wrap="square" lIns="36576" tIns="18288" rIns="36576" bIns="18288" anchor="t"/>
          <a:lstStyle/>
          <a:p>
            <a:pPr indent="457200" algn="just" rtl="1">
              <a:lnSpc>
                <a:spcPct val="120000"/>
              </a:lnSpc>
              <a:spcAft>
                <a:spcPts val="0"/>
              </a:spcAft>
              <a:defRPr lang="fa-IR">
                <a:cs typeface="B Lotus"/>
              </a:defRPr>
            </a:pPr>
            <a:r>
              <a:rPr lang="fa-IR" sz="2000" b="0" dirty="0">
                <a:solidFill>
                  <a:srgbClr val="22303B"/>
                </a:solidFill>
                <a:latin typeface="Times New Roman"/>
                <a:ea typeface="Times New Roman"/>
                <a:cs typeface="B Lotus"/>
              </a:rPr>
              <a:t>جدول نشان </a:t>
            </a:r>
            <a:r>
              <a:rPr lang="fa-IR" sz="2000" b="0" dirty="0" err="1">
                <a:solidFill>
                  <a:srgbClr val="22303B"/>
                </a:solidFill>
                <a:latin typeface="Times New Roman"/>
                <a:ea typeface="Times New Roman"/>
                <a:cs typeface="B Lotus"/>
              </a:rPr>
              <a:t>می‌دهد</a:t>
            </a:r>
            <a:r>
              <a:rPr lang="fa-IR" sz="2000" b="0" dirty="0">
                <a:solidFill>
                  <a:srgbClr val="22303B"/>
                </a:solidFill>
                <a:latin typeface="Times New Roman"/>
                <a:ea typeface="Times New Roman"/>
                <a:cs typeface="B Lotus"/>
              </a:rPr>
              <a:t> در گام اول هوش معنوی به تنهایی ۲۵٪ از </a:t>
            </a:r>
            <a:r>
              <a:rPr lang="fa-IR" sz="2000" b="0" dirty="0" err="1">
                <a:solidFill>
                  <a:srgbClr val="22303B"/>
                </a:solidFill>
                <a:latin typeface="Times New Roman"/>
                <a:ea typeface="Times New Roman"/>
                <a:cs typeface="B Lotus"/>
              </a:rPr>
              <a:t>واریانس</a:t>
            </a:r>
            <a:r>
              <a:rPr lang="fa-IR" sz="2000" b="0" dirty="0">
                <a:solidFill>
                  <a:srgbClr val="22303B"/>
                </a:solidFill>
                <a:latin typeface="Times New Roman"/>
                <a:ea typeface="Times New Roman"/>
                <a:cs typeface="B Lotus"/>
              </a:rPr>
              <a:t> اضطراب مرگ را تبیین </a:t>
            </a:r>
            <a:r>
              <a:rPr lang="fa-IR" sz="2000" b="0" dirty="0" err="1" smtClean="0">
                <a:solidFill>
                  <a:srgbClr val="22303B"/>
                </a:solidFill>
                <a:latin typeface="Times New Roman"/>
                <a:ea typeface="Times New Roman"/>
                <a:cs typeface="B Lotus"/>
              </a:rPr>
              <a:t>می‌کند</a:t>
            </a:r>
            <a:r>
              <a:rPr lang="fa-IR" sz="2000" dirty="0">
                <a:solidFill>
                  <a:srgbClr val="22303B"/>
                </a:solidFill>
                <a:latin typeface="Times New Roman"/>
                <a:ea typeface="Times New Roman"/>
                <a:cs typeface="B Lotus"/>
              </a:rPr>
              <a:t> (‪‎R² =‎ </a:t>
            </a:r>
            <a:r>
              <a:rPr lang="en-US" sz="2000" dirty="0" smtClean="0">
                <a:solidFill>
                  <a:srgbClr val="22303B"/>
                </a:solidFill>
                <a:latin typeface="Times New Roman"/>
                <a:ea typeface="Times New Roman"/>
                <a:cs typeface="B Lotus"/>
              </a:rPr>
              <a:t>۰.۲۵</a:t>
            </a:r>
            <a:r>
              <a:rPr lang="fa-IR" sz="2000" dirty="0" smtClean="0">
                <a:solidFill>
                  <a:srgbClr val="22303B"/>
                </a:solidFill>
                <a:latin typeface="Times New Roman"/>
                <a:ea typeface="Times New Roman"/>
                <a:cs typeface="B Lotus"/>
              </a:rPr>
              <a:t>).</a:t>
            </a:r>
            <a:r>
              <a:rPr lang="en-US" sz="2000" b="0" dirty="0" smtClean="0">
                <a:solidFill>
                  <a:srgbClr val="22303B"/>
                </a:solidFill>
                <a:latin typeface="Times New Roman"/>
                <a:ea typeface="Times New Roman"/>
                <a:cs typeface="B Lotus"/>
              </a:rPr>
              <a:t> </a:t>
            </a:r>
            <a:r>
              <a:rPr lang="fa-IR" sz="2000" b="0" dirty="0" smtClean="0">
                <a:solidFill>
                  <a:srgbClr val="22303B"/>
                </a:solidFill>
                <a:latin typeface="Times New Roman"/>
                <a:ea typeface="Times New Roman"/>
                <a:cs typeface="B Lotus"/>
              </a:rPr>
              <a:t> با </a:t>
            </a:r>
            <a:r>
              <a:rPr lang="fa-IR" sz="2000" b="0" dirty="0">
                <a:solidFill>
                  <a:srgbClr val="22303B"/>
                </a:solidFill>
                <a:latin typeface="Times New Roman"/>
                <a:ea typeface="Times New Roman"/>
                <a:cs typeface="B Lotus"/>
              </a:rPr>
              <a:t>ورود اضطراب سلامتی در گام دوم، مقدار تبیین به ۳۵٪ </a:t>
            </a:r>
            <a:r>
              <a:rPr lang="fa-IR" sz="2000" b="0" dirty="0" err="1">
                <a:solidFill>
                  <a:srgbClr val="22303B"/>
                </a:solidFill>
                <a:latin typeface="Times New Roman"/>
                <a:ea typeface="Times New Roman"/>
                <a:cs typeface="B Lotus"/>
              </a:rPr>
              <a:t>می‌رسد</a:t>
            </a:r>
            <a:r>
              <a:rPr lang="fa-IR" sz="2000" b="0" dirty="0">
                <a:solidFill>
                  <a:srgbClr val="22303B"/>
                </a:solidFill>
                <a:latin typeface="Times New Roman"/>
                <a:ea typeface="Times New Roman"/>
                <a:cs typeface="B Lotus"/>
              </a:rPr>
              <a:t> (‪‎R² =‎ ۰.۳۵). به زبان ساده، این دو متغیر با هم حدود </a:t>
            </a:r>
            <a:r>
              <a:rPr lang="fa-IR" sz="2000" b="0" dirty="0" err="1">
                <a:solidFill>
                  <a:srgbClr val="22303B"/>
                </a:solidFill>
                <a:latin typeface="Times New Roman"/>
                <a:ea typeface="Times New Roman"/>
                <a:cs typeface="B Lotus"/>
              </a:rPr>
              <a:t>یک‌سوم</a:t>
            </a:r>
            <a:r>
              <a:rPr lang="fa-IR" sz="2000" b="0" dirty="0">
                <a:solidFill>
                  <a:srgbClr val="22303B"/>
                </a:solidFill>
                <a:latin typeface="Times New Roman"/>
                <a:ea typeface="Times New Roman"/>
                <a:cs typeface="B Lotus"/>
              </a:rPr>
              <a:t> </a:t>
            </a:r>
            <a:r>
              <a:rPr lang="fa-IR" sz="2000" b="0" dirty="0" err="1">
                <a:solidFill>
                  <a:srgbClr val="22303B"/>
                </a:solidFill>
                <a:latin typeface="Times New Roman"/>
                <a:ea typeface="Times New Roman"/>
                <a:cs typeface="B Lotus"/>
              </a:rPr>
              <a:t>تفاوت‌های</a:t>
            </a:r>
            <a:r>
              <a:rPr lang="fa-IR" sz="2000" b="0" dirty="0">
                <a:solidFill>
                  <a:srgbClr val="22303B"/>
                </a:solidFill>
                <a:latin typeface="Times New Roman"/>
                <a:ea typeface="Times New Roman"/>
                <a:cs typeface="B Lotus"/>
              </a:rPr>
              <a:t> افراد در اضطراب مرگ را توضیح </a:t>
            </a:r>
            <a:r>
              <a:rPr lang="fa-IR" sz="2000" b="0" dirty="0" err="1">
                <a:solidFill>
                  <a:srgbClr val="22303B"/>
                </a:solidFill>
                <a:latin typeface="Times New Roman"/>
                <a:ea typeface="Times New Roman"/>
                <a:cs typeface="B Lotus"/>
              </a:rPr>
              <a:t>می‌دهند</a:t>
            </a:r>
            <a:r>
              <a:rPr lang="fa-IR" sz="2000" b="0" dirty="0">
                <a:solidFill>
                  <a:srgbClr val="22303B"/>
                </a:solidFill>
                <a:latin typeface="Times New Roman"/>
                <a:ea typeface="Times New Roman"/>
                <a:cs typeface="B Lotus"/>
              </a:rPr>
              <a:t> که برای </a:t>
            </a:r>
            <a:r>
              <a:rPr lang="fa-IR" sz="2000" b="0" dirty="0" err="1">
                <a:solidFill>
                  <a:srgbClr val="22303B"/>
                </a:solidFill>
                <a:latin typeface="Times New Roman"/>
                <a:ea typeface="Times New Roman"/>
                <a:cs typeface="B Lotus"/>
              </a:rPr>
              <a:t>پژوهش‌های</a:t>
            </a:r>
            <a:r>
              <a:rPr lang="fa-IR" sz="2000" b="0" dirty="0">
                <a:solidFill>
                  <a:srgbClr val="22303B"/>
                </a:solidFill>
                <a:latin typeface="Times New Roman"/>
                <a:ea typeface="Times New Roman"/>
                <a:cs typeface="B Lotus"/>
              </a:rPr>
              <a:t> انسانی مقدار قابل قبولی است. </a:t>
            </a:r>
            <a:r>
              <a:rPr lang="fa-IR" sz="2000" b="0" dirty="0" err="1">
                <a:solidFill>
                  <a:srgbClr val="22303B"/>
                </a:solidFill>
                <a:latin typeface="Times New Roman"/>
                <a:ea typeface="Times New Roman"/>
                <a:cs typeface="B Lotus"/>
              </a:rPr>
              <a:t>آماره</a:t>
            </a:r>
            <a:r>
              <a:rPr lang="fa-IR" sz="2000" b="0" dirty="0">
                <a:solidFill>
                  <a:srgbClr val="22303B"/>
                </a:solidFill>
                <a:latin typeface="Times New Roman"/>
                <a:ea typeface="Times New Roman"/>
                <a:cs typeface="B Lotus"/>
              </a:rPr>
              <a:t> ‎F‎ در هر دو گام معنادار است (‪‎p &lt;‎ ۰.۰۰۱) یعنی مدل </a:t>
            </a:r>
            <a:r>
              <a:rPr lang="fa-IR" sz="2000" b="0" dirty="0" err="1">
                <a:solidFill>
                  <a:srgbClr val="22303B"/>
                </a:solidFill>
                <a:latin typeface="Times New Roman"/>
                <a:ea typeface="Times New Roman"/>
                <a:cs typeface="B Lotus"/>
              </a:rPr>
              <a:t>رگرسیون</a:t>
            </a:r>
            <a:r>
              <a:rPr lang="fa-IR" sz="2000" b="0" dirty="0">
                <a:solidFill>
                  <a:srgbClr val="22303B"/>
                </a:solidFill>
                <a:latin typeface="Times New Roman"/>
                <a:ea typeface="Times New Roman"/>
                <a:cs typeface="B Lotus"/>
              </a:rPr>
              <a:t> معنادار است.</a:t>
            </a:r>
          </a:p>
        </p:txBody>
      </p:sp>
    </p:spTree>
  </p:cSld>
  <p:clrMapOvr>
    <a:masterClrMapping/>
  </p:clrMapOvr>
  <p:transition spd="med" advTm="53460">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آزمون فرضیه پژوهش</a:t>
            </a:r>
          </a:p>
        </p:txBody>
      </p:sp>
      <p:sp>
        <p:nvSpPr>
          <p:cNvPr id="5" name="Rounded Rectangle 4"/>
          <p:cNvSpPr/>
          <p:nvPr/>
        </p:nvSpPr>
        <p:spPr>
          <a:xfrm>
            <a:off x="548640" y="502920"/>
            <a:ext cx="1431036" cy="365760"/>
          </a:xfrm>
          <a:prstGeom prst="roundRect">
            <a:avLst>
              <a:gd name="adj" fmla="val 50000"/>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نتایج و بحث</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۱۵</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نتایج و بحث</a:t>
            </a:r>
          </a:p>
        </p:txBody>
      </p:sp>
      <p:sp>
        <p:nvSpPr>
          <p:cNvPr id="9" name="TextBox 8"/>
          <p:cNvSpPr txBox="1"/>
          <p:nvPr/>
        </p:nvSpPr>
        <p:spPr>
          <a:xfrm>
            <a:off x="548640" y="1325880"/>
            <a:ext cx="11094415" cy="411480"/>
          </a:xfrm>
          <a:prstGeom prst="rect">
            <a:avLst/>
          </a:prstGeom>
          <a:noFill/>
        </p:spPr>
        <p:txBody>
          <a:bodyPr wrap="square" lIns="36576" tIns="18288" rIns="36576" bIns="18288" anchor="t"/>
          <a:lstStyle/>
          <a:p>
            <a:pPr algn="ctr" rtl="1">
              <a:defRPr lang="fa-IR" sz="1700" b="1">
                <a:solidFill>
                  <a:srgbClr val="B4822F"/>
                </a:solidFill>
                <a:cs typeface="B Lotus"/>
              </a:defRPr>
            </a:pPr>
            <a:r>
              <a:rPr lang="fa-IR" dirty="0">
                <a:latin typeface="Times New Roman"/>
                <a:cs typeface="B Lotus"/>
              </a:rPr>
              <a:t>ضرایب </a:t>
            </a:r>
            <a:r>
              <a:rPr lang="fa-IR" dirty="0" err="1">
                <a:latin typeface="Times New Roman"/>
                <a:cs typeface="B Lotus"/>
              </a:rPr>
              <a:t>رگرسیون</a:t>
            </a:r>
            <a:r>
              <a:rPr lang="fa-IR" dirty="0">
                <a:latin typeface="Times New Roman"/>
                <a:cs typeface="B Lotus"/>
              </a:rPr>
              <a:t> </a:t>
            </a:r>
            <a:r>
              <a:rPr lang="fa-IR" dirty="0" err="1">
                <a:latin typeface="Times New Roman"/>
                <a:cs typeface="B Lotus"/>
              </a:rPr>
              <a:t>گام‌به‌گام</a:t>
            </a:r>
            <a:r>
              <a:rPr lang="fa-IR" dirty="0">
                <a:latin typeface="Times New Roman"/>
                <a:cs typeface="B Lotus"/>
              </a:rPr>
              <a:t> اضطراب مرگ بر روی متغیرهای پیش بین</a:t>
            </a:r>
          </a:p>
        </p:txBody>
      </p:sp>
      <p:graphicFrame>
        <p:nvGraphicFramePr>
          <p:cNvPr id="10" name="Table 9"/>
          <p:cNvGraphicFramePr>
            <a:graphicFrameLocks noGrp="1"/>
          </p:cNvGraphicFramePr>
          <p:nvPr/>
        </p:nvGraphicFramePr>
        <p:xfrm>
          <a:off x="914400" y="1783080"/>
          <a:ext cx="10362892" cy="1655064"/>
        </p:xfrm>
        <a:graphic>
          <a:graphicData uri="http://schemas.openxmlformats.org/drawingml/2006/table">
            <a:tbl>
              <a:tblPr firstRow="1">
                <a:tableStyleId>{5C22544A-7EE6-4342-B048-85BDC9FD1C3A}</a:tableStyleId>
              </a:tblPr>
              <a:tblGrid>
                <a:gridCol w="1498249"/>
                <a:gridCol w="1373395"/>
                <a:gridCol w="1747958"/>
                <a:gridCol w="1872812"/>
                <a:gridCol w="1872812"/>
                <a:gridCol w="1997666"/>
              </a:tblGrid>
              <a:tr h="502920">
                <a:tc>
                  <a:txBody>
                    <a:bodyPr/>
                    <a:lstStyle/>
                    <a:p>
                      <a:pPr algn="ctr" rtl="1">
                        <a:defRPr lang="fa-IR">
                          <a:cs typeface="B Lotus"/>
                        </a:defRPr>
                      </a:pPr>
                      <a:r>
                        <a:rPr lang="fa-IR" sz="1300" b="1" dirty="0">
                          <a:solidFill>
                            <a:srgbClr val="102C47"/>
                          </a:solidFill>
                          <a:latin typeface="Times New Roman"/>
                          <a:cs typeface="B Lotus"/>
                        </a:rPr>
                        <a:t>معناداری ‎(p)‎</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آماره ‎t‎</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ضریب استاندارد ‎(β)‎</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خطای استاندارد ‎(SE)‎</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ضریب غیراستاندارد ‎(B)‎</a:t>
                      </a:r>
                    </a:p>
                  </a:txBody>
                  <a:tcPr marL="45720" marR="45720" marT="18288" marB="18288" anchor="ctr">
                    <a:solidFill>
                      <a:srgbClr val="ECF1F5"/>
                    </a:solidFill>
                  </a:tcPr>
                </a:tc>
                <a:tc>
                  <a:txBody>
                    <a:bodyPr/>
                    <a:lstStyle/>
                    <a:p>
                      <a:pPr algn="ctr" rtl="1">
                        <a:defRPr lang="fa-IR">
                          <a:cs typeface="B Lotus"/>
                        </a:defRPr>
                      </a:pPr>
                      <a:r>
                        <a:rPr lang="fa-IR" sz="1300" b="1">
                          <a:solidFill>
                            <a:srgbClr val="102C47"/>
                          </a:solidFill>
                          <a:latin typeface="Times New Roman"/>
                          <a:cs typeface="B Lotus"/>
                        </a:rPr>
                        <a:t>متغیرها شاخص ها</a:t>
                      </a:r>
                    </a:p>
                  </a:txBody>
                  <a:tcPr marL="45720" marR="45720" marT="18288" marB="18288" anchor="ctr">
                    <a:solidFill>
                      <a:srgbClr val="ECF1F5"/>
                    </a:solidFill>
                  </a:tcPr>
                </a:tc>
              </a:tr>
              <a:tr h="384048">
                <a:tc>
                  <a:txBody>
                    <a:bodyPr/>
                    <a:lstStyle/>
                    <a:p>
                      <a:pPr algn="ctr" rtl="1">
                        <a:defRPr lang="fa-IR">
                          <a:cs typeface="B Lotus"/>
                        </a:defRPr>
                      </a:pPr>
                      <a:r>
                        <a:rPr lang="fa-IR" sz="1300" b="0">
                          <a:solidFill>
                            <a:srgbClr val="22303B"/>
                          </a:solidFill>
                          <a:latin typeface="Times New Roman"/>
                          <a:cs typeface="B Lotus"/>
                        </a:rPr>
                        <a:t>۰.۰۰۱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۷.۴۴</a:t>
                      </a:r>
                    </a:p>
                  </a:txBody>
                  <a:tcPr marL="45720" marR="45720" marT="18288" marB="18288" anchor="ctr">
                    <a:solidFill>
                      <a:srgbClr val="FFFFFF"/>
                    </a:solidFill>
                  </a:tcPr>
                </a:tc>
                <a:tc>
                  <a:txBody>
                    <a:bodyPr/>
                    <a:lstStyle/>
                    <a:p>
                      <a:pPr algn="ctr" rtl="1">
                        <a:defRPr lang="en-US">
                          <a:cs typeface="B Lotus"/>
                        </a:defRPr>
                      </a:pPr>
                      <a:r>
                        <a:rPr lang="en-US" sz="1300" b="0">
                          <a:solidFill>
                            <a:srgbClr val="22303B"/>
                          </a:solidFill>
                          <a:latin typeface="Times New Roman"/>
                          <a:cs typeface="B Lotus"/>
                        </a:rPr>
                        <a:t>—</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۱.۲۹</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۹.۶۱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ثابت</a:t>
                      </a:r>
                    </a:p>
                  </a:txBody>
                  <a:tcPr marL="45720" marR="45720" marT="18288" marB="18288" anchor="ctr">
                    <a:solidFill>
                      <a:srgbClr val="FFFFFF"/>
                    </a:solidFill>
                  </a:tcPr>
                </a:tc>
              </a:tr>
              <a:tr h="384048">
                <a:tc>
                  <a:txBody>
                    <a:bodyPr/>
                    <a:lstStyle/>
                    <a:p>
                      <a:pPr algn="ctr" rtl="1">
                        <a:defRPr lang="fa-IR">
                          <a:cs typeface="B Lotus"/>
                        </a:defRPr>
                      </a:pPr>
                      <a:r>
                        <a:rPr lang="fa-IR" sz="1300" b="0">
                          <a:solidFill>
                            <a:srgbClr val="22303B"/>
                          </a:solidFill>
                          <a:latin typeface="Times New Roman"/>
                          <a:cs typeface="B Lotus"/>
                        </a:rPr>
                        <a:t>۰.۰۰۱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۵.۳۹-</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۰.۴۹-</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۰.۰۲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۰.۱۲-</a:t>
                      </a:r>
                    </a:p>
                  </a:txBody>
                  <a:tcPr marL="45720" marR="45720" marT="18288" marB="18288" anchor="ctr">
                    <a:solidFill>
                      <a:srgbClr val="FFFFFF"/>
                    </a:solidFill>
                  </a:tcPr>
                </a:tc>
                <a:tc>
                  <a:txBody>
                    <a:bodyPr/>
                    <a:lstStyle/>
                    <a:p>
                      <a:pPr algn="ctr" rtl="1">
                        <a:defRPr lang="fa-IR">
                          <a:cs typeface="B Lotus"/>
                        </a:defRPr>
                      </a:pPr>
                      <a:r>
                        <a:rPr lang="fa-IR" sz="1300" b="0" dirty="0">
                          <a:solidFill>
                            <a:srgbClr val="22303B"/>
                          </a:solidFill>
                          <a:latin typeface="Times New Roman"/>
                          <a:cs typeface="B Lotus"/>
                        </a:rPr>
                        <a:t>هوش معنوی</a:t>
                      </a:r>
                    </a:p>
                  </a:txBody>
                  <a:tcPr marL="45720" marR="45720" marT="18288" marB="18288" anchor="ctr">
                    <a:solidFill>
                      <a:srgbClr val="FFFFFF"/>
                    </a:solidFill>
                  </a:tcPr>
                </a:tc>
              </a:tr>
              <a:tr h="384048">
                <a:tc>
                  <a:txBody>
                    <a:bodyPr/>
                    <a:lstStyle/>
                    <a:p>
                      <a:pPr algn="ctr" rtl="1">
                        <a:defRPr lang="fa-IR">
                          <a:cs typeface="B Lotus"/>
                        </a:defRPr>
                      </a:pPr>
                      <a:r>
                        <a:rPr lang="fa-IR" sz="1300" b="0">
                          <a:solidFill>
                            <a:srgbClr val="22303B"/>
                          </a:solidFill>
                          <a:latin typeface="Times New Roman"/>
                          <a:cs typeface="B Lotus"/>
                        </a:rPr>
                        <a:t>۰.۰۰۱</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۳.۵۴</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۰.۳۲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۰.۰۳</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۰.۱۲</a:t>
                      </a:r>
                    </a:p>
                  </a:txBody>
                  <a:tcPr marL="45720" marR="45720" marT="18288" marB="18288" anchor="ctr">
                    <a:solidFill>
                      <a:srgbClr val="FFFFFF"/>
                    </a:solidFill>
                  </a:tcPr>
                </a:tc>
                <a:tc>
                  <a:txBody>
                    <a:bodyPr/>
                    <a:lstStyle/>
                    <a:p>
                      <a:pPr algn="ctr" rtl="1">
                        <a:defRPr lang="fa-IR">
                          <a:cs typeface="B Lotus"/>
                        </a:defRPr>
                      </a:pPr>
                      <a:r>
                        <a:rPr lang="fa-IR" sz="1300" b="0">
                          <a:solidFill>
                            <a:srgbClr val="22303B"/>
                          </a:solidFill>
                          <a:latin typeface="Times New Roman"/>
                          <a:cs typeface="B Lotus"/>
                        </a:rPr>
                        <a:t>اضطراب سلامتی</a:t>
                      </a:r>
                    </a:p>
                  </a:txBody>
                  <a:tcPr marL="45720" marR="45720" marT="18288" marB="18288" anchor="ctr">
                    <a:solidFill>
                      <a:srgbClr val="FFFFFF"/>
                    </a:solidFill>
                  </a:tcPr>
                </a:tc>
              </a:tr>
            </a:tbl>
          </a:graphicData>
        </a:graphic>
      </p:graphicFrame>
      <p:sp>
        <p:nvSpPr>
          <p:cNvPr id="11" name="Rounded Rectangle 10"/>
          <p:cNvSpPr/>
          <p:nvPr/>
        </p:nvSpPr>
        <p:spPr>
          <a:xfrm>
            <a:off x="548640" y="3712464"/>
            <a:ext cx="11094415" cy="2551176"/>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005840" y="3941064"/>
            <a:ext cx="10180015" cy="2093976"/>
          </a:xfrm>
          <a:prstGeom prst="rect">
            <a:avLst/>
          </a:prstGeom>
          <a:noFill/>
        </p:spPr>
        <p:txBody>
          <a:bodyPr wrap="square" lIns="36576" tIns="18288" rIns="36576" bIns="18288" anchor="t"/>
          <a:lstStyle/>
          <a:p>
            <a:pPr indent="457200" algn="just" rtl="1">
              <a:lnSpc>
                <a:spcPct val="120000"/>
              </a:lnSpc>
              <a:spcAft>
                <a:spcPts val="0"/>
              </a:spcAft>
              <a:defRPr lang="fa-IR">
                <a:cs typeface="B Lotus"/>
              </a:defRPr>
            </a:pPr>
            <a:r>
              <a:rPr lang="fa-IR" sz="2000" b="0" dirty="0">
                <a:solidFill>
                  <a:srgbClr val="22303B"/>
                </a:solidFill>
                <a:latin typeface="Times New Roman"/>
                <a:ea typeface="Times New Roman"/>
                <a:cs typeface="B Lotus"/>
              </a:rPr>
              <a:t>ضرایب </a:t>
            </a:r>
            <a:r>
              <a:rPr lang="fa-IR" sz="2000" b="0" dirty="0" err="1">
                <a:solidFill>
                  <a:srgbClr val="22303B"/>
                </a:solidFill>
                <a:latin typeface="Times New Roman"/>
                <a:ea typeface="Times New Roman"/>
                <a:cs typeface="B Lotus"/>
              </a:rPr>
              <a:t>رگرسیون</a:t>
            </a:r>
            <a:r>
              <a:rPr lang="fa-IR" sz="2000" b="0" dirty="0">
                <a:solidFill>
                  <a:srgbClr val="22303B"/>
                </a:solidFill>
                <a:latin typeface="Times New Roman"/>
                <a:ea typeface="Times New Roman"/>
                <a:cs typeface="B Lotus"/>
              </a:rPr>
              <a:t> را نشان </a:t>
            </a:r>
            <a:r>
              <a:rPr lang="fa-IR" sz="2000" b="0" dirty="0" err="1">
                <a:solidFill>
                  <a:srgbClr val="22303B"/>
                </a:solidFill>
                <a:latin typeface="Times New Roman"/>
                <a:ea typeface="Times New Roman"/>
                <a:cs typeface="B Lotus"/>
              </a:rPr>
              <a:t>می‌دهد</a:t>
            </a:r>
            <a:r>
              <a:rPr lang="fa-IR" sz="2000" b="0" dirty="0">
                <a:solidFill>
                  <a:srgbClr val="22303B"/>
                </a:solidFill>
                <a:latin typeface="Times New Roman"/>
                <a:ea typeface="Times New Roman"/>
                <a:cs typeface="B Lotus"/>
              </a:rPr>
              <a:t>. ضریب ‎B‎ غیراستاندارد نشان </a:t>
            </a:r>
            <a:r>
              <a:rPr lang="fa-IR" sz="2000" b="0" dirty="0" err="1">
                <a:solidFill>
                  <a:srgbClr val="22303B"/>
                </a:solidFill>
                <a:latin typeface="Times New Roman"/>
                <a:ea typeface="Times New Roman"/>
                <a:cs typeface="B Lotus"/>
              </a:rPr>
              <a:t>می‌دهد</a:t>
            </a:r>
            <a:r>
              <a:rPr lang="fa-IR" sz="2000" b="0" dirty="0">
                <a:solidFill>
                  <a:srgbClr val="22303B"/>
                </a:solidFill>
                <a:latin typeface="Times New Roman"/>
                <a:ea typeface="Times New Roman"/>
                <a:cs typeface="B Lotus"/>
              </a:rPr>
              <a:t> به </a:t>
            </a:r>
            <a:r>
              <a:rPr lang="fa-IR" sz="2000" b="0" dirty="0" err="1">
                <a:solidFill>
                  <a:srgbClr val="22303B"/>
                </a:solidFill>
                <a:latin typeface="Times New Roman"/>
                <a:ea typeface="Times New Roman"/>
                <a:cs typeface="B Lotus"/>
              </a:rPr>
              <a:t>ازای</a:t>
            </a:r>
            <a:r>
              <a:rPr lang="fa-IR" sz="2000" b="0" dirty="0">
                <a:solidFill>
                  <a:srgbClr val="22303B"/>
                </a:solidFill>
                <a:latin typeface="Times New Roman"/>
                <a:ea typeface="Times New Roman"/>
                <a:cs typeface="B Lotus"/>
              </a:rPr>
              <a:t> یک واحد افزایش در </a:t>
            </a:r>
            <a:r>
              <a:rPr lang="fa-IR" sz="2000" b="0" dirty="0" err="1">
                <a:solidFill>
                  <a:srgbClr val="22303B"/>
                </a:solidFill>
                <a:latin typeface="Times New Roman"/>
                <a:ea typeface="Times New Roman"/>
                <a:cs typeface="B Lotus"/>
              </a:rPr>
              <a:t>پیش‌بین</a:t>
            </a:r>
            <a:r>
              <a:rPr lang="fa-IR" sz="2000" b="0" dirty="0">
                <a:solidFill>
                  <a:srgbClr val="22303B"/>
                </a:solidFill>
                <a:latin typeface="Times New Roman"/>
                <a:ea typeface="Times New Roman"/>
                <a:cs typeface="B Lotus"/>
              </a:rPr>
              <a:t>، اضطراب مرگ چقدر تغییر </a:t>
            </a:r>
            <a:r>
              <a:rPr lang="fa-IR" sz="2000" b="0" dirty="0" err="1">
                <a:solidFill>
                  <a:srgbClr val="22303B"/>
                </a:solidFill>
                <a:latin typeface="Times New Roman"/>
                <a:ea typeface="Times New Roman"/>
                <a:cs typeface="B Lotus"/>
              </a:rPr>
              <a:t>می‌کند</a:t>
            </a:r>
            <a:r>
              <a:rPr lang="fa-IR" sz="2000" b="0" dirty="0">
                <a:solidFill>
                  <a:srgbClr val="22303B"/>
                </a:solidFill>
                <a:latin typeface="Times New Roman"/>
                <a:ea typeface="Times New Roman"/>
                <a:cs typeface="B Lotus"/>
              </a:rPr>
              <a:t>. ضریب ‎β‎ استاندارد شده امکان مقایسه قدرت </a:t>
            </a:r>
            <a:r>
              <a:rPr lang="fa-IR" sz="2000" b="0" dirty="0" err="1">
                <a:solidFill>
                  <a:srgbClr val="22303B"/>
                </a:solidFill>
                <a:latin typeface="Times New Roman"/>
                <a:ea typeface="Times New Roman"/>
                <a:cs typeface="B Lotus"/>
              </a:rPr>
              <a:t>پیش‌بینی</a:t>
            </a:r>
            <a:r>
              <a:rPr lang="fa-IR" sz="2000" b="0" dirty="0">
                <a:solidFill>
                  <a:srgbClr val="22303B"/>
                </a:solidFill>
                <a:latin typeface="Times New Roman"/>
                <a:ea typeface="Times New Roman"/>
                <a:cs typeface="B Lotus"/>
              </a:rPr>
              <a:t> را </a:t>
            </a:r>
            <a:r>
              <a:rPr lang="fa-IR" sz="2000" b="0" dirty="0" err="1">
                <a:solidFill>
                  <a:srgbClr val="22303B"/>
                </a:solidFill>
                <a:latin typeface="Times New Roman"/>
                <a:ea typeface="Times New Roman"/>
                <a:cs typeface="B Lotus"/>
              </a:rPr>
              <a:t>می‌دهد</a:t>
            </a:r>
            <a:r>
              <a:rPr lang="fa-IR" sz="2000" b="0" dirty="0">
                <a:solidFill>
                  <a:srgbClr val="22303B"/>
                </a:solidFill>
                <a:latin typeface="Times New Roman"/>
                <a:ea typeface="Times New Roman"/>
                <a:cs typeface="B Lotus"/>
              </a:rPr>
              <a:t>. هوش معنوی اثر منفی و معنادار دارد (‪‎β =‎ ۰.۴۹-، ‪‎t =‎ ۵.۳۹-، ‪‎p &lt;‎ ۰.۰۰۱): با افزایش یک انحراف معیار هوش معنوی، اضطراب مرگ حدود نیم انحراف معیار کاهش </a:t>
            </a:r>
            <a:r>
              <a:rPr lang="fa-IR" sz="2000" b="0" dirty="0" err="1">
                <a:solidFill>
                  <a:srgbClr val="22303B"/>
                </a:solidFill>
                <a:latin typeface="Times New Roman"/>
                <a:ea typeface="Times New Roman"/>
                <a:cs typeface="B Lotus"/>
              </a:rPr>
              <a:t>می‌یابد</a:t>
            </a:r>
            <a:r>
              <a:rPr lang="fa-IR" sz="2000" b="0" dirty="0">
                <a:solidFill>
                  <a:srgbClr val="22303B"/>
                </a:solidFill>
                <a:latin typeface="Times New Roman"/>
                <a:ea typeface="Times New Roman"/>
                <a:cs typeface="B Lotus"/>
              </a:rPr>
              <a:t>. اضطراب سلامتی اثر مثبت و معنادار دارد (‪‎β =‎ ۰.۳۲، ‪‎t =‎ ۳.۵۴، ‪‎p &lt;‎ ۰.۰۰۱): افزایش اضطراب سلامتی با افزایش اضطراب مرگ همراه است. بنابراین فرضیه اصلی تأیید </a:t>
            </a:r>
            <a:r>
              <a:rPr lang="fa-IR" sz="2000" b="0" dirty="0" err="1">
                <a:solidFill>
                  <a:srgbClr val="22303B"/>
                </a:solidFill>
                <a:latin typeface="Times New Roman"/>
                <a:ea typeface="Times New Roman"/>
                <a:cs typeface="B Lotus"/>
              </a:rPr>
              <a:t>می‌شود</a:t>
            </a:r>
            <a:r>
              <a:rPr lang="fa-IR" sz="2000" b="0" dirty="0">
                <a:solidFill>
                  <a:srgbClr val="22303B"/>
                </a:solidFill>
                <a:latin typeface="Times New Roman"/>
                <a:ea typeface="Times New Roman"/>
                <a:cs typeface="B Lotus"/>
              </a:rPr>
              <a:t>.</a:t>
            </a:r>
          </a:p>
        </p:txBody>
      </p:sp>
    </p:spTree>
  </p:cSld>
  <p:clrMapOvr>
    <a:masterClrMapping/>
  </p:clrMapOvr>
  <p:transition spd="med" advTm="57320">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C4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548640" y="1737360"/>
            <a:ext cx="4754880" cy="3291840"/>
          </a:xfrm>
          <a:prstGeom prst="rect">
            <a:avLst/>
          </a:prstGeom>
          <a:noFill/>
        </p:spPr>
        <p:txBody>
          <a:bodyPr wrap="square" lIns="36576" tIns="18288" rIns="36576" bIns="18288" anchor="ctr"/>
          <a:lstStyle/>
          <a:p>
            <a:pPr algn="l" rtl="1">
              <a:defRPr lang="fa-IR" sz="19000" b="1">
                <a:solidFill>
                  <a:srgbClr val="274A6B"/>
                </a:solidFill>
                <a:latin typeface="Times New Roman"/>
                <a:ea typeface="Times New Roman"/>
                <a:cs typeface="B Titr"/>
              </a:defRPr>
            </a:pPr>
            <a:r>
              <a:rPr lang="fa-IR">
                <a:latin typeface="Times New Roman"/>
                <a:cs typeface="B Titr"/>
              </a:rPr>
              <a:t>۵</a:t>
            </a:r>
          </a:p>
        </p:txBody>
      </p:sp>
      <p:sp>
        <p:nvSpPr>
          <p:cNvPr id="4" name="Rectangle 3"/>
          <p:cNvSpPr/>
          <p:nvPr/>
        </p:nvSpPr>
        <p:spPr>
          <a:xfrm>
            <a:off x="7711135" y="2487168"/>
            <a:ext cx="3383280" cy="45720"/>
          </a:xfrm>
          <a:prstGeom prst="rect">
            <a:avLst/>
          </a:prstGeom>
          <a:solidFill>
            <a:srgbClr val="B4822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2697480"/>
            <a:ext cx="11094415" cy="1143000"/>
          </a:xfrm>
          <a:prstGeom prst="rect">
            <a:avLst/>
          </a:prstGeom>
          <a:noFill/>
        </p:spPr>
        <p:txBody>
          <a:bodyPr wrap="square" lIns="36576" tIns="18288" rIns="36576" bIns="18288" anchor="ctr"/>
          <a:lstStyle/>
          <a:p>
            <a:pPr algn="r" rtl="1">
              <a:defRPr lang="fa-IR" sz="4600" b="1">
                <a:solidFill>
                  <a:srgbClr val="FFFFFF"/>
                </a:solidFill>
                <a:latin typeface="Times New Roman"/>
                <a:ea typeface="Times New Roman"/>
                <a:cs typeface="B Titr"/>
              </a:defRPr>
            </a:pPr>
            <a:r>
              <a:rPr lang="fa-IR">
                <a:latin typeface="Times New Roman"/>
                <a:cs typeface="B Titr"/>
              </a:rPr>
              <a:t>نتیجه گیری و پیشنهادات</a:t>
            </a:r>
          </a:p>
        </p:txBody>
      </p:sp>
      <p:sp>
        <p:nvSpPr>
          <p:cNvPr id="6" name="Rectangle 5"/>
          <p:cNvSpPr/>
          <p:nvPr/>
        </p:nvSpPr>
        <p:spPr>
          <a:xfrm>
            <a:off x="9533900"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533900"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مقدمه و کلیات</a:t>
            </a:r>
          </a:p>
        </p:txBody>
      </p:sp>
      <p:sp>
        <p:nvSpPr>
          <p:cNvPr id="8" name="Rectangle 7"/>
          <p:cNvSpPr/>
          <p:nvPr/>
        </p:nvSpPr>
        <p:spPr>
          <a:xfrm>
            <a:off x="7315017"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017"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مبانی و پیشینه</a:t>
            </a:r>
          </a:p>
        </p:txBody>
      </p:sp>
      <p:sp>
        <p:nvSpPr>
          <p:cNvPr id="10" name="Rectangle 9"/>
          <p:cNvSpPr/>
          <p:nvPr/>
        </p:nvSpPr>
        <p:spPr>
          <a:xfrm>
            <a:off x="5096134"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5096134"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روش شناسی</a:t>
            </a:r>
          </a:p>
        </p:txBody>
      </p:sp>
      <p:sp>
        <p:nvSpPr>
          <p:cNvPr id="12" name="Rectangle 11"/>
          <p:cNvSpPr/>
          <p:nvPr/>
        </p:nvSpPr>
        <p:spPr>
          <a:xfrm>
            <a:off x="2877251" y="5504688"/>
            <a:ext cx="1999427" cy="32004"/>
          </a:xfrm>
          <a:prstGeom prst="rect">
            <a:avLst/>
          </a:prstGeom>
          <a:solidFill>
            <a:srgbClr val="274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2877251" y="5632704"/>
            <a:ext cx="1999427" cy="457200"/>
          </a:xfrm>
          <a:prstGeom prst="rect">
            <a:avLst/>
          </a:prstGeom>
          <a:noFill/>
        </p:spPr>
        <p:txBody>
          <a:bodyPr wrap="square" lIns="36576" tIns="18288" rIns="36576" bIns="18288" anchor="t"/>
          <a:lstStyle/>
          <a:p>
            <a:pPr algn="ctr" rtl="1">
              <a:defRPr lang="fa-IR" sz="1250" b="0">
                <a:solidFill>
                  <a:srgbClr val="9FB2C2"/>
                </a:solidFill>
                <a:latin typeface="Times New Roman"/>
                <a:ea typeface="Times New Roman"/>
                <a:cs typeface="B Lotus"/>
              </a:defRPr>
            </a:pPr>
            <a:r>
              <a:rPr lang="fa-IR">
                <a:latin typeface="Times New Roman"/>
                <a:cs typeface="B Lotus"/>
              </a:rPr>
              <a:t>نتایج و بحث</a:t>
            </a:r>
          </a:p>
        </p:txBody>
      </p:sp>
      <p:sp>
        <p:nvSpPr>
          <p:cNvPr id="14" name="Rectangle 13"/>
          <p:cNvSpPr/>
          <p:nvPr/>
        </p:nvSpPr>
        <p:spPr>
          <a:xfrm>
            <a:off x="658368" y="5504688"/>
            <a:ext cx="1999427" cy="32004"/>
          </a:xfrm>
          <a:prstGeom prst="rect">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58368" y="5632704"/>
            <a:ext cx="1999427" cy="457200"/>
          </a:xfrm>
          <a:prstGeom prst="rect">
            <a:avLst/>
          </a:prstGeom>
          <a:noFill/>
        </p:spPr>
        <p:txBody>
          <a:bodyPr wrap="square" lIns="36576" tIns="18288" rIns="36576" bIns="18288" anchor="t"/>
          <a:lstStyle/>
          <a:p>
            <a:pPr algn="ctr" rtl="1">
              <a:defRPr lang="fa-IR" sz="1250" b="1">
                <a:solidFill>
                  <a:srgbClr val="FFFFFF"/>
                </a:solidFill>
                <a:latin typeface="Times New Roman"/>
                <a:ea typeface="Times New Roman"/>
                <a:cs typeface="B Titr"/>
              </a:defRPr>
            </a:pPr>
            <a:r>
              <a:rPr lang="fa-IR">
                <a:latin typeface="Times New Roman"/>
                <a:cs typeface="B Lotus"/>
              </a:rPr>
              <a:t>نتیجه گیری و پیشنهادات</a:t>
            </a:r>
          </a:p>
        </p:txBody>
      </p:sp>
    </p:spTree>
  </p:cSld>
  <p:clrMapOvr>
    <a:masterClrMapping/>
  </p:clrMapOvr>
  <p:transition spd="slow" advTm="650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پیشنهادات کاربردی</a:t>
            </a:r>
          </a:p>
        </p:txBody>
      </p:sp>
      <p:sp>
        <p:nvSpPr>
          <p:cNvPr id="5" name="Rounded Rectangle 4"/>
          <p:cNvSpPr/>
          <p:nvPr/>
        </p:nvSpPr>
        <p:spPr>
          <a:xfrm>
            <a:off x="548640" y="502920"/>
            <a:ext cx="2587752" cy="365760"/>
          </a:xfrm>
          <a:prstGeom prst="roundRect">
            <a:avLst>
              <a:gd name="adj" fmla="val 50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نتیجه گیری و پیشنهادات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۱۸</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نتیجه گیری و پیشنهادات</a:t>
            </a:r>
          </a:p>
        </p:txBody>
      </p:sp>
      <p:sp>
        <p:nvSpPr>
          <p:cNvPr id="9" name="Rounded Rectangle 8"/>
          <p:cNvSpPr/>
          <p:nvPr/>
        </p:nvSpPr>
        <p:spPr>
          <a:xfrm>
            <a:off x="548640" y="1325880"/>
            <a:ext cx="11094415" cy="19659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10774375" y="1618488"/>
            <a:ext cx="502920" cy="502920"/>
          </a:xfrm>
          <a:prstGeom prst="roundRect">
            <a:avLst>
              <a:gd name="adj" fmla="val 18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600" b="1">
                <a:solidFill>
                  <a:srgbClr val="FFFFFF"/>
                </a:solidFill>
                <a:latin typeface="Times New Roman"/>
                <a:ea typeface="Times New Roman"/>
                <a:cs typeface="B Titr"/>
              </a:defRPr>
            </a:pPr>
            <a:r>
              <a:rPr lang="fa-IR">
                <a:latin typeface="Times New Roman"/>
                <a:cs typeface="B Lotus"/>
              </a:rPr>
              <a:t>۱</a:t>
            </a:r>
          </a:p>
        </p:txBody>
      </p:sp>
      <p:sp>
        <p:nvSpPr>
          <p:cNvPr id="11" name="TextBox 10"/>
          <p:cNvSpPr txBox="1"/>
          <p:nvPr/>
        </p:nvSpPr>
        <p:spPr>
          <a:xfrm>
            <a:off x="1005840" y="1600200"/>
            <a:ext cx="9494215" cy="1417320"/>
          </a:xfrm>
          <a:prstGeom prst="rect">
            <a:avLst/>
          </a:prstGeom>
          <a:noFill/>
        </p:spPr>
        <p:txBody>
          <a:bodyPr wrap="square" lIns="36576" tIns="18288" rIns="36576" bIns="18288" anchor="t"/>
          <a:lstStyle/>
          <a:p>
            <a:pPr algn="r" rtl="1">
              <a:lnSpc>
                <a:spcPct val="120000"/>
              </a:lnSpc>
              <a:spcAft>
                <a:spcPts val="0"/>
              </a:spcAft>
              <a:defRPr lang="fa-IR">
                <a:cs typeface="B Lotus"/>
              </a:defRPr>
            </a:pPr>
            <a:r>
              <a:rPr lang="fa-IR" sz="1600" b="0">
                <a:solidFill>
                  <a:srgbClr val="22303B"/>
                </a:solidFill>
                <a:latin typeface="Times New Roman"/>
                <a:ea typeface="Times New Roman"/>
                <a:cs typeface="B Lotus"/>
              </a:rPr>
              <a:t>بر اساس فرضیه اصلی (رابطه هوش معنوی و اضطراب سلامتی با اضطراب مرگ): به سیاست‌گذاران و برنامه‌ریزان حوزه سالمندی پیشنهاد می‌شود در طراحی برنامه‌های ارتقای سلامت روان سالمندانِ مراکز نگهداری، رویکردی یکپارچه اتخاذ کنند که هم‌زمان هم تقویت منابع معنوی–معنایی و هم کاهش نگرانی‌های مرتبط با سلامت را در بر گیرد؛ این مداخلات ترکیبی می‌توانند اثربخشی بیشتری در کاهش اضطراب مرگ داشته باشند.</a:t>
            </a:r>
          </a:p>
        </p:txBody>
      </p:sp>
      <p:sp>
        <p:nvSpPr>
          <p:cNvPr id="12" name="Rounded Rectangle 11"/>
          <p:cNvSpPr/>
          <p:nvPr/>
        </p:nvSpPr>
        <p:spPr>
          <a:xfrm>
            <a:off x="548640" y="3493008"/>
            <a:ext cx="11094415" cy="233172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10774375" y="3785616"/>
            <a:ext cx="502920" cy="502920"/>
          </a:xfrm>
          <a:prstGeom prst="roundRect">
            <a:avLst>
              <a:gd name="adj" fmla="val 18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600" b="1">
                <a:solidFill>
                  <a:srgbClr val="FFFFFF"/>
                </a:solidFill>
                <a:latin typeface="Times New Roman"/>
                <a:ea typeface="Times New Roman"/>
                <a:cs typeface="B Titr"/>
              </a:defRPr>
            </a:pPr>
            <a:r>
              <a:rPr lang="fa-IR">
                <a:latin typeface="Times New Roman"/>
                <a:cs typeface="B Lotus"/>
              </a:rPr>
              <a:t>۲</a:t>
            </a:r>
          </a:p>
        </p:txBody>
      </p:sp>
      <p:sp>
        <p:nvSpPr>
          <p:cNvPr id="14" name="TextBox 13"/>
          <p:cNvSpPr txBox="1"/>
          <p:nvPr/>
        </p:nvSpPr>
        <p:spPr>
          <a:xfrm>
            <a:off x="1005840" y="3767328"/>
            <a:ext cx="9494215" cy="1783080"/>
          </a:xfrm>
          <a:prstGeom prst="rect">
            <a:avLst/>
          </a:prstGeom>
          <a:noFill/>
        </p:spPr>
        <p:txBody>
          <a:bodyPr wrap="square" lIns="36576" tIns="18288" rIns="36576" bIns="18288" anchor="t"/>
          <a:lstStyle/>
          <a:p>
            <a:pPr algn="r" rtl="1">
              <a:lnSpc>
                <a:spcPct val="120000"/>
              </a:lnSpc>
              <a:spcAft>
                <a:spcPts val="0"/>
              </a:spcAft>
              <a:defRPr lang="fa-IR">
                <a:cs typeface="B Lotus"/>
              </a:defRPr>
            </a:pPr>
            <a:r>
              <a:rPr lang="fa-IR" sz="1600" b="0">
                <a:solidFill>
                  <a:srgbClr val="22303B"/>
                </a:solidFill>
                <a:latin typeface="Times New Roman"/>
                <a:ea typeface="Times New Roman"/>
                <a:cs typeface="B Lotus"/>
              </a:rPr>
              <a:t>بر اساس فرضیه فرعی اول (رابطه منفی هوش معنوی با اضطراب مرگ): برگزاری کارگاه‌ها و برنامه‌های آموزشیِ تقویت هوش معنوی — به‌ویژه با تأکید بر مؤلفه‌های معناسازی و تأمل وجودی (چون «ایجاد معنای شخصی» و «تفکر وجودی انتقادی» در چارچوب نظری کینگ برجسته‌اند) —از طریق معنادرمانی، مرور زندگی، گفت‌وگوهای وجودی و حمایت‌های مذهبی–معنوی، در خانه‌های سالمندان توصیه می‌شود تا با افزایش معنا و انسجام درونی، اضطراب مرگ سالمندان کاهش یابد.</a:t>
            </a:r>
          </a:p>
        </p:txBody>
      </p:sp>
    </p:spTree>
  </p:cSld>
  <p:clrMapOvr>
    <a:masterClrMapping/>
  </p:clrMapOvr>
  <p:transition spd="med" advTm="53720">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پیشنهادات کاربردی (ادامه)</a:t>
            </a:r>
          </a:p>
        </p:txBody>
      </p:sp>
      <p:sp>
        <p:nvSpPr>
          <p:cNvPr id="5" name="Rounded Rectangle 4"/>
          <p:cNvSpPr/>
          <p:nvPr/>
        </p:nvSpPr>
        <p:spPr>
          <a:xfrm>
            <a:off x="548640" y="502920"/>
            <a:ext cx="2587752" cy="365760"/>
          </a:xfrm>
          <a:prstGeom prst="roundRect">
            <a:avLst>
              <a:gd name="adj" fmla="val 50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نتیجه گیری و پیشنهادات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۱۹</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نتیجه گیری و پیشنهادات</a:t>
            </a:r>
          </a:p>
        </p:txBody>
      </p:sp>
      <p:sp>
        <p:nvSpPr>
          <p:cNvPr id="9" name="Rounded Rectangle 8"/>
          <p:cNvSpPr/>
          <p:nvPr/>
        </p:nvSpPr>
        <p:spPr>
          <a:xfrm>
            <a:off x="548640" y="1325880"/>
            <a:ext cx="11094415" cy="19659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10774375" y="1618488"/>
            <a:ext cx="502920" cy="502920"/>
          </a:xfrm>
          <a:prstGeom prst="roundRect">
            <a:avLst>
              <a:gd name="adj" fmla="val 18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600" b="1">
                <a:solidFill>
                  <a:srgbClr val="FFFFFF"/>
                </a:solidFill>
                <a:latin typeface="Times New Roman"/>
                <a:ea typeface="Times New Roman"/>
                <a:cs typeface="B Titr"/>
              </a:defRPr>
            </a:pPr>
            <a:r>
              <a:rPr lang="fa-IR">
                <a:latin typeface="Times New Roman"/>
                <a:cs typeface="B Lotus"/>
              </a:rPr>
              <a:t>۳</a:t>
            </a:r>
          </a:p>
        </p:txBody>
      </p:sp>
      <p:sp>
        <p:nvSpPr>
          <p:cNvPr id="11" name="TextBox 10"/>
          <p:cNvSpPr txBox="1"/>
          <p:nvPr/>
        </p:nvSpPr>
        <p:spPr>
          <a:xfrm>
            <a:off x="1005840" y="1600200"/>
            <a:ext cx="9494215" cy="1417320"/>
          </a:xfrm>
          <a:prstGeom prst="rect">
            <a:avLst/>
          </a:prstGeom>
          <a:noFill/>
        </p:spPr>
        <p:txBody>
          <a:bodyPr wrap="square" lIns="36576" tIns="18288" rIns="36576" bIns="18288" anchor="t"/>
          <a:lstStyle/>
          <a:p>
            <a:pPr algn="r" rtl="1">
              <a:lnSpc>
                <a:spcPct val="120000"/>
              </a:lnSpc>
              <a:spcAft>
                <a:spcPts val="0"/>
              </a:spcAft>
              <a:defRPr lang="fa-IR">
                <a:cs typeface="B Lotus"/>
              </a:defRPr>
            </a:pPr>
            <a:r>
              <a:rPr lang="fa-IR" sz="1600" b="0">
                <a:solidFill>
                  <a:srgbClr val="22303B"/>
                </a:solidFill>
                <a:latin typeface="Times New Roman"/>
                <a:ea typeface="Times New Roman"/>
                <a:cs typeface="B Lotus"/>
              </a:rPr>
              <a:t>بر اساس فرضیه فرعی دوم (رابطه مثبت اضطراب سلامتی با اضطراب مرگ): به مسئولان و کادر درمانی–مراقبتی مراکز سالمندی پیشنهاد می‌شود سالمندان با نگرانی و حساسیت بالا نسبت به وضعیت جسمانی را به‌موقع شناسایی و غربالگری کنند و مداخلات شناختی–رفتاریِ مبتنی بر کاهش اضطراب سلامتی (اصلاح باورهای ناکارآمد درباره بیماری، آموزش مدیریت نشانه‌ها و ارائه اطلاعات دقیق و اطمینان‌بخش سلامت) را به‌کار گیرند، زیرا اضطراب سلامتی قوی‌ترین پیش‌بین اضطراب مرگ در این مطالعه بود.</a:t>
            </a:r>
          </a:p>
        </p:txBody>
      </p:sp>
      <p:sp>
        <p:nvSpPr>
          <p:cNvPr id="12" name="Rounded Rectangle 11"/>
          <p:cNvSpPr/>
          <p:nvPr/>
        </p:nvSpPr>
        <p:spPr>
          <a:xfrm>
            <a:off x="548640" y="3493008"/>
            <a:ext cx="11094415" cy="233172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10774375" y="3785616"/>
            <a:ext cx="502920" cy="502920"/>
          </a:xfrm>
          <a:prstGeom prst="roundRect">
            <a:avLst>
              <a:gd name="adj" fmla="val 18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600" b="1">
                <a:solidFill>
                  <a:srgbClr val="FFFFFF"/>
                </a:solidFill>
                <a:latin typeface="Times New Roman"/>
                <a:ea typeface="Times New Roman"/>
                <a:cs typeface="B Titr"/>
              </a:defRPr>
            </a:pPr>
            <a:r>
              <a:rPr lang="fa-IR">
                <a:latin typeface="Times New Roman"/>
                <a:cs typeface="B Lotus"/>
              </a:rPr>
              <a:t>۴</a:t>
            </a:r>
          </a:p>
        </p:txBody>
      </p:sp>
      <p:sp>
        <p:nvSpPr>
          <p:cNvPr id="14" name="TextBox 13"/>
          <p:cNvSpPr txBox="1"/>
          <p:nvPr/>
        </p:nvSpPr>
        <p:spPr>
          <a:xfrm>
            <a:off x="1005840" y="3767328"/>
            <a:ext cx="9494215" cy="1783080"/>
          </a:xfrm>
          <a:prstGeom prst="rect">
            <a:avLst/>
          </a:prstGeom>
          <a:noFill/>
        </p:spPr>
        <p:txBody>
          <a:bodyPr wrap="square" lIns="36576" tIns="18288" rIns="36576" bIns="18288" anchor="t"/>
          <a:lstStyle/>
          <a:p>
            <a:pPr algn="r" rtl="1">
              <a:lnSpc>
                <a:spcPct val="120000"/>
              </a:lnSpc>
              <a:spcAft>
                <a:spcPts val="0"/>
              </a:spcAft>
              <a:defRPr lang="fa-IR">
                <a:cs typeface="B Lotus"/>
              </a:defRPr>
            </a:pPr>
            <a:r>
              <a:rPr lang="fa-IR" sz="1600" b="0">
                <a:solidFill>
                  <a:srgbClr val="22303B"/>
                </a:solidFill>
                <a:latin typeface="Times New Roman"/>
                <a:ea typeface="Times New Roman"/>
                <a:cs typeface="B Lotus"/>
              </a:rPr>
              <a:t>بر اساس نتایج رگرسیون (نقش پیش‌بین متغیرها): از آنجا که اضطراب سلامتی و هوش معنوی در مجموع حدود ۳۵ درصد از واریانس اضطراب مرگ را تبیین کردند، توصیه می‌شود در تخصیص منابع و اولویت‌بندی خدمات روان‌شناختی مراکز سالمندی، سالمندانِ دارای اضطراب سلامتی بالا و هوش معنوی پایین به‌عنوان گروه در معرض خطر در اولویت قرار گیرند و برنامه‌های مداخله به‌صورت هدفمند و مبتنی بر این دو شاخص اجرا شود.</a:t>
            </a:r>
          </a:p>
        </p:txBody>
      </p:sp>
    </p:spTree>
  </p:cSld>
  <p:clrMapOvr>
    <a:masterClrMapping/>
  </p:clrMapOvr>
  <p:transition spd="med" advTm="57240">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پیشنهادهای پژوهشی</a:t>
            </a:r>
          </a:p>
        </p:txBody>
      </p:sp>
      <p:sp>
        <p:nvSpPr>
          <p:cNvPr id="5" name="Rounded Rectangle 4"/>
          <p:cNvSpPr/>
          <p:nvPr/>
        </p:nvSpPr>
        <p:spPr>
          <a:xfrm>
            <a:off x="548640" y="502920"/>
            <a:ext cx="2587752" cy="365760"/>
          </a:xfrm>
          <a:prstGeom prst="roundRect">
            <a:avLst>
              <a:gd name="adj" fmla="val 50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نتیجه گیری و پیشنهادات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۲۰</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نتیجه گیری و پیشنهادات</a:t>
            </a:r>
          </a:p>
        </p:txBody>
      </p:sp>
      <p:sp>
        <p:nvSpPr>
          <p:cNvPr id="9" name="Rounded Rectangle 8"/>
          <p:cNvSpPr/>
          <p:nvPr/>
        </p:nvSpPr>
        <p:spPr>
          <a:xfrm>
            <a:off x="548640" y="1325880"/>
            <a:ext cx="11094415" cy="365760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97280" y="1691640"/>
            <a:ext cx="9997135" cy="3017520"/>
          </a:xfrm>
          <a:prstGeom prst="rect">
            <a:avLst/>
          </a:prstGeom>
          <a:noFill/>
        </p:spPr>
        <p:txBody>
          <a:bodyPr wrap="square" lIns="36576" tIns="18288" rIns="36576" bIns="18288" anchor="t"/>
          <a:lstStyle/>
          <a:p>
            <a:pPr algn="r" rtl="1">
              <a:lnSpc>
                <a:spcPct val="120000"/>
              </a:lnSpc>
              <a:spcAft>
                <a:spcPts val="1200"/>
              </a:spcAft>
              <a:defRPr lang="fa-IR">
                <a:cs typeface="B Lotus"/>
              </a:defRPr>
            </a:pPr>
            <a:r>
              <a:rPr lang="fa-IR" sz="1700" b="0">
                <a:solidFill>
                  <a:srgbClr val="22303B"/>
                </a:solidFill>
                <a:latin typeface="Times New Roman"/>
                <a:ea typeface="Times New Roman"/>
                <a:cs typeface="B Lotus"/>
              </a:rPr>
              <a:t>•  پیشنهاد می‌شود که علاوه بر پرسشنامه از روش های دیگر جمع آوری اطلاعات، مصاحبه و مشاهده نیز استفاده گردد.</a:t>
            </a:r>
          </a:p>
          <a:p>
            <a:pPr algn="r" rtl="1">
              <a:lnSpc>
                <a:spcPct val="120000"/>
              </a:lnSpc>
              <a:spcAft>
                <a:spcPts val="1200"/>
              </a:spcAft>
              <a:defRPr lang="fa-IR">
                <a:cs typeface="B Lotus"/>
              </a:defRPr>
            </a:pPr>
            <a:r>
              <a:rPr lang="fa-IR" sz="1700" b="0">
                <a:solidFill>
                  <a:srgbClr val="22303B"/>
                </a:solidFill>
                <a:latin typeface="Times New Roman"/>
                <a:ea typeface="Times New Roman"/>
                <a:cs typeface="B Lotus"/>
              </a:rPr>
              <a:t>•  پیشنهاد می‌شود پژوهش‌های مشابهی بر روی سالمندان ساکن در جامعه و سایر مراکز سالمندی انجام گیرد تا امکان مقایسه نتایج و افزایش دقت در تعمیم یافته‌ها فراهم گردد.</a:t>
            </a:r>
          </a:p>
          <a:p>
            <a:pPr algn="r" rtl="1">
              <a:lnSpc>
                <a:spcPct val="120000"/>
              </a:lnSpc>
              <a:spcAft>
                <a:spcPts val="1200"/>
              </a:spcAft>
              <a:defRPr lang="fa-IR">
                <a:cs typeface="B Lotus"/>
              </a:defRPr>
            </a:pPr>
            <a:r>
              <a:rPr lang="fa-IR" sz="1700" b="0">
                <a:solidFill>
                  <a:srgbClr val="22303B"/>
                </a:solidFill>
                <a:latin typeface="Times New Roman"/>
                <a:ea typeface="Times New Roman"/>
                <a:cs typeface="B Lotus"/>
              </a:rPr>
              <a:t>•  پژوهش های مشابهی بر روی گروه های وسیع تری از افراد جامعه صورت گیرد، تا تعمیم نتایج صحیح تر بوده و احتمال راهیابی خطا کاهش یابد.</a:t>
            </a:r>
          </a:p>
          <a:p>
            <a:pPr algn="r" rtl="1">
              <a:lnSpc>
                <a:spcPct val="120000"/>
              </a:lnSpc>
              <a:spcAft>
                <a:spcPts val="1200"/>
              </a:spcAft>
              <a:defRPr lang="fa-IR">
                <a:cs typeface="B Lotus"/>
              </a:defRPr>
            </a:pPr>
            <a:r>
              <a:rPr lang="fa-IR" sz="1700" b="0">
                <a:solidFill>
                  <a:srgbClr val="22303B"/>
                </a:solidFill>
                <a:latin typeface="Times New Roman"/>
                <a:ea typeface="Times New Roman"/>
                <a:cs typeface="B Lotus"/>
              </a:rPr>
              <a:t>•  انجام پژوهش‌های طولی به‌منظور بررسی تغییرات اضطراب مرگ در ارتباط با هوش معنوی و اضطراب سلامتی در طول زمان می‌تواند به غنای یافته‌های علمی در این حوزه کمک نماید.</a:t>
            </a:r>
          </a:p>
        </p:txBody>
      </p:sp>
    </p:spTree>
  </p:cSld>
  <p:clrMapOvr>
    <a:masterClrMapping/>
  </p:clrMapOvr>
  <p:transition spd="med" advTm="44440">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11496751" y="457200"/>
            <a:ext cx="146304" cy="566928"/>
          </a:xfrm>
          <a:prstGeom prst="rect">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48640" y="384048"/>
            <a:ext cx="10783519" cy="621792"/>
          </a:xfrm>
          <a:prstGeom prst="rect">
            <a:avLst/>
          </a:prstGeom>
          <a:noFill/>
        </p:spPr>
        <p:txBody>
          <a:bodyPr wrap="square" lIns="36576" tIns="18288" rIns="36576" bIns="18288" anchor="ctr"/>
          <a:lstStyle/>
          <a:p>
            <a:pPr algn="r" rtl="1">
              <a:defRPr lang="fa-IR" sz="2900" b="1">
                <a:solidFill>
                  <a:srgbClr val="102C47"/>
                </a:solidFill>
                <a:latin typeface="Times New Roman"/>
                <a:ea typeface="Times New Roman"/>
                <a:cs typeface="B Titr"/>
              </a:defRPr>
            </a:pPr>
            <a:r>
              <a:rPr lang="fa-IR">
                <a:latin typeface="Times New Roman"/>
                <a:cs typeface="B Titr"/>
              </a:rPr>
              <a:t>محدودیت های پژوهش</a:t>
            </a:r>
          </a:p>
        </p:txBody>
      </p:sp>
      <p:sp>
        <p:nvSpPr>
          <p:cNvPr id="5" name="Rounded Rectangle 4"/>
          <p:cNvSpPr/>
          <p:nvPr/>
        </p:nvSpPr>
        <p:spPr>
          <a:xfrm>
            <a:off x="548640" y="502920"/>
            <a:ext cx="2587752" cy="365760"/>
          </a:xfrm>
          <a:prstGeom prst="roundRect">
            <a:avLst>
              <a:gd name="adj" fmla="val 50000"/>
            </a:avLst>
          </a:prstGeom>
          <a:solidFill>
            <a:srgbClr val="3F6B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lang="fa-IR" sz="1300" b="1">
                <a:solidFill>
                  <a:srgbClr val="FFFFFF"/>
                </a:solidFill>
                <a:latin typeface="Times New Roman"/>
                <a:ea typeface="Times New Roman"/>
                <a:cs typeface="B Titr"/>
              </a:defRPr>
            </a:pPr>
            <a:r>
              <a:rPr lang="fa-IR">
                <a:latin typeface="Times New Roman"/>
                <a:cs typeface="B Lotus"/>
              </a:rPr>
              <a:t>نتیجه گیری و پیشنهادات</a:t>
            </a:r>
          </a:p>
        </p:txBody>
      </p:sp>
      <p:sp>
        <p:nvSpPr>
          <p:cNvPr id="6" name="Rectangle 5"/>
          <p:cNvSpPr/>
          <p:nvPr/>
        </p:nvSpPr>
        <p:spPr>
          <a:xfrm>
            <a:off x="548640" y="6382512"/>
            <a:ext cx="11094415" cy="10972"/>
          </a:xfrm>
          <a:prstGeom prst="rect">
            <a:avLst/>
          </a:prstGeom>
          <a:solidFill>
            <a:srgbClr val="DCD8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48640" y="6446520"/>
            <a:ext cx="2743200" cy="274320"/>
          </a:xfrm>
          <a:prstGeom prst="rect">
            <a:avLst/>
          </a:prstGeom>
          <a:noFill/>
        </p:spPr>
        <p:txBody>
          <a:bodyPr wrap="square" lIns="36576" tIns="18288" rIns="36576" bIns="18288" anchor="t"/>
          <a:lstStyle/>
          <a:p>
            <a:pPr algn="l" rtl="1">
              <a:defRPr lang="fa-IR" sz="1100">
                <a:solidFill>
                  <a:srgbClr val="6B7885"/>
                </a:solidFill>
                <a:latin typeface="Times New Roman"/>
                <a:ea typeface="Times New Roman"/>
                <a:cs typeface="B Lotus"/>
              </a:defRPr>
            </a:pPr>
            <a:r>
              <a:rPr lang="fa-IR">
                <a:latin typeface="Times New Roman"/>
                <a:cs typeface="B Lotus"/>
              </a:rPr>
              <a:t>۲۱</a:t>
            </a:r>
          </a:p>
        </p:txBody>
      </p:sp>
      <p:sp>
        <p:nvSpPr>
          <p:cNvPr id="8" name="TextBox 7"/>
          <p:cNvSpPr txBox="1"/>
          <p:nvPr/>
        </p:nvSpPr>
        <p:spPr>
          <a:xfrm>
            <a:off x="6156655" y="6446520"/>
            <a:ext cx="5486400" cy="274320"/>
          </a:xfrm>
          <a:prstGeom prst="rect">
            <a:avLst/>
          </a:prstGeom>
          <a:noFill/>
        </p:spPr>
        <p:txBody>
          <a:bodyPr wrap="square" lIns="36576" tIns="18288" rIns="36576" bIns="18288" anchor="t"/>
          <a:lstStyle/>
          <a:p>
            <a:pPr algn="r" rtl="1">
              <a:defRPr lang="fa-IR" sz="1100">
                <a:solidFill>
                  <a:srgbClr val="6B7885"/>
                </a:solidFill>
                <a:latin typeface="Times New Roman"/>
                <a:ea typeface="Times New Roman"/>
                <a:cs typeface="B Lotus"/>
              </a:defRPr>
            </a:pPr>
            <a:r>
              <a:rPr lang="fa-IR">
                <a:latin typeface="Times New Roman"/>
                <a:cs typeface="B Lotus"/>
              </a:rPr>
              <a:t>نتیجه گیری و پیشنهادات</a:t>
            </a:r>
          </a:p>
        </p:txBody>
      </p:sp>
      <p:sp>
        <p:nvSpPr>
          <p:cNvPr id="9" name="Rounded Rectangle 8"/>
          <p:cNvSpPr/>
          <p:nvPr/>
        </p:nvSpPr>
        <p:spPr>
          <a:xfrm>
            <a:off x="548640" y="1325880"/>
            <a:ext cx="11094415" cy="49377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097280" y="1691640"/>
            <a:ext cx="9997135" cy="4206240"/>
          </a:xfrm>
          <a:prstGeom prst="rect">
            <a:avLst/>
          </a:prstGeom>
          <a:noFill/>
        </p:spPr>
        <p:txBody>
          <a:bodyPr wrap="square" lIns="36576" tIns="18288" rIns="36576" bIns="18288" anchor="t"/>
          <a:lstStyle/>
          <a:p>
            <a:pPr algn="r" rtl="1">
              <a:lnSpc>
                <a:spcPct val="120000"/>
              </a:lnSpc>
              <a:spcAft>
                <a:spcPts val="1200"/>
              </a:spcAft>
              <a:defRPr lang="fa-IR">
                <a:cs typeface="B Lotus"/>
              </a:defRPr>
            </a:pPr>
            <a:r>
              <a:rPr lang="fa-IR" sz="1600" b="0">
                <a:solidFill>
                  <a:srgbClr val="22303B"/>
                </a:solidFill>
                <a:latin typeface="Times New Roman"/>
                <a:ea typeface="Times New Roman"/>
                <a:cs typeface="B Lotus"/>
              </a:rPr>
              <a:t>•  یکی از محدودیت های پژوهش حاضر، ابزار اندازه گیری بود. مقیاس های خودگزارشی امکان سوگیری را فراهم می‌نمایند. در این پژوهش برای اندازه گیری متغیرهای پژوهش فقط از پرسشنامه استفاده گردید.</a:t>
            </a:r>
          </a:p>
          <a:p>
            <a:pPr algn="r" rtl="1">
              <a:lnSpc>
                <a:spcPct val="120000"/>
              </a:lnSpc>
              <a:spcAft>
                <a:spcPts val="1200"/>
              </a:spcAft>
              <a:defRPr lang="fa-IR">
                <a:cs typeface="B Lotus"/>
              </a:defRPr>
            </a:pPr>
            <a:r>
              <a:rPr lang="fa-IR" sz="1600" b="0">
                <a:solidFill>
                  <a:srgbClr val="22303B"/>
                </a:solidFill>
                <a:latin typeface="Times New Roman"/>
                <a:ea typeface="Times New Roman"/>
                <a:cs typeface="B Lotus"/>
              </a:rPr>
              <a:t>•  جامعه آماری پژوهش حاضر محدود به سالمندان ساکن خانه سالمندان فرشتگان تهران بود و حجم نمونه به ۸۰ نفر محدود بود؛ از این‌رو تعمیم نتایج به سایر سالمندانِ ساکن در جامعه یا مراکز سالمندی دیگر باید با احتیاط صورت گیرد.</a:t>
            </a:r>
          </a:p>
          <a:p>
            <a:pPr algn="r" rtl="1">
              <a:lnSpc>
                <a:spcPct val="120000"/>
              </a:lnSpc>
              <a:spcAft>
                <a:spcPts val="1200"/>
              </a:spcAft>
              <a:defRPr lang="fa-IR">
                <a:cs typeface="B Lotus"/>
              </a:defRPr>
            </a:pPr>
            <a:r>
              <a:rPr lang="fa-IR" sz="1600" b="0">
                <a:solidFill>
                  <a:srgbClr val="22303B"/>
                </a:solidFill>
                <a:latin typeface="Times New Roman"/>
                <a:ea typeface="Times New Roman"/>
                <a:cs typeface="B Lotus"/>
              </a:rPr>
              <a:t>•  افزون بر این، پژوهش حاضر از طرح همبستگی و مقطعی برخوردار است که امکان استنتاج روابط علّی را فراهم نمی‌کند. همچنین شماری از متغیرهای اثرگذار که می‌توانند بر هوش معنوی، اضطراب سلامتی و اضطراب مرگ سالمندان مؤثر باشند، در این مطالعه کنترل نشدند؛ از جمله این متغیرها می‌توان به ویژگی‌های شخصیتی (مانند روان‌رنجورخویی و برون‌گرایی)، وضعیت اجتماعی–اقتصادی (سطح درآمد، تحصیلات و نوع حمایت اجتماعی)، وضعیت سلامت جسمی و روانی (بیماری‌های مزمن و میزان ناتوانی عملکردی)، و عوامل فرهنگی–هویتی همچون قومیت و دین اشاره کرد که ممکن است بخشی از رابطه مشاهده‌شده میان متغیرها را تبیین کنند. گذشته از این، داده‌ها تنها با ابزارهای خودگزارش‌دهی و در یک مقطع زمانی جمع‌آوری شدند، که این امر احتمال سوگیری مطلوبیت اجتماعی و خطای یادآوری را افزایش می‌دهد و حجم نسبتاً محدود نمونه (۸۰ نفر) نیز قدرت تعمیم یافته‌ها را محدود می‌سازد. بنابراین، پیشنهاد می‌شود در پژوهش‌های آینده با نمونه‌های بزرگ‌تر و متنوع‌تر، طرح‌های طولی و کنترل آماری متغیرهای مخدوش‌کننده یادشده، یافته‌های حاضر مورد بررسی مجدد قرار گیرد.</a:t>
            </a:r>
          </a:p>
        </p:txBody>
      </p:sp>
    </p:spTree>
  </p:cSld>
  <p:clrMapOvr>
    <a:masterClrMapping/>
  </p:clrMapOvr>
  <p:transition spd="med" advTm="75000">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F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ounded Rectangle 2"/>
          <p:cNvSpPr/>
          <p:nvPr/>
        </p:nvSpPr>
        <p:spPr>
          <a:xfrm>
            <a:off x="2163927" y="2331720"/>
            <a:ext cx="7863840" cy="2194560"/>
          </a:xfrm>
          <a:prstGeom prst="roundRect">
            <a:avLst>
              <a:gd name="adj" fmla="val 4500"/>
            </a:avLst>
          </a:prstGeom>
          <a:solidFill>
            <a:srgbClr val="FFFFFF"/>
          </a:solidFill>
          <a:ln w="12700">
            <a:solidFill>
              <a:srgbClr val="DCD8D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2529687" y="2331720"/>
            <a:ext cx="7132320" cy="2194560"/>
          </a:xfrm>
          <a:prstGeom prst="rect">
            <a:avLst/>
          </a:prstGeom>
          <a:noFill/>
        </p:spPr>
        <p:txBody>
          <a:bodyPr wrap="square" lIns="36576" tIns="18288" rIns="36576" bIns="18288" anchor="ctr"/>
          <a:lstStyle/>
          <a:p>
            <a:pPr algn="ctr" rtl="1">
              <a:defRPr lang="fa-IR" sz="4000" b="1">
                <a:solidFill>
                  <a:srgbClr val="102C47"/>
                </a:solidFill>
                <a:latin typeface="Times New Roman"/>
                <a:ea typeface="Times New Roman"/>
                <a:cs typeface="B Titr"/>
              </a:defRPr>
            </a:pPr>
            <a:r>
              <a:rPr lang="fa-IR">
                <a:latin typeface="Times New Roman"/>
                <a:cs typeface="B Titr"/>
              </a:rPr>
              <a:t>با تشکر از توجه شما</a:t>
            </a:r>
          </a:p>
        </p:txBody>
      </p:sp>
    </p:spTree>
  </p:cSld>
  <p:clrMapOvr>
    <a:masterClrMapping/>
  </p:clrMapOvr>
  <p:transition spd="slow" advTm="10000">
    <p:fade/>
  </p:transition>
  <p:timing>
    <p:tnLst>
      <p:par>
        <p:cTn id="1" dur="indefinite" restart="never" nodeType="tmRoot"/>
      </p:par>
    </p:tnLst>
  </p:timing>
</p:sld>
</file>

<file path=ppt/theme/theme1.xml><?xml version="1.0" encoding="utf-8"?>
<a:theme xmlns:a="http://schemas.openxmlformats.org/drawingml/2006/main" name="Retrospect">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1965</TotalTime>
  <Words>3882</Words>
  <Application>Microsoft Office PowerPoint</Application>
  <PresentationFormat>Widescreen</PresentationFormat>
  <Paragraphs>445</Paragraphs>
  <Slides>36</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36</vt:i4>
      </vt:variant>
    </vt:vector>
  </HeadingPairs>
  <TitlesOfParts>
    <vt:vector size="50" baseType="lpstr">
      <vt:lpstr>Arial Unicode MS</vt:lpstr>
      <vt:lpstr>B Lotus</vt:lpstr>
      <vt:lpstr>B Nazanin Outline</vt:lpstr>
      <vt:lpstr>SimSun</vt:lpstr>
      <vt:lpstr>Arial</vt:lpstr>
      <vt:lpstr>Microsoft YaHei</vt:lpstr>
      <vt:lpstr>Calibri</vt:lpstr>
      <vt:lpstr>B Nazanin</vt:lpstr>
      <vt:lpstr>Times New Roman</vt:lpstr>
      <vt:lpstr>Calibri Light</vt:lpstr>
      <vt:lpstr>B Titr</vt:lpstr>
      <vt:lpstr>Lalezar</vt:lpstr>
      <vt:lpstr>IRANSans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رابطه هوش معنوی و اضطراب سلامتی با اضطراب مرگ سالمندان</dc:title>
  <dc:creator>دانشجو: فاطمه بیات — استاد راهنما: باب اله بخشی پور جویباری</dc:creator>
  <cp:lastModifiedBy>Paymaun Tavassoli</cp:lastModifiedBy>
  <cp:revision>376</cp:revision>
  <dcterms:modified xsi:type="dcterms:W3CDTF">2026-09-18T14:47:50Z</dcterms:modified>
</cp:coreProperties>
</file>